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8288000" cy="10287000"/>
  <p:notesSz cx="6858000" cy="9144000"/>
  <p:embeddedFontLst>
    <p:embeddedFont>
      <p:font typeface="Arimo" panose="020B0604020202020204" charset="0"/>
      <p:regular r:id="rId31"/>
    </p:embeddedFont>
    <p:embeddedFont>
      <p:font typeface="Arimo Bold" panose="020B0604020202020204" charset="0"/>
      <p:regular r:id="rId32"/>
    </p:embeddedFont>
    <p:embeddedFont>
      <p:font typeface="Calibri (MS)" panose="020B0604020202020204" charset="0"/>
      <p:regular r:id="rId33"/>
    </p:embeddedFont>
    <p:embeddedFont>
      <p:font typeface="Calibri (MS) Bold" panose="020B0604020202020204" charset="0"/>
      <p:regular r:id="rId34"/>
    </p:embeddedFont>
    <p:embeddedFont>
      <p:font typeface="Calibri (MS) Bold Italics" panose="020B0604020202020204" charset="0"/>
      <p:regular r:id="rId35"/>
    </p:embeddedFont>
    <p:embeddedFont>
      <p:font typeface="Calibri (MS) Italics" panose="020B0604020202020204" charset="0"/>
      <p:regular r:id="rId36"/>
    </p:embeddedFont>
    <p:embeddedFont>
      <p:font typeface="David Libre Bold" panose="020B0604020202020204" charset="-79"/>
      <p:regular r:id="rId37"/>
    </p:embeddedFont>
    <p:embeddedFont>
      <p:font typeface="Handy Casual" panose="020B0604020202020204" charset="0"/>
      <p:regular r:id="rId38"/>
    </p:embeddedFont>
    <p:embeddedFont>
      <p:font typeface="Handyman" panose="020B0604020202020204" charset="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1166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5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2f6D7XoTyqm1V-QM2hh8oOpsJEE8EI6Z/view?usp=drive_link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3494290" y="258635"/>
            <a:ext cx="11571907" cy="10099118"/>
          </a:xfrm>
          <a:custGeom>
            <a:avLst/>
            <a:gdLst/>
            <a:ahLst/>
            <a:cxnLst/>
            <a:rect l="l" t="t" r="r" b="b"/>
            <a:pathLst>
              <a:path w="11571907" h="10099118">
                <a:moveTo>
                  <a:pt x="11571907" y="0"/>
                </a:moveTo>
                <a:lnTo>
                  <a:pt x="0" y="0"/>
                </a:lnTo>
                <a:lnTo>
                  <a:pt x="0" y="10099118"/>
                </a:lnTo>
                <a:lnTo>
                  <a:pt x="11571907" y="10099118"/>
                </a:lnTo>
                <a:lnTo>
                  <a:pt x="1157190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2761428" y="2699907"/>
            <a:ext cx="3145671" cy="3157152"/>
          </a:xfrm>
          <a:custGeom>
            <a:avLst/>
            <a:gdLst/>
            <a:ahLst/>
            <a:cxnLst/>
            <a:rect l="l" t="t" r="r" b="b"/>
            <a:pathLst>
              <a:path w="3145671" h="3157152">
                <a:moveTo>
                  <a:pt x="0" y="0"/>
                </a:moveTo>
                <a:lnTo>
                  <a:pt x="3145671" y="0"/>
                </a:lnTo>
                <a:lnTo>
                  <a:pt x="3145671" y="3157152"/>
                </a:lnTo>
                <a:lnTo>
                  <a:pt x="0" y="31571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6389154" y="1064981"/>
            <a:ext cx="2167815" cy="3080874"/>
          </a:xfrm>
          <a:custGeom>
            <a:avLst/>
            <a:gdLst/>
            <a:ahLst/>
            <a:cxnLst/>
            <a:rect l="l" t="t" r="r" b="b"/>
            <a:pathLst>
              <a:path w="2167815" h="3080874">
                <a:moveTo>
                  <a:pt x="0" y="0"/>
                </a:moveTo>
                <a:lnTo>
                  <a:pt x="2167815" y="0"/>
                </a:lnTo>
                <a:lnTo>
                  <a:pt x="2167815" y="3080874"/>
                </a:lnTo>
                <a:lnTo>
                  <a:pt x="0" y="30808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Freeform 5"/>
          <p:cNvSpPr/>
          <p:nvPr/>
        </p:nvSpPr>
        <p:spPr>
          <a:xfrm>
            <a:off x="490167" y="6308096"/>
            <a:ext cx="4542522" cy="2816364"/>
          </a:xfrm>
          <a:custGeom>
            <a:avLst/>
            <a:gdLst/>
            <a:ahLst/>
            <a:cxnLst/>
            <a:rect l="l" t="t" r="r" b="b"/>
            <a:pathLst>
              <a:path w="4542522" h="2816364">
                <a:moveTo>
                  <a:pt x="0" y="0"/>
                </a:moveTo>
                <a:lnTo>
                  <a:pt x="4542522" y="0"/>
                </a:lnTo>
                <a:lnTo>
                  <a:pt x="4542522" y="2816364"/>
                </a:lnTo>
                <a:lnTo>
                  <a:pt x="0" y="28163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6" name="Freeform 6"/>
          <p:cNvSpPr/>
          <p:nvPr/>
        </p:nvSpPr>
        <p:spPr>
          <a:xfrm rot="7340109">
            <a:off x="6032031" y="5382322"/>
            <a:ext cx="2753192" cy="3974424"/>
          </a:xfrm>
          <a:custGeom>
            <a:avLst/>
            <a:gdLst/>
            <a:ahLst/>
            <a:cxnLst/>
            <a:rect l="l" t="t" r="r" b="b"/>
            <a:pathLst>
              <a:path w="2753192" h="3974424">
                <a:moveTo>
                  <a:pt x="0" y="0"/>
                </a:moveTo>
                <a:lnTo>
                  <a:pt x="2753191" y="0"/>
                </a:lnTo>
                <a:lnTo>
                  <a:pt x="2753191" y="3974424"/>
                </a:lnTo>
                <a:lnTo>
                  <a:pt x="0" y="39744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7" name="Group 7"/>
          <p:cNvGrpSpPr/>
          <p:nvPr/>
        </p:nvGrpSpPr>
        <p:grpSpPr>
          <a:xfrm>
            <a:off x="9628038" y="886477"/>
            <a:ext cx="6711588" cy="961965"/>
            <a:chOff x="0" y="0"/>
            <a:chExt cx="1767661" cy="25335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67661" cy="253357"/>
            </a:xfrm>
            <a:custGeom>
              <a:avLst/>
              <a:gdLst/>
              <a:ahLst/>
              <a:cxnLst/>
              <a:rect l="l" t="t" r="r" b="b"/>
              <a:pathLst>
                <a:path w="1767661" h="253357">
                  <a:moveTo>
                    <a:pt x="115352" y="0"/>
                  </a:moveTo>
                  <a:lnTo>
                    <a:pt x="1652309" y="0"/>
                  </a:lnTo>
                  <a:cubicBezTo>
                    <a:pt x="1716016" y="0"/>
                    <a:pt x="1767661" y="51645"/>
                    <a:pt x="1767661" y="115352"/>
                  </a:cubicBezTo>
                  <a:lnTo>
                    <a:pt x="1767661" y="138005"/>
                  </a:lnTo>
                  <a:cubicBezTo>
                    <a:pt x="1767661" y="201712"/>
                    <a:pt x="1716016" y="253357"/>
                    <a:pt x="1652309" y="253357"/>
                  </a:cubicBezTo>
                  <a:lnTo>
                    <a:pt x="115352" y="253357"/>
                  </a:lnTo>
                  <a:cubicBezTo>
                    <a:pt x="51645" y="253357"/>
                    <a:pt x="0" y="201712"/>
                    <a:pt x="0" y="138005"/>
                  </a:cubicBezTo>
                  <a:lnTo>
                    <a:pt x="0" y="115352"/>
                  </a:lnTo>
                  <a:cubicBezTo>
                    <a:pt x="0" y="51645"/>
                    <a:pt x="51645" y="0"/>
                    <a:pt x="115352" y="0"/>
                  </a:cubicBezTo>
                  <a:close/>
                </a:path>
              </a:pathLst>
            </a:custGeom>
            <a:solidFill>
              <a:srgbClr val="6BA286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767661" cy="291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1622387"/>
            <a:ext cx="4151306" cy="1077520"/>
          </a:xfrm>
          <a:custGeom>
            <a:avLst/>
            <a:gdLst/>
            <a:ahLst/>
            <a:cxnLst/>
            <a:rect l="l" t="t" r="r" b="b"/>
            <a:pathLst>
              <a:path w="4151306" h="1077520">
                <a:moveTo>
                  <a:pt x="0" y="0"/>
                </a:moveTo>
                <a:lnTo>
                  <a:pt x="4151306" y="0"/>
                </a:lnTo>
                <a:lnTo>
                  <a:pt x="4151306" y="1077520"/>
                </a:lnTo>
                <a:lnTo>
                  <a:pt x="0" y="1077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1" name="TextBox 11"/>
          <p:cNvSpPr txBox="1"/>
          <p:nvPr/>
        </p:nvSpPr>
        <p:spPr>
          <a:xfrm>
            <a:off x="10161803" y="873863"/>
            <a:ext cx="5782740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32"/>
              </a:lnSpc>
              <a:spcBef>
                <a:spcPct val="0"/>
              </a:spcBef>
            </a:pPr>
            <a:r>
              <a:rPr lang="en-US" sz="5277">
                <a:solidFill>
                  <a:srgbClr val="FEFEFF"/>
                </a:solidFill>
                <a:latin typeface="Handyman"/>
                <a:ea typeface="Handyman"/>
                <a:cs typeface="Handyman"/>
                <a:sym typeface="Handyman"/>
              </a:rPr>
              <a:t>MedAlert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48570" y="2595893"/>
            <a:ext cx="9070523" cy="346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19"/>
              </a:lnSpc>
              <a:spcBef>
                <a:spcPct val="0"/>
              </a:spcBef>
            </a:pPr>
            <a:r>
              <a:rPr lang="en-US" sz="7599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PREDICTING ED DECISIONS FROM EMS PRE-ARRIVAL REPORTS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23990" y="8358518"/>
            <a:ext cx="6560334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3899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STUDENTS: </a:t>
            </a:r>
          </a:p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sz="3899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Nofar Refaeli ,Meital Gerasi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28038" y="6241421"/>
            <a:ext cx="6810261" cy="5610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6B3E0A"/>
                </a:solidFill>
                <a:latin typeface="Handy Casual"/>
                <a:ea typeface="Handy Casual"/>
                <a:cs typeface="Handy Casual"/>
                <a:sym typeface="Handy Casual"/>
              </a:rPr>
              <a:t>Clean Text and Noisy ASR Robustness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981139" flipH="1">
            <a:off x="8124857" y="-1831532"/>
            <a:ext cx="11571907" cy="10099118"/>
          </a:xfrm>
          <a:custGeom>
            <a:avLst/>
            <a:gdLst/>
            <a:ahLst/>
            <a:cxnLst/>
            <a:rect l="l" t="t" r="r" b="b"/>
            <a:pathLst>
              <a:path w="11571907" h="10099118">
                <a:moveTo>
                  <a:pt x="11571907" y="0"/>
                </a:moveTo>
                <a:lnTo>
                  <a:pt x="0" y="0"/>
                </a:lnTo>
                <a:lnTo>
                  <a:pt x="0" y="10099118"/>
                </a:lnTo>
                <a:lnTo>
                  <a:pt x="11571907" y="10099118"/>
                </a:lnTo>
                <a:lnTo>
                  <a:pt x="1157190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3" name="Group 3"/>
          <p:cNvGrpSpPr/>
          <p:nvPr/>
        </p:nvGrpSpPr>
        <p:grpSpPr>
          <a:xfrm>
            <a:off x="187292" y="2171271"/>
            <a:ext cx="8007673" cy="7729645"/>
            <a:chOff x="0" y="0"/>
            <a:chExt cx="2109017" cy="203579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9017" cy="2035791"/>
            </a:xfrm>
            <a:custGeom>
              <a:avLst/>
              <a:gdLst/>
              <a:ahLst/>
              <a:cxnLst/>
              <a:rect l="l" t="t" r="r" b="b"/>
              <a:pathLst>
                <a:path w="2109017" h="2035791">
                  <a:moveTo>
                    <a:pt x="96681" y="0"/>
                  </a:moveTo>
                  <a:lnTo>
                    <a:pt x="2012335" y="0"/>
                  </a:lnTo>
                  <a:cubicBezTo>
                    <a:pt x="2037977" y="0"/>
                    <a:pt x="2062568" y="10186"/>
                    <a:pt x="2080699" y="28317"/>
                  </a:cubicBezTo>
                  <a:cubicBezTo>
                    <a:pt x="2098831" y="46449"/>
                    <a:pt x="2109017" y="71040"/>
                    <a:pt x="2109017" y="96681"/>
                  </a:cubicBezTo>
                  <a:lnTo>
                    <a:pt x="2109017" y="1939110"/>
                  </a:lnTo>
                  <a:cubicBezTo>
                    <a:pt x="2109017" y="1964751"/>
                    <a:pt x="2098831" y="1989343"/>
                    <a:pt x="2080699" y="2007474"/>
                  </a:cubicBezTo>
                  <a:cubicBezTo>
                    <a:pt x="2062568" y="2025605"/>
                    <a:pt x="2037977" y="2035791"/>
                    <a:pt x="2012335" y="2035791"/>
                  </a:cubicBezTo>
                  <a:lnTo>
                    <a:pt x="96681" y="2035791"/>
                  </a:lnTo>
                  <a:cubicBezTo>
                    <a:pt x="71040" y="2035791"/>
                    <a:pt x="46449" y="2025605"/>
                    <a:pt x="28317" y="2007474"/>
                  </a:cubicBezTo>
                  <a:cubicBezTo>
                    <a:pt x="10186" y="1989343"/>
                    <a:pt x="0" y="1964751"/>
                    <a:pt x="0" y="1939110"/>
                  </a:cubicBezTo>
                  <a:lnTo>
                    <a:pt x="0" y="96681"/>
                  </a:lnTo>
                  <a:cubicBezTo>
                    <a:pt x="0" y="71040"/>
                    <a:pt x="10186" y="46449"/>
                    <a:pt x="28317" y="28317"/>
                  </a:cubicBezTo>
                  <a:cubicBezTo>
                    <a:pt x="46449" y="10186"/>
                    <a:pt x="71040" y="0"/>
                    <a:pt x="96681" y="0"/>
                  </a:cubicBezTo>
                  <a:close/>
                </a:path>
              </a:pathLst>
            </a:custGeom>
            <a:solidFill>
              <a:srgbClr val="6BA28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09017" cy="20738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86387" y="362073"/>
            <a:ext cx="9285144" cy="1619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34"/>
              </a:lnSpc>
            </a:pPr>
            <a:r>
              <a:rPr lang="en-US" sz="12536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PROJECT REVIEW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81174" y="2575372"/>
            <a:ext cx="3619910" cy="547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1"/>
              </a:lnSpc>
            </a:pPr>
            <a:r>
              <a:rPr lang="en-US" sz="4199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MOTIVATING USE CASE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6258" y="2737482"/>
            <a:ext cx="7469611" cy="7163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1"/>
              </a:lnSpc>
            </a:pPr>
            <a:endParaRPr/>
          </a:p>
          <a:p>
            <a:pPr algn="l">
              <a:lnSpc>
                <a:spcPts val="3834"/>
              </a:lnSpc>
            </a:pPr>
            <a:r>
              <a:rPr lang="en-US" sz="3143" b="1">
                <a:solidFill>
                  <a:srgbClr val="000000"/>
                </a:solidFill>
                <a:latin typeface="David Libre Bold"/>
                <a:ea typeface="David Libre Bold"/>
                <a:cs typeface="David Libre Bold"/>
                <a:sym typeface="David Libre Bold"/>
              </a:rPr>
              <a:t>EMS pre-arrival handoff reports provide the Emergency Department with early clinical information before the patient arrives.</a:t>
            </a:r>
          </a:p>
          <a:p>
            <a:pPr algn="l">
              <a:lnSpc>
                <a:spcPts val="3834"/>
              </a:lnSpc>
            </a:pPr>
            <a:endParaRPr lang="en-US" sz="3143" b="1">
              <a:solidFill>
                <a:srgbClr val="000000"/>
              </a:solidFill>
              <a:latin typeface="David Libre Bold"/>
              <a:ea typeface="David Libre Bold"/>
              <a:cs typeface="David Libre Bold"/>
              <a:sym typeface="David Libre Bold"/>
            </a:endParaRPr>
          </a:p>
          <a:p>
            <a:pPr algn="l">
              <a:lnSpc>
                <a:spcPts val="3834"/>
              </a:lnSpc>
            </a:pPr>
            <a:r>
              <a:rPr lang="en-US" sz="3143" b="1">
                <a:solidFill>
                  <a:srgbClr val="000000"/>
                </a:solidFill>
                <a:latin typeface="David Libre Bold"/>
                <a:ea typeface="David Libre Bold"/>
                <a:cs typeface="David Libre Bold"/>
                <a:sym typeface="David Libre Bold"/>
              </a:rPr>
              <a:t>This information may help the ED prepare the appropriate care area and specialty consultation.</a:t>
            </a:r>
          </a:p>
          <a:p>
            <a:pPr algn="l">
              <a:lnSpc>
                <a:spcPts val="6152"/>
              </a:lnSpc>
            </a:pPr>
            <a:endParaRPr lang="en-US" sz="3143" b="1">
              <a:solidFill>
                <a:srgbClr val="000000"/>
              </a:solidFill>
              <a:latin typeface="David Libre Bold"/>
              <a:ea typeface="David Libre Bold"/>
              <a:cs typeface="David Libre Bold"/>
              <a:sym typeface="David Libre Bold"/>
            </a:endParaRPr>
          </a:p>
          <a:p>
            <a:pPr algn="l">
              <a:lnSpc>
                <a:spcPts val="3834"/>
              </a:lnSpc>
              <a:spcBef>
                <a:spcPct val="0"/>
              </a:spcBef>
            </a:pPr>
            <a:r>
              <a:rPr lang="en-US" sz="3143" b="1">
                <a:solidFill>
                  <a:srgbClr val="000000"/>
                </a:solidFill>
                <a:latin typeface="David Libre Bold"/>
                <a:ea typeface="David Libre Bold"/>
                <a:cs typeface="David Libre Bold"/>
                <a:sym typeface="David Libre Bold"/>
              </a:rPr>
              <a:t>However, these reports are often brief, incomplete, variable in wording, and may contain ASR transcription errors.</a:t>
            </a:r>
          </a:p>
          <a:p>
            <a:pPr algn="ctr">
              <a:lnSpc>
                <a:spcPts val="3771"/>
              </a:lnSpc>
              <a:spcBef>
                <a:spcPct val="0"/>
              </a:spcBef>
            </a:pPr>
            <a:endParaRPr lang="en-US" sz="3143" b="1">
              <a:solidFill>
                <a:srgbClr val="000000"/>
              </a:solidFill>
              <a:latin typeface="David Libre Bold"/>
              <a:ea typeface="David Libre Bold"/>
              <a:cs typeface="David Libre Bold"/>
              <a:sym typeface="David Libre Bold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9144000" y="608255"/>
            <a:ext cx="7912670" cy="9292661"/>
            <a:chOff x="0" y="0"/>
            <a:chExt cx="2083995" cy="24474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83995" cy="2447450"/>
            </a:xfrm>
            <a:custGeom>
              <a:avLst/>
              <a:gdLst/>
              <a:ahLst/>
              <a:cxnLst/>
              <a:rect l="l" t="t" r="r" b="b"/>
              <a:pathLst>
                <a:path w="2083995" h="2447450">
                  <a:moveTo>
                    <a:pt x="97842" y="0"/>
                  </a:moveTo>
                  <a:lnTo>
                    <a:pt x="1986153" y="0"/>
                  </a:lnTo>
                  <a:cubicBezTo>
                    <a:pt x="2040190" y="0"/>
                    <a:pt x="2083995" y="43805"/>
                    <a:pt x="2083995" y="97842"/>
                  </a:cubicBezTo>
                  <a:lnTo>
                    <a:pt x="2083995" y="2349608"/>
                  </a:lnTo>
                  <a:cubicBezTo>
                    <a:pt x="2083995" y="2403644"/>
                    <a:pt x="2040190" y="2447450"/>
                    <a:pt x="1986153" y="2447450"/>
                  </a:cubicBezTo>
                  <a:lnTo>
                    <a:pt x="97842" y="2447450"/>
                  </a:lnTo>
                  <a:cubicBezTo>
                    <a:pt x="43805" y="2447450"/>
                    <a:pt x="0" y="2403644"/>
                    <a:pt x="0" y="2349608"/>
                  </a:cubicBezTo>
                  <a:lnTo>
                    <a:pt x="0" y="97842"/>
                  </a:lnTo>
                  <a:cubicBezTo>
                    <a:pt x="0" y="43805"/>
                    <a:pt x="43805" y="0"/>
                    <a:pt x="97842" y="0"/>
                  </a:cubicBezTo>
                  <a:close/>
                </a:path>
              </a:pathLst>
            </a:custGeom>
            <a:solidFill>
              <a:srgbClr val="6BA28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083995" cy="248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295594" y="1204591"/>
            <a:ext cx="7609482" cy="1002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endParaRPr/>
          </a:p>
          <a:p>
            <a:pPr algn="ctr">
              <a:lnSpc>
                <a:spcPts val="4439"/>
              </a:lnSpc>
            </a:pPr>
            <a:r>
              <a:rPr lang="en-US" sz="3699" b="1">
                <a:solidFill>
                  <a:srgbClr val="000000"/>
                </a:solidFill>
                <a:latin typeface="David Libre Bold"/>
                <a:ea typeface="David Libre Bold"/>
                <a:cs typeface="David Libre Bold"/>
                <a:sym typeface="David Libre Bold"/>
              </a:rPr>
              <a:t>Task:</a:t>
            </a:r>
          </a:p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00000"/>
                </a:solidFill>
                <a:latin typeface="David Libre Bold"/>
                <a:ea typeface="David Libre Bold"/>
                <a:cs typeface="David Libre Bold"/>
                <a:sym typeface="David Libre Bold"/>
              </a:rPr>
              <a:t>Predict ED decision labels from EMS pre-arrival report text.</a:t>
            </a:r>
          </a:p>
          <a:p>
            <a:pPr algn="ctr">
              <a:lnSpc>
                <a:spcPts val="3600"/>
              </a:lnSpc>
            </a:pPr>
            <a:endParaRPr lang="en-US" sz="3000" b="1">
              <a:solidFill>
                <a:srgbClr val="000000"/>
              </a:solidFill>
              <a:latin typeface="David Libre Bold"/>
              <a:ea typeface="David Libre Bold"/>
              <a:cs typeface="David Libre Bold"/>
              <a:sym typeface="David Libre Bold"/>
            </a:endParaRPr>
          </a:p>
          <a:p>
            <a:pPr algn="ctr">
              <a:lnSpc>
                <a:spcPts val="4439"/>
              </a:lnSpc>
            </a:pPr>
            <a:r>
              <a:rPr lang="en-US" sz="3699" b="1">
                <a:solidFill>
                  <a:srgbClr val="000000"/>
                </a:solidFill>
                <a:latin typeface="David Libre Bold"/>
                <a:ea typeface="David Libre Bold"/>
                <a:cs typeface="David Libre Bold"/>
                <a:sym typeface="David Libre Bold"/>
              </a:rPr>
              <a:t>input:</a:t>
            </a:r>
          </a:p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00000"/>
                </a:solidFill>
                <a:latin typeface="David Libre Bold"/>
                <a:ea typeface="David Libre Bold"/>
                <a:cs typeface="David Libre Bold"/>
                <a:sym typeface="David Libre Bold"/>
              </a:rPr>
              <a:t>Synthetic EMS-to-ED handoff report</a:t>
            </a:r>
          </a:p>
          <a:p>
            <a:pPr algn="ctr">
              <a:lnSpc>
                <a:spcPts val="3600"/>
              </a:lnSpc>
            </a:pPr>
            <a:endParaRPr lang="en-US" sz="3000" b="1">
              <a:solidFill>
                <a:srgbClr val="000000"/>
              </a:solidFill>
              <a:latin typeface="David Libre Bold"/>
              <a:ea typeface="David Libre Bold"/>
              <a:cs typeface="David Libre Bold"/>
              <a:sym typeface="David Libre Bold"/>
            </a:endParaRPr>
          </a:p>
          <a:p>
            <a:pPr algn="ctr">
              <a:lnSpc>
                <a:spcPts val="4439"/>
              </a:lnSpc>
            </a:pPr>
            <a:r>
              <a:rPr lang="en-US" sz="3699" b="1">
                <a:solidFill>
                  <a:srgbClr val="000000"/>
                </a:solidFill>
                <a:latin typeface="David Libre Bold"/>
                <a:ea typeface="David Libre Bold"/>
                <a:cs typeface="David Libre Bold"/>
                <a:sym typeface="David Libre Bold"/>
              </a:rPr>
              <a:t>Outputs:</a:t>
            </a:r>
          </a:p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00000"/>
                </a:solidFill>
                <a:latin typeface="David Libre Bold"/>
                <a:ea typeface="David Libre Bold"/>
                <a:cs typeface="David Libre Bold"/>
                <a:sym typeface="David Libre Bold"/>
              </a:rPr>
              <a:t>1. Arrival destination</a:t>
            </a:r>
          </a:p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00000"/>
                </a:solidFill>
                <a:latin typeface="David Libre Bold"/>
                <a:ea typeface="David Libre Bold"/>
                <a:cs typeface="David Libre Bold"/>
                <a:sym typeface="David Libre Bold"/>
              </a:rPr>
              <a:t>2. Specialty consultation</a:t>
            </a:r>
          </a:p>
          <a:p>
            <a:pPr algn="l">
              <a:lnSpc>
                <a:spcPts val="3600"/>
              </a:lnSpc>
            </a:pPr>
            <a:endParaRPr lang="en-US" sz="3000" b="1">
              <a:solidFill>
                <a:srgbClr val="000000"/>
              </a:solidFill>
              <a:latin typeface="David Libre Bold"/>
              <a:ea typeface="David Libre Bold"/>
              <a:cs typeface="David Libre Bold"/>
              <a:sym typeface="David Libre Bold"/>
            </a:endParaRPr>
          </a:p>
          <a:p>
            <a:pPr algn="ctr">
              <a:lnSpc>
                <a:spcPts val="4439"/>
              </a:lnSpc>
            </a:pPr>
            <a:r>
              <a:rPr lang="en-US" sz="3699" b="1">
                <a:solidFill>
                  <a:srgbClr val="000000"/>
                </a:solidFill>
                <a:latin typeface="David Libre Bold"/>
                <a:ea typeface="David Libre Bold"/>
                <a:cs typeface="David Libre Bold"/>
                <a:sym typeface="David Libre Bold"/>
              </a:rPr>
              <a:t>Novelty:</a:t>
            </a:r>
          </a:p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00000"/>
                </a:solidFill>
                <a:latin typeface="David Libre Bold"/>
                <a:ea typeface="David Libre Bold"/>
                <a:cs typeface="David Libre Bold"/>
                <a:sym typeface="David Libre Bold"/>
              </a:rPr>
              <a:t>Evaluate model performance on clean text and on noisy ASR transcripts created using TTS and ambulance-noise injection.</a:t>
            </a:r>
          </a:p>
          <a:p>
            <a:pPr algn="ctr">
              <a:lnSpc>
                <a:spcPts val="3600"/>
              </a:lnSpc>
            </a:pPr>
            <a:endParaRPr lang="en-US" sz="3000" b="1">
              <a:solidFill>
                <a:srgbClr val="000000"/>
              </a:solidFill>
              <a:latin typeface="David Libre Bold"/>
              <a:ea typeface="David Libre Bold"/>
              <a:cs typeface="David Libre Bold"/>
              <a:sym typeface="David Libre Bold"/>
            </a:endParaRPr>
          </a:p>
          <a:p>
            <a:pPr algn="ctr">
              <a:lnSpc>
                <a:spcPts val="3600"/>
              </a:lnSpc>
            </a:pPr>
            <a:endParaRPr lang="en-US" sz="3000" b="1">
              <a:solidFill>
                <a:srgbClr val="000000"/>
              </a:solidFill>
              <a:latin typeface="David Libre Bold"/>
              <a:ea typeface="David Libre Bold"/>
              <a:cs typeface="David Libre Bold"/>
              <a:sym typeface="David Libre Bold"/>
            </a:endParaRPr>
          </a:p>
          <a:p>
            <a:pPr algn="ctr">
              <a:lnSpc>
                <a:spcPts val="3600"/>
              </a:lnSpc>
            </a:pPr>
            <a:endParaRPr lang="en-US" sz="3000" b="1">
              <a:solidFill>
                <a:srgbClr val="000000"/>
              </a:solidFill>
              <a:latin typeface="David Libre Bold"/>
              <a:ea typeface="David Libre Bold"/>
              <a:cs typeface="David Libre Bold"/>
              <a:sym typeface="David Libre Bold"/>
            </a:endParaRPr>
          </a:p>
          <a:p>
            <a:pPr algn="ctr">
              <a:lnSpc>
                <a:spcPts val="3600"/>
              </a:lnSpc>
              <a:spcBef>
                <a:spcPct val="0"/>
              </a:spcBef>
            </a:pPr>
            <a:endParaRPr lang="en-US" sz="3000" b="1">
              <a:solidFill>
                <a:srgbClr val="000000"/>
              </a:solidFill>
              <a:latin typeface="David Libre Bold"/>
              <a:ea typeface="David Libre Bold"/>
              <a:cs typeface="David Libre Bold"/>
              <a:sym typeface="David Libre Bold"/>
            </a:endParaRPr>
          </a:p>
          <a:p>
            <a:pPr algn="ctr">
              <a:lnSpc>
                <a:spcPts val="3600"/>
              </a:lnSpc>
              <a:spcBef>
                <a:spcPct val="0"/>
              </a:spcBef>
            </a:pPr>
            <a:endParaRPr lang="en-US" sz="3000" b="1">
              <a:solidFill>
                <a:srgbClr val="000000"/>
              </a:solidFill>
              <a:latin typeface="David Libre Bold"/>
              <a:ea typeface="David Libre Bold"/>
              <a:cs typeface="David Libre Bold"/>
              <a:sym typeface="David Libre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295140" y="804674"/>
            <a:ext cx="5231340" cy="1536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7"/>
              </a:lnSpc>
            </a:pPr>
            <a:r>
              <a:rPr lang="en-US" sz="4299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PROBLEM DEFINITION</a:t>
            </a:r>
          </a:p>
          <a:p>
            <a:pPr algn="l">
              <a:lnSpc>
                <a:spcPts val="3839"/>
              </a:lnSpc>
            </a:pPr>
            <a:endParaRPr lang="en-US" sz="4299">
              <a:solidFill>
                <a:srgbClr val="FFFFFF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 algn="l">
              <a:lnSpc>
                <a:spcPts val="3839"/>
              </a:lnSpc>
            </a:pPr>
            <a:endParaRPr lang="en-US" sz="4299">
              <a:solidFill>
                <a:srgbClr val="FFFFFF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2220">
            <a:off x="14092467" y="-1104321"/>
            <a:ext cx="4683280" cy="4266043"/>
          </a:xfrm>
          <a:custGeom>
            <a:avLst/>
            <a:gdLst/>
            <a:ahLst/>
            <a:cxnLst/>
            <a:rect l="l" t="t" r="r" b="b"/>
            <a:pathLst>
              <a:path w="4683280" h="4266043">
                <a:moveTo>
                  <a:pt x="0" y="0"/>
                </a:moveTo>
                <a:lnTo>
                  <a:pt x="4683281" y="0"/>
                </a:lnTo>
                <a:lnTo>
                  <a:pt x="4683281" y="4266042"/>
                </a:lnTo>
                <a:lnTo>
                  <a:pt x="0" y="4266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 flipH="1">
            <a:off x="3310809" y="3267516"/>
            <a:ext cx="1814085" cy="2277961"/>
          </a:xfrm>
          <a:custGeom>
            <a:avLst/>
            <a:gdLst/>
            <a:ahLst/>
            <a:cxnLst/>
            <a:rect l="l" t="t" r="r" b="b"/>
            <a:pathLst>
              <a:path w="1814085" h="2277961">
                <a:moveTo>
                  <a:pt x="1814085" y="0"/>
                </a:moveTo>
                <a:lnTo>
                  <a:pt x="0" y="0"/>
                </a:lnTo>
                <a:lnTo>
                  <a:pt x="0" y="2277961"/>
                </a:lnTo>
                <a:lnTo>
                  <a:pt x="1814085" y="2277961"/>
                </a:lnTo>
                <a:lnTo>
                  <a:pt x="181408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aphicFrame>
        <p:nvGraphicFramePr>
          <p:cNvPr id="4" name="Object 4"/>
          <p:cNvGraphicFramePr/>
          <p:nvPr>
            <p:extLst>
              <p:ext uri="{D42A27DB-BD31-4B8C-83A1-F6EECF244321}">
                <p14:modId xmlns:p14="http://schemas.microsoft.com/office/powerpoint/2010/main" val="2616513725"/>
              </p:ext>
            </p:extLst>
          </p:nvPr>
        </p:nvGraphicFramePr>
        <p:xfrm>
          <a:off x="125872" y="-342900"/>
          <a:ext cx="21336000" cy="1082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25603200" imgH="11861800" progId="Excel.Sheet.12">
                  <p:embed/>
                </p:oleObj>
              </mc:Choice>
              <mc:Fallback>
                <p:oleObj name="Worksheet" r:id="rId4" imgW="25603200" imgH="11861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5872" y="-342900"/>
                        <a:ext cx="21336000" cy="1082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5846612" y="39789"/>
            <a:ext cx="5534628" cy="204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73"/>
              </a:lnSpc>
            </a:pPr>
            <a:r>
              <a:rPr lang="en-US" sz="8201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PREVIOUS WORK</a:t>
            </a:r>
          </a:p>
          <a:p>
            <a:pPr algn="l">
              <a:lnSpc>
                <a:spcPts val="7873"/>
              </a:lnSpc>
            </a:pPr>
            <a:endParaRPr lang="en-US" sz="8201">
              <a:solidFill>
                <a:srgbClr val="553D3D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6137" y="510949"/>
            <a:ext cx="11029320" cy="3940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27"/>
              </a:lnSpc>
            </a:pPr>
            <a:r>
              <a:rPr lang="en-US" sz="9195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DATASET PREPROCESSING </a:t>
            </a:r>
          </a:p>
          <a:p>
            <a:pPr algn="l">
              <a:lnSpc>
                <a:spcPts val="2491"/>
              </a:lnSpc>
            </a:pPr>
            <a:endParaRPr lang="en-US" sz="9195">
              <a:solidFill>
                <a:srgbClr val="553D3D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 algn="l">
              <a:lnSpc>
                <a:spcPts val="9599"/>
              </a:lnSpc>
            </a:pPr>
            <a:endParaRPr lang="en-US" sz="9195">
              <a:solidFill>
                <a:srgbClr val="553D3D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 algn="l">
              <a:lnSpc>
                <a:spcPts val="9599"/>
              </a:lnSpc>
            </a:pPr>
            <a:endParaRPr lang="en-US" sz="9195">
              <a:solidFill>
                <a:srgbClr val="553D3D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3" name="Freeform 3"/>
          <p:cNvSpPr/>
          <p:nvPr/>
        </p:nvSpPr>
        <p:spPr>
          <a:xfrm rot="8398432" flipH="1">
            <a:off x="3542005" y="5314605"/>
            <a:ext cx="11571907" cy="10099118"/>
          </a:xfrm>
          <a:custGeom>
            <a:avLst/>
            <a:gdLst/>
            <a:ahLst/>
            <a:cxnLst/>
            <a:rect l="l" t="t" r="r" b="b"/>
            <a:pathLst>
              <a:path w="11571907" h="10099118">
                <a:moveTo>
                  <a:pt x="11571907" y="0"/>
                </a:moveTo>
                <a:lnTo>
                  <a:pt x="0" y="0"/>
                </a:lnTo>
                <a:lnTo>
                  <a:pt x="0" y="10099118"/>
                </a:lnTo>
                <a:lnTo>
                  <a:pt x="11571907" y="10099118"/>
                </a:lnTo>
                <a:lnTo>
                  <a:pt x="11571907" y="0"/>
                </a:lnTo>
                <a:close/>
              </a:path>
            </a:pathLst>
          </a:custGeom>
          <a:blipFill>
            <a:blip>
              <a:alphaModFix amt="65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 rot="-5697878" flipH="1">
            <a:off x="-170001" y="7105405"/>
            <a:ext cx="3639601" cy="3315346"/>
          </a:xfrm>
          <a:custGeom>
            <a:avLst/>
            <a:gdLst/>
            <a:ahLst/>
            <a:cxnLst/>
            <a:rect l="l" t="t" r="r" b="b"/>
            <a:pathLst>
              <a:path w="3639601" h="3315346">
                <a:moveTo>
                  <a:pt x="3639601" y="0"/>
                </a:moveTo>
                <a:lnTo>
                  <a:pt x="0" y="0"/>
                </a:lnTo>
                <a:lnTo>
                  <a:pt x="0" y="3315346"/>
                </a:lnTo>
                <a:lnTo>
                  <a:pt x="3639601" y="3315346"/>
                </a:lnTo>
                <a:lnTo>
                  <a:pt x="363960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TextBox 5"/>
          <p:cNvSpPr txBox="1"/>
          <p:nvPr/>
        </p:nvSpPr>
        <p:spPr>
          <a:xfrm>
            <a:off x="183958" y="2209791"/>
            <a:ext cx="18288000" cy="4634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20"/>
              </a:lnSpc>
              <a:spcBef>
                <a:spcPct val="0"/>
              </a:spcBef>
            </a:pPr>
            <a:r>
              <a:rPr lang="en-US" sz="43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Source:</a:t>
            </a:r>
            <a:r>
              <a:rPr lang="en-US" sz="4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MIMIC-IV-Ext CDS task-specific files merged by stay_id.</a:t>
            </a:r>
          </a:p>
          <a:p>
            <a:pPr algn="l">
              <a:lnSpc>
                <a:spcPts val="6020"/>
              </a:lnSpc>
              <a:spcBef>
                <a:spcPct val="0"/>
              </a:spcBef>
            </a:pPr>
            <a:r>
              <a:rPr lang="en-US" sz="43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Files used:</a:t>
            </a:r>
            <a:r>
              <a:rPr lang="en-US" sz="4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triage_level.csv, diagnosis.csv, and specialty_referral.csv.</a:t>
            </a:r>
          </a:p>
          <a:p>
            <a:pPr algn="l">
              <a:lnSpc>
                <a:spcPts val="6020"/>
              </a:lnSpc>
              <a:spcBef>
                <a:spcPct val="0"/>
              </a:spcBef>
            </a:pPr>
            <a:r>
              <a:rPr lang="en-US" sz="43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Working subset:</a:t>
            </a:r>
            <a:r>
              <a:rPr lang="en-US" sz="4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2,139 complete cases with HPI, initial vitals, triage, diagnosis, and specialty referral.</a:t>
            </a:r>
          </a:p>
          <a:p>
            <a:pPr algn="l">
              <a:lnSpc>
                <a:spcPts val="6020"/>
              </a:lnSpc>
              <a:spcBef>
                <a:spcPct val="0"/>
              </a:spcBef>
            </a:pPr>
            <a:endParaRPr lang="en-US" sz="43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6020"/>
              </a:lnSpc>
              <a:spcBef>
                <a:spcPct val="0"/>
              </a:spcBef>
            </a:pPr>
            <a:endParaRPr lang="en-US" sz="43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9902436" y="6151941"/>
            <a:ext cx="7356864" cy="3296213"/>
            <a:chOff x="0" y="0"/>
            <a:chExt cx="1937610" cy="8681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37610" cy="868138"/>
            </a:xfrm>
            <a:custGeom>
              <a:avLst/>
              <a:gdLst/>
              <a:ahLst/>
              <a:cxnLst/>
              <a:rect l="l" t="t" r="r" b="b"/>
              <a:pathLst>
                <a:path w="1937610" h="868138">
                  <a:moveTo>
                    <a:pt x="53669" y="0"/>
                  </a:moveTo>
                  <a:lnTo>
                    <a:pt x="1883941" y="0"/>
                  </a:lnTo>
                  <a:cubicBezTo>
                    <a:pt x="1913582" y="0"/>
                    <a:pt x="1937610" y="24029"/>
                    <a:pt x="1937610" y="53669"/>
                  </a:cubicBezTo>
                  <a:lnTo>
                    <a:pt x="1937610" y="814469"/>
                  </a:lnTo>
                  <a:cubicBezTo>
                    <a:pt x="1937610" y="844110"/>
                    <a:pt x="1913582" y="868138"/>
                    <a:pt x="1883941" y="868138"/>
                  </a:cubicBezTo>
                  <a:lnTo>
                    <a:pt x="53669" y="868138"/>
                  </a:lnTo>
                  <a:cubicBezTo>
                    <a:pt x="39435" y="868138"/>
                    <a:pt x="25784" y="862484"/>
                    <a:pt x="15719" y="852419"/>
                  </a:cubicBezTo>
                  <a:cubicBezTo>
                    <a:pt x="5654" y="842354"/>
                    <a:pt x="0" y="828703"/>
                    <a:pt x="0" y="814469"/>
                  </a:cubicBezTo>
                  <a:lnTo>
                    <a:pt x="0" y="53669"/>
                  </a:lnTo>
                  <a:cubicBezTo>
                    <a:pt x="0" y="24029"/>
                    <a:pt x="24029" y="0"/>
                    <a:pt x="53669" y="0"/>
                  </a:cubicBezTo>
                  <a:close/>
                </a:path>
              </a:pathLst>
            </a:custGeom>
            <a:solidFill>
              <a:srgbClr val="9CD0B5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57150"/>
              <a:ext cx="1937610" cy="8109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599197" y="6734129"/>
            <a:ext cx="7963342" cy="2055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71"/>
              </a:lnSpc>
              <a:spcBef>
                <a:spcPct val="0"/>
              </a:spcBef>
            </a:pPr>
            <a:r>
              <a:rPr lang="en-US" sz="3908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Parsed initial vitals from text into numeric variables and removed clinically implausible values.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28700" y="6200466"/>
            <a:ext cx="7550929" cy="3199163"/>
            <a:chOff x="0" y="0"/>
            <a:chExt cx="1988722" cy="8425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88722" cy="842578"/>
            </a:xfrm>
            <a:custGeom>
              <a:avLst/>
              <a:gdLst/>
              <a:ahLst/>
              <a:cxnLst/>
              <a:rect l="l" t="t" r="r" b="b"/>
              <a:pathLst>
                <a:path w="1988722" h="842578">
                  <a:moveTo>
                    <a:pt x="52290" y="0"/>
                  </a:moveTo>
                  <a:lnTo>
                    <a:pt x="1936432" y="0"/>
                  </a:lnTo>
                  <a:cubicBezTo>
                    <a:pt x="1965311" y="0"/>
                    <a:pt x="1988722" y="23411"/>
                    <a:pt x="1988722" y="52290"/>
                  </a:cubicBezTo>
                  <a:lnTo>
                    <a:pt x="1988722" y="790288"/>
                  </a:lnTo>
                  <a:cubicBezTo>
                    <a:pt x="1988722" y="819167"/>
                    <a:pt x="1965311" y="842578"/>
                    <a:pt x="1936432" y="842578"/>
                  </a:cubicBezTo>
                  <a:lnTo>
                    <a:pt x="52290" y="842578"/>
                  </a:lnTo>
                  <a:cubicBezTo>
                    <a:pt x="23411" y="842578"/>
                    <a:pt x="0" y="819167"/>
                    <a:pt x="0" y="790288"/>
                  </a:cubicBezTo>
                  <a:lnTo>
                    <a:pt x="0" y="52290"/>
                  </a:lnTo>
                  <a:cubicBezTo>
                    <a:pt x="0" y="23411"/>
                    <a:pt x="23411" y="0"/>
                    <a:pt x="52290" y="0"/>
                  </a:cubicBezTo>
                  <a:close/>
                </a:path>
              </a:pathLst>
            </a:custGeom>
            <a:solidFill>
              <a:srgbClr val="9CD0B5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1988722" cy="785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29112" y="6355422"/>
            <a:ext cx="6246607" cy="280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Cleaned noisy diagnosis/specialty fields: 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specialties 591 → 63,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diagnoses 1,886 → 1,797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7082" y="2753898"/>
            <a:ext cx="18000918" cy="7051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Created using rule-based weak labeling.</a:t>
            </a:r>
          </a:p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lang="en-US" sz="3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Input signals for labeling: clinical narrative, triage level, and parsed vital signs.</a:t>
            </a:r>
          </a:p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lang="en-US" sz="3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Rules identify clinical instability, isolation risk, trauma/high-risk injury patterns, and low-acuity presentations.</a:t>
            </a:r>
          </a:p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lang="en-US" sz="3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Used as target only; excluded from the text-generation prompt.</a:t>
            </a:r>
          </a:p>
          <a:p>
            <a:pPr algn="l">
              <a:lnSpc>
                <a:spcPts val="5319"/>
              </a:lnSpc>
              <a:spcBef>
                <a:spcPct val="0"/>
              </a:spcBef>
            </a:pPr>
            <a:endParaRPr lang="en-US" sz="38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5319"/>
              </a:lnSpc>
              <a:spcBef>
                <a:spcPct val="0"/>
              </a:spcBef>
            </a:pPr>
            <a:endParaRPr lang="en-US" sz="38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4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 Final classes:</a:t>
            </a:r>
          </a:p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standard_ed_bed, monitored_bed, resuscitation_bay,</a:t>
            </a:r>
          </a:p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isolation_room, trauma_bay, triage_or_waiting_room</a:t>
            </a:r>
          </a:p>
        </p:txBody>
      </p:sp>
      <p:sp>
        <p:nvSpPr>
          <p:cNvPr id="3" name="Freeform 3"/>
          <p:cNvSpPr/>
          <p:nvPr/>
        </p:nvSpPr>
        <p:spPr>
          <a:xfrm rot="8398432" flipH="1">
            <a:off x="8347198" y="5443822"/>
            <a:ext cx="11571907" cy="10099118"/>
          </a:xfrm>
          <a:custGeom>
            <a:avLst/>
            <a:gdLst/>
            <a:ahLst/>
            <a:cxnLst/>
            <a:rect l="l" t="t" r="r" b="b"/>
            <a:pathLst>
              <a:path w="11571907" h="10099118">
                <a:moveTo>
                  <a:pt x="11571907" y="0"/>
                </a:moveTo>
                <a:lnTo>
                  <a:pt x="0" y="0"/>
                </a:lnTo>
                <a:lnTo>
                  <a:pt x="0" y="10099118"/>
                </a:lnTo>
                <a:lnTo>
                  <a:pt x="11571907" y="10099118"/>
                </a:lnTo>
                <a:lnTo>
                  <a:pt x="11571907" y="0"/>
                </a:lnTo>
                <a:close/>
              </a:path>
            </a:pathLst>
          </a:custGeom>
          <a:blipFill>
            <a:blip>
              <a:alphaModFix amt="3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4" name="Group 4"/>
          <p:cNvGrpSpPr/>
          <p:nvPr/>
        </p:nvGrpSpPr>
        <p:grpSpPr>
          <a:xfrm>
            <a:off x="143541" y="1503532"/>
            <a:ext cx="7495571" cy="1107491"/>
            <a:chOff x="0" y="0"/>
            <a:chExt cx="1974142" cy="29168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74142" cy="291685"/>
            </a:xfrm>
            <a:custGeom>
              <a:avLst/>
              <a:gdLst/>
              <a:ahLst/>
              <a:cxnLst/>
              <a:rect l="l" t="t" r="r" b="b"/>
              <a:pathLst>
                <a:path w="1974142" h="291685">
                  <a:moveTo>
                    <a:pt x="52676" y="0"/>
                  </a:moveTo>
                  <a:lnTo>
                    <a:pt x="1921466" y="0"/>
                  </a:lnTo>
                  <a:cubicBezTo>
                    <a:pt x="1950558" y="0"/>
                    <a:pt x="1974142" y="23584"/>
                    <a:pt x="1974142" y="52676"/>
                  </a:cubicBezTo>
                  <a:lnTo>
                    <a:pt x="1974142" y="239009"/>
                  </a:lnTo>
                  <a:cubicBezTo>
                    <a:pt x="1974142" y="252979"/>
                    <a:pt x="1968592" y="266378"/>
                    <a:pt x="1958714" y="276256"/>
                  </a:cubicBezTo>
                  <a:cubicBezTo>
                    <a:pt x="1948835" y="286135"/>
                    <a:pt x="1935437" y="291685"/>
                    <a:pt x="1921466" y="291685"/>
                  </a:cubicBezTo>
                  <a:lnTo>
                    <a:pt x="52676" y="291685"/>
                  </a:lnTo>
                  <a:cubicBezTo>
                    <a:pt x="23584" y="291685"/>
                    <a:pt x="0" y="268101"/>
                    <a:pt x="0" y="239009"/>
                  </a:cubicBezTo>
                  <a:lnTo>
                    <a:pt x="0" y="52676"/>
                  </a:lnTo>
                  <a:cubicBezTo>
                    <a:pt x="0" y="23584"/>
                    <a:pt x="23584" y="0"/>
                    <a:pt x="52676" y="0"/>
                  </a:cubicBezTo>
                  <a:close/>
                </a:path>
              </a:pathLst>
            </a:custGeom>
            <a:solidFill>
              <a:srgbClr val="95D1B3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95250"/>
              <a:ext cx="1974142" cy="196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11"/>
                </a:lnSpc>
              </a:pPr>
              <a:r>
                <a:rPr lang="en-US" sz="4595">
                  <a:solidFill>
                    <a:srgbClr val="000000"/>
                  </a:solidFill>
                  <a:latin typeface="Handy Casual"/>
                  <a:ea typeface="Handy Casual"/>
                  <a:cs typeface="Handy Casual"/>
                  <a:sym typeface="Handy Casual"/>
                </a:rPr>
                <a:t>FIRST LABEL: ARRIVAL_DESTINATION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-1464346" y="0"/>
            <a:ext cx="7189116" cy="140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40"/>
              </a:lnSpc>
              <a:spcBef>
                <a:spcPct val="0"/>
              </a:spcBef>
            </a:pPr>
            <a:r>
              <a:rPr lang="en-US" sz="9200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Labeling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46722" y="2172094"/>
            <a:ext cx="14794556" cy="8114906"/>
          </a:xfrm>
          <a:custGeom>
            <a:avLst/>
            <a:gdLst/>
            <a:ahLst/>
            <a:cxnLst/>
            <a:rect l="l" t="t" r="r" b="b"/>
            <a:pathLst>
              <a:path w="14794556" h="8114906">
                <a:moveTo>
                  <a:pt x="0" y="0"/>
                </a:moveTo>
                <a:lnTo>
                  <a:pt x="14794556" y="0"/>
                </a:lnTo>
                <a:lnTo>
                  <a:pt x="14794556" y="8114906"/>
                </a:lnTo>
                <a:lnTo>
                  <a:pt x="0" y="8114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0" b="-250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1028700" y="97731"/>
            <a:ext cx="15131818" cy="122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TARGET LABEL DISTRIBUTION AND CLASS IMBALANCE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520877" y="0"/>
            <a:ext cx="7189116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40"/>
              </a:lnSpc>
              <a:spcBef>
                <a:spcPct val="0"/>
              </a:spcBef>
            </a:pPr>
            <a:r>
              <a:rPr lang="en-US" sz="8200">
                <a:solidFill>
                  <a:srgbClr val="483C42"/>
                </a:solidFill>
                <a:latin typeface="Handy Casual"/>
                <a:ea typeface="Handy Casual"/>
                <a:cs typeface="Handy Casual"/>
                <a:sym typeface="Handy Casual"/>
              </a:rPr>
              <a:t>Labeling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3541" y="2498190"/>
            <a:ext cx="18144459" cy="818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Derived from the cleaned specialty field.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Original specialties were grouped into broader clinical consult labels.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63 original specialties were reduced to </a:t>
            </a:r>
            <a:r>
              <a:rPr lang="en-US" sz="3299" b="1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18 final consult classes.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Generic labels such as medicine_or_ed_consult and other_consult were used only when no specific consult label was available.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Used as target only; excluded from the text-generation prompt.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  <a:endParaRPr lang="en-US" sz="34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Examples</a:t>
            </a: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orthopedics / hand surgery / podiatry → orthopedic_consult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ENT / ophthalmology / oral surgery / dentistry → ent_or_eye_oral_consult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endParaRPr lang="en-US" sz="32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*</a:t>
            </a:r>
            <a:r>
              <a:rPr lang="en-US" sz="3199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We intentionally prioritize ASR robustness over multi-label modeling in order to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keep the experimental question focused and interpretable.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endParaRPr lang="en-US" sz="3199" i="1">
              <a:solidFill>
                <a:srgbClr val="000000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43541" y="1385912"/>
            <a:ext cx="8258749" cy="1107491"/>
            <a:chOff x="0" y="0"/>
            <a:chExt cx="2175144" cy="29168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75144" cy="291685"/>
            </a:xfrm>
            <a:custGeom>
              <a:avLst/>
              <a:gdLst/>
              <a:ahLst/>
              <a:cxnLst/>
              <a:rect l="l" t="t" r="r" b="b"/>
              <a:pathLst>
                <a:path w="2175144" h="291685">
                  <a:moveTo>
                    <a:pt x="47808" y="0"/>
                  </a:moveTo>
                  <a:lnTo>
                    <a:pt x="2127335" y="0"/>
                  </a:lnTo>
                  <a:cubicBezTo>
                    <a:pt x="2153739" y="0"/>
                    <a:pt x="2175144" y="21405"/>
                    <a:pt x="2175144" y="47808"/>
                  </a:cubicBezTo>
                  <a:lnTo>
                    <a:pt x="2175144" y="243876"/>
                  </a:lnTo>
                  <a:cubicBezTo>
                    <a:pt x="2175144" y="256556"/>
                    <a:pt x="2170107" y="268716"/>
                    <a:pt x="2161141" y="277682"/>
                  </a:cubicBezTo>
                  <a:cubicBezTo>
                    <a:pt x="2152175" y="286648"/>
                    <a:pt x="2140015" y="291685"/>
                    <a:pt x="2127335" y="291685"/>
                  </a:cubicBezTo>
                  <a:lnTo>
                    <a:pt x="47808" y="291685"/>
                  </a:lnTo>
                  <a:cubicBezTo>
                    <a:pt x="21405" y="291685"/>
                    <a:pt x="0" y="270280"/>
                    <a:pt x="0" y="243876"/>
                  </a:cubicBezTo>
                  <a:lnTo>
                    <a:pt x="0" y="47808"/>
                  </a:lnTo>
                  <a:cubicBezTo>
                    <a:pt x="0" y="21405"/>
                    <a:pt x="21405" y="0"/>
                    <a:pt x="47808" y="0"/>
                  </a:cubicBezTo>
                  <a:close/>
                </a:path>
              </a:pathLst>
            </a:custGeom>
            <a:solidFill>
              <a:srgbClr val="95D1B3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85725"/>
              <a:ext cx="2175144" cy="2059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27"/>
                </a:lnSpc>
              </a:pPr>
              <a:r>
                <a:rPr lang="en-US" sz="4195">
                  <a:solidFill>
                    <a:srgbClr val="000000"/>
                  </a:solidFill>
                  <a:latin typeface="Handy Casual"/>
                  <a:ea typeface="Handy Casual"/>
                  <a:cs typeface="Handy Casual"/>
                  <a:sym typeface="Handy Casual"/>
                </a:rPr>
                <a:t>SECOND LABEL: SPECIALTY_CONSULT_LABEL</a:t>
              </a:r>
            </a:p>
          </p:txBody>
        </p:sp>
      </p:grpSp>
      <p:sp>
        <p:nvSpPr>
          <p:cNvPr id="7" name="Freeform 7"/>
          <p:cNvSpPr/>
          <p:nvPr/>
        </p:nvSpPr>
        <p:spPr>
          <a:xfrm rot="8398432" flipH="1">
            <a:off x="12936967" y="7214777"/>
            <a:ext cx="7627170" cy="6656439"/>
          </a:xfrm>
          <a:custGeom>
            <a:avLst/>
            <a:gdLst/>
            <a:ahLst/>
            <a:cxnLst/>
            <a:rect l="l" t="t" r="r" b="b"/>
            <a:pathLst>
              <a:path w="7627170" h="6656439">
                <a:moveTo>
                  <a:pt x="7627170" y="0"/>
                </a:moveTo>
                <a:lnTo>
                  <a:pt x="0" y="0"/>
                </a:lnTo>
                <a:lnTo>
                  <a:pt x="0" y="6656439"/>
                </a:lnTo>
                <a:lnTo>
                  <a:pt x="7627170" y="6656439"/>
                </a:lnTo>
                <a:lnTo>
                  <a:pt x="7627170" y="0"/>
                </a:lnTo>
                <a:close/>
              </a:path>
            </a:pathLst>
          </a:custGeom>
          <a:blipFill>
            <a:blip>
              <a:alphaModFix amt="3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107123"/>
            <a:ext cx="18288000" cy="8005935"/>
          </a:xfrm>
          <a:custGeom>
            <a:avLst/>
            <a:gdLst/>
            <a:ahLst/>
            <a:cxnLst/>
            <a:rect l="l" t="t" r="r" b="b"/>
            <a:pathLst>
              <a:path w="18288000" h="8005935">
                <a:moveTo>
                  <a:pt x="0" y="0"/>
                </a:moveTo>
                <a:lnTo>
                  <a:pt x="18288000" y="0"/>
                </a:lnTo>
                <a:lnTo>
                  <a:pt x="18288000" y="8005935"/>
                </a:lnTo>
                <a:lnTo>
                  <a:pt x="0" y="80059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2" t="-322" r="-2032" b="-706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734912" y="31674"/>
            <a:ext cx="15131818" cy="1285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sz="7500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TARGET LABEL DISTRIBUTION AND CLASS IMBALANCE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17578" y="5143500"/>
            <a:ext cx="16141722" cy="4883906"/>
          </a:xfrm>
          <a:custGeom>
            <a:avLst/>
            <a:gdLst/>
            <a:ahLst/>
            <a:cxnLst/>
            <a:rect l="l" t="t" r="r" b="b"/>
            <a:pathLst>
              <a:path w="16141722" h="4883906">
                <a:moveTo>
                  <a:pt x="0" y="0"/>
                </a:moveTo>
                <a:lnTo>
                  <a:pt x="16141722" y="0"/>
                </a:lnTo>
                <a:lnTo>
                  <a:pt x="16141722" y="4883906"/>
                </a:lnTo>
                <a:lnTo>
                  <a:pt x="0" y="4883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762001" y="116491"/>
            <a:ext cx="16497300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LEAKAGE-AWARE CASE SEED FOR REPORT GENERATION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53161" y="1835104"/>
            <a:ext cx="16230600" cy="2613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7" lvl="1" indent="-388618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Each case was converted into a structured seed containing HPI, patient information, and initial vital signs.</a:t>
            </a:r>
          </a:p>
          <a:p>
            <a:pPr marL="777237" lvl="1" indent="-388618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 reduce leakage, the seed excluded target labels, specialty fields, diagnosis fields, and triage, since these were related to the target-label creation.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2707" y="1771641"/>
            <a:ext cx="7891293" cy="950844"/>
            <a:chOff x="0" y="0"/>
            <a:chExt cx="2078365" cy="2504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78365" cy="250428"/>
            </a:xfrm>
            <a:custGeom>
              <a:avLst/>
              <a:gdLst/>
              <a:ahLst/>
              <a:cxnLst/>
              <a:rect l="l" t="t" r="r" b="b"/>
              <a:pathLst>
                <a:path w="2078365" h="250428">
                  <a:moveTo>
                    <a:pt x="50035" y="0"/>
                  </a:moveTo>
                  <a:lnTo>
                    <a:pt x="2028331" y="0"/>
                  </a:lnTo>
                  <a:cubicBezTo>
                    <a:pt x="2041601" y="0"/>
                    <a:pt x="2054327" y="5271"/>
                    <a:pt x="2063711" y="14655"/>
                  </a:cubicBezTo>
                  <a:cubicBezTo>
                    <a:pt x="2073094" y="24038"/>
                    <a:pt x="2078365" y="36765"/>
                    <a:pt x="2078365" y="50035"/>
                  </a:cubicBezTo>
                  <a:lnTo>
                    <a:pt x="2078365" y="200393"/>
                  </a:lnTo>
                  <a:cubicBezTo>
                    <a:pt x="2078365" y="213663"/>
                    <a:pt x="2073094" y="226390"/>
                    <a:pt x="2063711" y="235773"/>
                  </a:cubicBezTo>
                  <a:cubicBezTo>
                    <a:pt x="2054327" y="245157"/>
                    <a:pt x="2041601" y="250428"/>
                    <a:pt x="2028331" y="250428"/>
                  </a:cubicBezTo>
                  <a:lnTo>
                    <a:pt x="50035" y="250428"/>
                  </a:lnTo>
                  <a:cubicBezTo>
                    <a:pt x="36765" y="250428"/>
                    <a:pt x="24038" y="245157"/>
                    <a:pt x="14655" y="235773"/>
                  </a:cubicBezTo>
                  <a:cubicBezTo>
                    <a:pt x="5271" y="226390"/>
                    <a:pt x="0" y="213663"/>
                    <a:pt x="0" y="200393"/>
                  </a:cubicBezTo>
                  <a:lnTo>
                    <a:pt x="0" y="50035"/>
                  </a:lnTo>
                  <a:cubicBezTo>
                    <a:pt x="0" y="36765"/>
                    <a:pt x="5271" y="24038"/>
                    <a:pt x="14655" y="14655"/>
                  </a:cubicBezTo>
                  <a:cubicBezTo>
                    <a:pt x="24038" y="5271"/>
                    <a:pt x="36765" y="0"/>
                    <a:pt x="50035" y="0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078365" cy="193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734157" y="101591"/>
            <a:ext cx="10405229" cy="1262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19"/>
              </a:lnSpc>
              <a:spcBef>
                <a:spcPct val="0"/>
              </a:spcBef>
            </a:pPr>
            <a:r>
              <a:rPr lang="en-US" sz="7299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SYNTHETIC EMS REPORT GENERATION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1389" y="1788911"/>
            <a:ext cx="9445915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2,139 LABELED CLINICAL CASES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31653" y="2734040"/>
            <a:ext cx="533400" cy="712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↓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252707" y="3578722"/>
            <a:ext cx="7891293" cy="964639"/>
            <a:chOff x="0" y="0"/>
            <a:chExt cx="2078365" cy="25406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78365" cy="254061"/>
            </a:xfrm>
            <a:custGeom>
              <a:avLst/>
              <a:gdLst/>
              <a:ahLst/>
              <a:cxnLst/>
              <a:rect l="l" t="t" r="r" b="b"/>
              <a:pathLst>
                <a:path w="2078365" h="254061">
                  <a:moveTo>
                    <a:pt x="50035" y="0"/>
                  </a:moveTo>
                  <a:lnTo>
                    <a:pt x="2028331" y="0"/>
                  </a:lnTo>
                  <a:cubicBezTo>
                    <a:pt x="2041601" y="0"/>
                    <a:pt x="2054327" y="5271"/>
                    <a:pt x="2063711" y="14655"/>
                  </a:cubicBezTo>
                  <a:cubicBezTo>
                    <a:pt x="2073094" y="24038"/>
                    <a:pt x="2078365" y="36765"/>
                    <a:pt x="2078365" y="50035"/>
                  </a:cubicBezTo>
                  <a:lnTo>
                    <a:pt x="2078365" y="204027"/>
                  </a:lnTo>
                  <a:cubicBezTo>
                    <a:pt x="2078365" y="217297"/>
                    <a:pt x="2073094" y="230023"/>
                    <a:pt x="2063711" y="239407"/>
                  </a:cubicBezTo>
                  <a:cubicBezTo>
                    <a:pt x="2054327" y="248790"/>
                    <a:pt x="2041601" y="254061"/>
                    <a:pt x="2028331" y="254061"/>
                  </a:cubicBezTo>
                  <a:lnTo>
                    <a:pt x="50035" y="254061"/>
                  </a:lnTo>
                  <a:cubicBezTo>
                    <a:pt x="36765" y="254061"/>
                    <a:pt x="24038" y="248790"/>
                    <a:pt x="14655" y="239407"/>
                  </a:cubicBezTo>
                  <a:cubicBezTo>
                    <a:pt x="5271" y="230023"/>
                    <a:pt x="0" y="217297"/>
                    <a:pt x="0" y="204027"/>
                  </a:cubicBezTo>
                  <a:lnTo>
                    <a:pt x="0" y="50035"/>
                  </a:lnTo>
                  <a:cubicBezTo>
                    <a:pt x="0" y="36765"/>
                    <a:pt x="5271" y="24038"/>
                    <a:pt x="14655" y="14655"/>
                  </a:cubicBezTo>
                  <a:cubicBezTo>
                    <a:pt x="24038" y="5271"/>
                    <a:pt x="36765" y="0"/>
                    <a:pt x="50035" y="0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57150"/>
              <a:ext cx="2078365" cy="1969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52707" y="3593365"/>
            <a:ext cx="7891293" cy="88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LEAKAGE-AWARE CASE SEEDS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31653" y="4552887"/>
            <a:ext cx="533400" cy="712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↓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252707" y="5351081"/>
            <a:ext cx="7891293" cy="964639"/>
            <a:chOff x="0" y="0"/>
            <a:chExt cx="2078365" cy="25406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78365" cy="254061"/>
            </a:xfrm>
            <a:custGeom>
              <a:avLst/>
              <a:gdLst/>
              <a:ahLst/>
              <a:cxnLst/>
              <a:rect l="l" t="t" r="r" b="b"/>
              <a:pathLst>
                <a:path w="2078365" h="254061">
                  <a:moveTo>
                    <a:pt x="50035" y="0"/>
                  </a:moveTo>
                  <a:lnTo>
                    <a:pt x="2028331" y="0"/>
                  </a:lnTo>
                  <a:cubicBezTo>
                    <a:pt x="2041601" y="0"/>
                    <a:pt x="2054327" y="5271"/>
                    <a:pt x="2063711" y="14655"/>
                  </a:cubicBezTo>
                  <a:cubicBezTo>
                    <a:pt x="2073094" y="24038"/>
                    <a:pt x="2078365" y="36765"/>
                    <a:pt x="2078365" y="50035"/>
                  </a:cubicBezTo>
                  <a:lnTo>
                    <a:pt x="2078365" y="204027"/>
                  </a:lnTo>
                  <a:cubicBezTo>
                    <a:pt x="2078365" y="217297"/>
                    <a:pt x="2073094" y="230023"/>
                    <a:pt x="2063711" y="239407"/>
                  </a:cubicBezTo>
                  <a:cubicBezTo>
                    <a:pt x="2054327" y="248790"/>
                    <a:pt x="2041601" y="254061"/>
                    <a:pt x="2028331" y="254061"/>
                  </a:cubicBezTo>
                  <a:lnTo>
                    <a:pt x="50035" y="254061"/>
                  </a:lnTo>
                  <a:cubicBezTo>
                    <a:pt x="36765" y="254061"/>
                    <a:pt x="24038" y="248790"/>
                    <a:pt x="14655" y="239407"/>
                  </a:cubicBezTo>
                  <a:cubicBezTo>
                    <a:pt x="5271" y="230023"/>
                    <a:pt x="0" y="217297"/>
                    <a:pt x="0" y="204027"/>
                  </a:cubicBezTo>
                  <a:lnTo>
                    <a:pt x="0" y="50035"/>
                  </a:lnTo>
                  <a:cubicBezTo>
                    <a:pt x="0" y="36765"/>
                    <a:pt x="5271" y="24038"/>
                    <a:pt x="14655" y="14655"/>
                  </a:cubicBezTo>
                  <a:cubicBezTo>
                    <a:pt x="24038" y="5271"/>
                    <a:pt x="36765" y="0"/>
                    <a:pt x="50035" y="0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57150"/>
              <a:ext cx="2078365" cy="1969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52707" y="5332386"/>
            <a:ext cx="7891293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GPT-4.1-MINI TEXT GENERATION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52707" y="7199640"/>
            <a:ext cx="7891293" cy="964639"/>
            <a:chOff x="0" y="0"/>
            <a:chExt cx="2078365" cy="25406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78365" cy="254061"/>
            </a:xfrm>
            <a:custGeom>
              <a:avLst/>
              <a:gdLst/>
              <a:ahLst/>
              <a:cxnLst/>
              <a:rect l="l" t="t" r="r" b="b"/>
              <a:pathLst>
                <a:path w="2078365" h="254061">
                  <a:moveTo>
                    <a:pt x="50035" y="0"/>
                  </a:moveTo>
                  <a:lnTo>
                    <a:pt x="2028331" y="0"/>
                  </a:lnTo>
                  <a:cubicBezTo>
                    <a:pt x="2041601" y="0"/>
                    <a:pt x="2054327" y="5271"/>
                    <a:pt x="2063711" y="14655"/>
                  </a:cubicBezTo>
                  <a:cubicBezTo>
                    <a:pt x="2073094" y="24038"/>
                    <a:pt x="2078365" y="36765"/>
                    <a:pt x="2078365" y="50035"/>
                  </a:cubicBezTo>
                  <a:lnTo>
                    <a:pt x="2078365" y="204027"/>
                  </a:lnTo>
                  <a:cubicBezTo>
                    <a:pt x="2078365" y="217297"/>
                    <a:pt x="2073094" y="230023"/>
                    <a:pt x="2063711" y="239407"/>
                  </a:cubicBezTo>
                  <a:cubicBezTo>
                    <a:pt x="2054327" y="248790"/>
                    <a:pt x="2041601" y="254061"/>
                    <a:pt x="2028331" y="254061"/>
                  </a:cubicBezTo>
                  <a:lnTo>
                    <a:pt x="50035" y="254061"/>
                  </a:lnTo>
                  <a:cubicBezTo>
                    <a:pt x="36765" y="254061"/>
                    <a:pt x="24038" y="248790"/>
                    <a:pt x="14655" y="239407"/>
                  </a:cubicBezTo>
                  <a:cubicBezTo>
                    <a:pt x="5271" y="230023"/>
                    <a:pt x="0" y="217297"/>
                    <a:pt x="0" y="204027"/>
                  </a:cubicBezTo>
                  <a:lnTo>
                    <a:pt x="0" y="50035"/>
                  </a:lnTo>
                  <a:cubicBezTo>
                    <a:pt x="0" y="36765"/>
                    <a:pt x="5271" y="24038"/>
                    <a:pt x="14655" y="14655"/>
                  </a:cubicBezTo>
                  <a:cubicBezTo>
                    <a:pt x="24038" y="5271"/>
                    <a:pt x="36765" y="0"/>
                    <a:pt x="50035" y="0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57150"/>
              <a:ext cx="2078365" cy="1969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931653" y="6401445"/>
            <a:ext cx="533400" cy="712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↓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2707" y="7218690"/>
            <a:ext cx="7891293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4 EMS REPORT VARIANTS PER CASE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974347" y="8221429"/>
            <a:ext cx="53340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↓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295400" y="8997686"/>
            <a:ext cx="7891293" cy="964639"/>
            <a:chOff x="0" y="0"/>
            <a:chExt cx="2078365" cy="25406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078365" cy="254061"/>
            </a:xfrm>
            <a:custGeom>
              <a:avLst/>
              <a:gdLst/>
              <a:ahLst/>
              <a:cxnLst/>
              <a:rect l="l" t="t" r="r" b="b"/>
              <a:pathLst>
                <a:path w="2078365" h="254061">
                  <a:moveTo>
                    <a:pt x="50035" y="0"/>
                  </a:moveTo>
                  <a:lnTo>
                    <a:pt x="2028331" y="0"/>
                  </a:lnTo>
                  <a:cubicBezTo>
                    <a:pt x="2041601" y="0"/>
                    <a:pt x="2054327" y="5271"/>
                    <a:pt x="2063711" y="14655"/>
                  </a:cubicBezTo>
                  <a:cubicBezTo>
                    <a:pt x="2073094" y="24038"/>
                    <a:pt x="2078365" y="36765"/>
                    <a:pt x="2078365" y="50035"/>
                  </a:cubicBezTo>
                  <a:lnTo>
                    <a:pt x="2078365" y="204027"/>
                  </a:lnTo>
                  <a:cubicBezTo>
                    <a:pt x="2078365" y="217297"/>
                    <a:pt x="2073094" y="230023"/>
                    <a:pt x="2063711" y="239407"/>
                  </a:cubicBezTo>
                  <a:cubicBezTo>
                    <a:pt x="2054327" y="248790"/>
                    <a:pt x="2041601" y="254061"/>
                    <a:pt x="2028331" y="254061"/>
                  </a:cubicBezTo>
                  <a:lnTo>
                    <a:pt x="50035" y="254061"/>
                  </a:lnTo>
                  <a:cubicBezTo>
                    <a:pt x="36765" y="254061"/>
                    <a:pt x="24038" y="248790"/>
                    <a:pt x="14655" y="239407"/>
                  </a:cubicBezTo>
                  <a:cubicBezTo>
                    <a:pt x="5271" y="230023"/>
                    <a:pt x="0" y="217297"/>
                    <a:pt x="0" y="204027"/>
                  </a:cubicBezTo>
                  <a:lnTo>
                    <a:pt x="0" y="50035"/>
                  </a:lnTo>
                  <a:cubicBezTo>
                    <a:pt x="0" y="36765"/>
                    <a:pt x="5271" y="24038"/>
                    <a:pt x="14655" y="14655"/>
                  </a:cubicBezTo>
                  <a:cubicBezTo>
                    <a:pt x="24038" y="5271"/>
                    <a:pt x="36765" y="0"/>
                    <a:pt x="50035" y="0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57150"/>
              <a:ext cx="2078365" cy="1969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201550" y="9048199"/>
            <a:ext cx="5993606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8,556 SYNTHETIC EMS REPORTS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593468" y="2151813"/>
            <a:ext cx="4098965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u="sng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4 VARIANTS PER CASE: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979962" y="3181466"/>
            <a:ext cx="7891293" cy="3614315"/>
            <a:chOff x="0" y="0"/>
            <a:chExt cx="2078365" cy="95191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078365" cy="951918"/>
            </a:xfrm>
            <a:custGeom>
              <a:avLst/>
              <a:gdLst/>
              <a:ahLst/>
              <a:cxnLst/>
              <a:rect l="l" t="t" r="r" b="b"/>
              <a:pathLst>
                <a:path w="2078365" h="951918">
                  <a:moveTo>
                    <a:pt x="50035" y="0"/>
                  </a:moveTo>
                  <a:lnTo>
                    <a:pt x="2028331" y="0"/>
                  </a:lnTo>
                  <a:cubicBezTo>
                    <a:pt x="2041601" y="0"/>
                    <a:pt x="2054327" y="5271"/>
                    <a:pt x="2063711" y="14655"/>
                  </a:cubicBezTo>
                  <a:cubicBezTo>
                    <a:pt x="2073094" y="24038"/>
                    <a:pt x="2078365" y="36765"/>
                    <a:pt x="2078365" y="50035"/>
                  </a:cubicBezTo>
                  <a:lnTo>
                    <a:pt x="2078365" y="901884"/>
                  </a:lnTo>
                  <a:cubicBezTo>
                    <a:pt x="2078365" y="915154"/>
                    <a:pt x="2073094" y="927880"/>
                    <a:pt x="2063711" y="937263"/>
                  </a:cubicBezTo>
                  <a:cubicBezTo>
                    <a:pt x="2054327" y="946647"/>
                    <a:pt x="2041601" y="951918"/>
                    <a:pt x="2028331" y="951918"/>
                  </a:cubicBezTo>
                  <a:lnTo>
                    <a:pt x="50035" y="951918"/>
                  </a:lnTo>
                  <a:cubicBezTo>
                    <a:pt x="36765" y="951918"/>
                    <a:pt x="24038" y="946647"/>
                    <a:pt x="14655" y="937263"/>
                  </a:cubicBezTo>
                  <a:cubicBezTo>
                    <a:pt x="5271" y="927880"/>
                    <a:pt x="0" y="915154"/>
                    <a:pt x="0" y="901884"/>
                  </a:cubicBezTo>
                  <a:lnTo>
                    <a:pt x="0" y="50035"/>
                  </a:lnTo>
                  <a:cubicBezTo>
                    <a:pt x="0" y="36765"/>
                    <a:pt x="5271" y="24038"/>
                    <a:pt x="14655" y="14655"/>
                  </a:cubicBezTo>
                  <a:cubicBezTo>
                    <a:pt x="24038" y="5271"/>
                    <a:pt x="36765" y="0"/>
                    <a:pt x="50035" y="0"/>
                  </a:cubicBezTo>
                  <a:close/>
                </a:path>
              </a:pathLst>
            </a:custGeom>
            <a:solidFill>
              <a:srgbClr val="D6E6F7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57150"/>
              <a:ext cx="2078365" cy="8947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308883" y="3562283"/>
            <a:ext cx="7562372" cy="2766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0590" lvl="1" indent="-425295" algn="just">
              <a:lnSpc>
                <a:spcPts val="5515"/>
              </a:lnSpc>
              <a:buAutoNum type="arabicPeriod"/>
            </a:pPr>
            <a:r>
              <a:rPr lang="en-US" sz="393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professional_complete</a:t>
            </a:r>
          </a:p>
          <a:p>
            <a:pPr marL="850590" lvl="1" indent="-425295" algn="just">
              <a:lnSpc>
                <a:spcPts val="5515"/>
              </a:lnSpc>
              <a:buAutoNum type="arabicPeriod"/>
            </a:pPr>
            <a:r>
              <a:rPr lang="en-US" sz="393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brief_radio_missing_details</a:t>
            </a:r>
          </a:p>
          <a:p>
            <a:pPr marL="850590" lvl="1" indent="-425295" algn="just">
              <a:lnSpc>
                <a:spcPts val="5515"/>
              </a:lnSpc>
              <a:buAutoNum type="arabicPeriod"/>
            </a:pPr>
            <a:r>
              <a:rPr lang="en-US" sz="393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patient_reported_uncertain</a:t>
            </a:r>
          </a:p>
          <a:p>
            <a:pPr marL="850590" lvl="1" indent="-425295" algn="just">
              <a:lnSpc>
                <a:spcPts val="5515"/>
              </a:lnSpc>
              <a:buAutoNum type="arabicPeriod"/>
            </a:pPr>
            <a:r>
              <a:rPr lang="en-US" sz="393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distracted_or_disorganized_handoff</a:t>
            </a:r>
          </a:p>
        </p:txBody>
      </p:sp>
      <p:sp>
        <p:nvSpPr>
          <p:cNvPr id="32" name="Freeform 32"/>
          <p:cNvSpPr/>
          <p:nvPr/>
        </p:nvSpPr>
        <p:spPr>
          <a:xfrm>
            <a:off x="14571543" y="6998574"/>
            <a:ext cx="4603145" cy="4519451"/>
          </a:xfrm>
          <a:custGeom>
            <a:avLst/>
            <a:gdLst/>
            <a:ahLst/>
            <a:cxnLst/>
            <a:rect l="l" t="t" r="r" b="b"/>
            <a:pathLst>
              <a:path w="4603145" h="4519451">
                <a:moveTo>
                  <a:pt x="0" y="0"/>
                </a:moveTo>
                <a:lnTo>
                  <a:pt x="4603144" y="0"/>
                </a:lnTo>
                <a:lnTo>
                  <a:pt x="4603144" y="4519452"/>
                </a:lnTo>
                <a:lnTo>
                  <a:pt x="0" y="4519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614150" y="4267228"/>
            <a:ext cx="9200263" cy="4549948"/>
          </a:xfrm>
          <a:custGeom>
            <a:avLst/>
            <a:gdLst/>
            <a:ahLst/>
            <a:cxnLst/>
            <a:rect l="l" t="t" r="r" b="b"/>
            <a:pathLst>
              <a:path w="9200263" h="4549948">
                <a:moveTo>
                  <a:pt x="0" y="0"/>
                </a:moveTo>
                <a:lnTo>
                  <a:pt x="9200263" y="0"/>
                </a:lnTo>
                <a:lnTo>
                  <a:pt x="9200263" y="4549948"/>
                </a:lnTo>
                <a:lnTo>
                  <a:pt x="0" y="454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388790" y="2156644"/>
            <a:ext cx="7187834" cy="7904229"/>
          </a:xfrm>
          <a:custGeom>
            <a:avLst/>
            <a:gdLst/>
            <a:ahLst/>
            <a:cxnLst/>
            <a:rect l="l" t="t" r="r" b="b"/>
            <a:pathLst>
              <a:path w="7187834" h="7904229">
                <a:moveTo>
                  <a:pt x="0" y="0"/>
                </a:moveTo>
                <a:lnTo>
                  <a:pt x="7187834" y="0"/>
                </a:lnTo>
                <a:lnTo>
                  <a:pt x="7187834" y="7904229"/>
                </a:lnTo>
                <a:lnTo>
                  <a:pt x="0" y="7904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he-IL"/>
          </a:p>
        </p:txBody>
      </p:sp>
      <p:sp>
        <p:nvSpPr>
          <p:cNvPr id="4" name="TextBox 4"/>
          <p:cNvSpPr txBox="1"/>
          <p:nvPr/>
        </p:nvSpPr>
        <p:spPr>
          <a:xfrm>
            <a:off x="117804" y="-180975"/>
            <a:ext cx="12221052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sz="9000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FINAL DATASET LABEL DISTRIBUTION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1296920"/>
            <a:ext cx="18288000" cy="561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*The generated dataset preserves the original class imbalance, since each source case produced four report variants.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8003" y="2568990"/>
            <a:ext cx="15531994" cy="7221749"/>
          </a:xfrm>
          <a:custGeom>
            <a:avLst/>
            <a:gdLst/>
            <a:ahLst/>
            <a:cxnLst/>
            <a:rect l="l" t="t" r="r" b="b"/>
            <a:pathLst>
              <a:path w="15531994" h="7221749">
                <a:moveTo>
                  <a:pt x="0" y="0"/>
                </a:moveTo>
                <a:lnTo>
                  <a:pt x="15531994" y="0"/>
                </a:lnTo>
                <a:lnTo>
                  <a:pt x="15531994" y="7221749"/>
                </a:lnTo>
                <a:lnTo>
                  <a:pt x="0" y="72217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1301948" y="366403"/>
            <a:ext cx="15395138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sz="6500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Example: Same Clinical Case, Different EMS Report Variants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4000" y="177758"/>
            <a:ext cx="13510855" cy="34969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59"/>
              </a:lnSpc>
            </a:pPr>
            <a:r>
              <a:rPr lang="en-US" sz="6899" dirty="0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POST-PROCESSING AND LEAKAGE REDUCTION</a:t>
            </a:r>
          </a:p>
          <a:p>
            <a:pPr algn="ctr">
              <a:lnSpc>
                <a:spcPts val="9100"/>
              </a:lnSpc>
            </a:pPr>
            <a:endParaRPr lang="en-US" sz="6899" dirty="0">
              <a:solidFill>
                <a:srgbClr val="553D3D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 algn="ctr">
              <a:lnSpc>
                <a:spcPts val="9100"/>
              </a:lnSpc>
              <a:spcBef>
                <a:spcPct val="0"/>
              </a:spcBef>
            </a:pPr>
            <a:endParaRPr lang="en-US" sz="6899" dirty="0">
              <a:solidFill>
                <a:srgbClr val="553D3D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26127" y="1603661"/>
            <a:ext cx="18288000" cy="833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  <a:spcBef>
                <a:spcPct val="0"/>
              </a:spcBef>
            </a:pPr>
            <a:r>
              <a:rPr lang="en-US" sz="36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After generation, reports were scanned for hospital-based or leakage-prone wording.</a:t>
            </a:r>
          </a:p>
          <a:p>
            <a:pPr algn="l">
              <a:lnSpc>
                <a:spcPts val="5043"/>
              </a:lnSpc>
              <a:spcBef>
                <a:spcPct val="0"/>
              </a:spcBef>
            </a:pPr>
            <a:endParaRPr lang="en-US" sz="3602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5043"/>
              </a:lnSpc>
              <a:spcBef>
                <a:spcPct val="0"/>
              </a:spcBef>
            </a:pPr>
            <a:endParaRPr lang="en-US" sz="3602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5043"/>
              </a:lnSpc>
              <a:spcBef>
                <a:spcPct val="0"/>
              </a:spcBef>
            </a:pPr>
            <a:r>
              <a:rPr lang="en-US" sz="36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Imaging/lab results</a:t>
            </a:r>
          </a:p>
          <a:p>
            <a:pPr algn="l">
              <a:lnSpc>
                <a:spcPts val="5043"/>
              </a:lnSpc>
              <a:spcBef>
                <a:spcPct val="0"/>
              </a:spcBef>
            </a:pPr>
            <a:r>
              <a:rPr lang="en-US" sz="36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Specialist consult wording</a:t>
            </a:r>
          </a:p>
          <a:p>
            <a:pPr algn="l">
              <a:lnSpc>
                <a:spcPts val="5043"/>
              </a:lnSpc>
              <a:spcBef>
                <a:spcPct val="0"/>
              </a:spcBef>
            </a:pPr>
            <a:r>
              <a:rPr lang="en-US" sz="36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Hospital workflow phrases</a:t>
            </a:r>
          </a:p>
          <a:p>
            <a:pPr algn="l">
              <a:lnSpc>
                <a:spcPts val="5043"/>
              </a:lnSpc>
              <a:spcBef>
                <a:spcPct val="0"/>
              </a:spcBef>
            </a:pPr>
            <a:endParaRPr lang="en-US" sz="3602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5043"/>
              </a:lnSpc>
              <a:spcBef>
                <a:spcPct val="0"/>
              </a:spcBef>
            </a:pPr>
            <a:endParaRPr lang="en-US" sz="3602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5043"/>
              </a:lnSpc>
              <a:spcBef>
                <a:spcPct val="0"/>
              </a:spcBef>
            </a:pPr>
            <a:r>
              <a:rPr lang="en-US" sz="36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Regex-based candidate detection → minimal LLM rewrite → second-pass check.</a:t>
            </a:r>
          </a:p>
          <a:p>
            <a:pPr algn="l">
              <a:lnSpc>
                <a:spcPts val="5043"/>
              </a:lnSpc>
              <a:spcBef>
                <a:spcPct val="0"/>
              </a:spcBef>
            </a:pPr>
            <a:endParaRPr lang="en-US" sz="3602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5043"/>
              </a:lnSpc>
              <a:spcBef>
                <a:spcPct val="0"/>
              </a:spcBef>
            </a:pPr>
            <a:endParaRPr lang="en-US" sz="3602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5043"/>
              </a:lnSpc>
              <a:spcBef>
                <a:spcPct val="0"/>
              </a:spcBef>
            </a:pPr>
            <a:r>
              <a:rPr lang="en-US" sz="36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Round 1 candidates: 461 reports (5.39%)</a:t>
            </a:r>
          </a:p>
          <a:p>
            <a:pPr algn="l">
              <a:lnSpc>
                <a:spcPts val="5043"/>
              </a:lnSpc>
              <a:spcBef>
                <a:spcPct val="0"/>
              </a:spcBef>
            </a:pPr>
            <a:r>
              <a:rPr lang="en-US" sz="36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Round 2 remaining candidates: 168 reports (1.96%)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89461" y="2601175"/>
            <a:ext cx="4283826" cy="920321"/>
            <a:chOff x="0" y="0"/>
            <a:chExt cx="1128250" cy="2423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28251" cy="242389"/>
            </a:xfrm>
            <a:custGeom>
              <a:avLst/>
              <a:gdLst/>
              <a:ahLst/>
              <a:cxnLst/>
              <a:rect l="l" t="t" r="r" b="b"/>
              <a:pathLst>
                <a:path w="1128251" h="242389">
                  <a:moveTo>
                    <a:pt x="92169" y="0"/>
                  </a:moveTo>
                  <a:lnTo>
                    <a:pt x="1036081" y="0"/>
                  </a:lnTo>
                  <a:cubicBezTo>
                    <a:pt x="1060526" y="0"/>
                    <a:pt x="1083970" y="9711"/>
                    <a:pt x="1101255" y="26996"/>
                  </a:cubicBezTo>
                  <a:cubicBezTo>
                    <a:pt x="1118540" y="44281"/>
                    <a:pt x="1128251" y="67725"/>
                    <a:pt x="1128251" y="92169"/>
                  </a:cubicBezTo>
                  <a:lnTo>
                    <a:pt x="1128251" y="150220"/>
                  </a:lnTo>
                  <a:cubicBezTo>
                    <a:pt x="1128251" y="174664"/>
                    <a:pt x="1118540" y="198108"/>
                    <a:pt x="1101255" y="215393"/>
                  </a:cubicBezTo>
                  <a:cubicBezTo>
                    <a:pt x="1083970" y="232678"/>
                    <a:pt x="1060526" y="242389"/>
                    <a:pt x="1036081" y="242389"/>
                  </a:cubicBezTo>
                  <a:lnTo>
                    <a:pt x="92169" y="242389"/>
                  </a:lnTo>
                  <a:cubicBezTo>
                    <a:pt x="67725" y="242389"/>
                    <a:pt x="44281" y="232678"/>
                    <a:pt x="26996" y="215393"/>
                  </a:cubicBezTo>
                  <a:cubicBezTo>
                    <a:pt x="9711" y="198108"/>
                    <a:pt x="0" y="174664"/>
                    <a:pt x="0" y="150220"/>
                  </a:cubicBezTo>
                  <a:lnTo>
                    <a:pt x="0" y="92169"/>
                  </a:lnTo>
                  <a:cubicBezTo>
                    <a:pt x="0" y="67725"/>
                    <a:pt x="9711" y="44281"/>
                    <a:pt x="26996" y="26996"/>
                  </a:cubicBezTo>
                  <a:cubicBezTo>
                    <a:pt x="44281" y="9711"/>
                    <a:pt x="67725" y="0"/>
                    <a:pt x="92169" y="0"/>
                  </a:cubicBezTo>
                  <a:close/>
                </a:path>
              </a:pathLst>
            </a:custGeom>
            <a:solidFill>
              <a:srgbClr val="95D1B3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128250" cy="280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04800" y="2658339"/>
            <a:ext cx="3792980" cy="7091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DETECTED PATTERNS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57506" y="5685910"/>
            <a:ext cx="3821032" cy="908008"/>
            <a:chOff x="0" y="0"/>
            <a:chExt cx="1006362" cy="23914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6362" cy="239146"/>
            </a:xfrm>
            <a:custGeom>
              <a:avLst/>
              <a:gdLst/>
              <a:ahLst/>
              <a:cxnLst/>
              <a:rect l="l" t="t" r="r" b="b"/>
              <a:pathLst>
                <a:path w="1006362" h="239146">
                  <a:moveTo>
                    <a:pt x="103333" y="0"/>
                  </a:moveTo>
                  <a:lnTo>
                    <a:pt x="903030" y="0"/>
                  </a:lnTo>
                  <a:cubicBezTo>
                    <a:pt x="960099" y="0"/>
                    <a:pt x="1006362" y="46264"/>
                    <a:pt x="1006362" y="103333"/>
                  </a:cubicBezTo>
                  <a:lnTo>
                    <a:pt x="1006362" y="135813"/>
                  </a:lnTo>
                  <a:cubicBezTo>
                    <a:pt x="1006362" y="163219"/>
                    <a:pt x="995476" y="189502"/>
                    <a:pt x="976097" y="208881"/>
                  </a:cubicBezTo>
                  <a:cubicBezTo>
                    <a:pt x="956718" y="228259"/>
                    <a:pt x="930435" y="239146"/>
                    <a:pt x="903030" y="239146"/>
                  </a:cubicBezTo>
                  <a:lnTo>
                    <a:pt x="103333" y="239146"/>
                  </a:lnTo>
                  <a:cubicBezTo>
                    <a:pt x="75927" y="239146"/>
                    <a:pt x="49644" y="228259"/>
                    <a:pt x="30265" y="208881"/>
                  </a:cubicBezTo>
                  <a:cubicBezTo>
                    <a:pt x="10887" y="189502"/>
                    <a:pt x="0" y="163219"/>
                    <a:pt x="0" y="135813"/>
                  </a:cubicBezTo>
                  <a:lnTo>
                    <a:pt x="0" y="103333"/>
                  </a:lnTo>
                  <a:cubicBezTo>
                    <a:pt x="0" y="75927"/>
                    <a:pt x="10887" y="49644"/>
                    <a:pt x="30265" y="30265"/>
                  </a:cubicBezTo>
                  <a:cubicBezTo>
                    <a:pt x="49644" y="10887"/>
                    <a:pt x="75927" y="0"/>
                    <a:pt x="103333" y="0"/>
                  </a:cubicBezTo>
                  <a:close/>
                </a:path>
              </a:pathLst>
            </a:custGeom>
            <a:solidFill>
              <a:srgbClr val="95D1B3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06362" cy="277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5697001"/>
            <a:ext cx="1957123" cy="830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METHOD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26127" y="7621639"/>
            <a:ext cx="3752412" cy="920321"/>
            <a:chOff x="0" y="0"/>
            <a:chExt cx="988290" cy="24238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88290" cy="242389"/>
            </a:xfrm>
            <a:custGeom>
              <a:avLst/>
              <a:gdLst/>
              <a:ahLst/>
              <a:cxnLst/>
              <a:rect l="l" t="t" r="r" b="b"/>
              <a:pathLst>
                <a:path w="988290" h="242389">
                  <a:moveTo>
                    <a:pt x="105222" y="0"/>
                  </a:moveTo>
                  <a:lnTo>
                    <a:pt x="883067" y="0"/>
                  </a:lnTo>
                  <a:cubicBezTo>
                    <a:pt x="910974" y="0"/>
                    <a:pt x="937738" y="11086"/>
                    <a:pt x="957471" y="30819"/>
                  </a:cubicBezTo>
                  <a:cubicBezTo>
                    <a:pt x="977204" y="50552"/>
                    <a:pt x="988290" y="77316"/>
                    <a:pt x="988290" y="105222"/>
                  </a:cubicBezTo>
                  <a:lnTo>
                    <a:pt x="988290" y="137167"/>
                  </a:lnTo>
                  <a:cubicBezTo>
                    <a:pt x="988290" y="195279"/>
                    <a:pt x="941180" y="242389"/>
                    <a:pt x="883067" y="242389"/>
                  </a:cubicBezTo>
                  <a:lnTo>
                    <a:pt x="105222" y="242389"/>
                  </a:lnTo>
                  <a:cubicBezTo>
                    <a:pt x="47110" y="242389"/>
                    <a:pt x="0" y="195279"/>
                    <a:pt x="0" y="137167"/>
                  </a:cubicBezTo>
                  <a:lnTo>
                    <a:pt x="0" y="105222"/>
                  </a:lnTo>
                  <a:cubicBezTo>
                    <a:pt x="0" y="47110"/>
                    <a:pt x="47110" y="0"/>
                    <a:pt x="105222" y="0"/>
                  </a:cubicBezTo>
                  <a:close/>
                </a:path>
              </a:pathLst>
            </a:custGeom>
            <a:solidFill>
              <a:srgbClr val="95D1B3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988290" cy="280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7623647"/>
            <a:ext cx="1871398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RESULTS</a:t>
            </a:r>
          </a:p>
        </p:txBody>
      </p:sp>
      <p:sp>
        <p:nvSpPr>
          <p:cNvPr id="16" name="Freeform 16"/>
          <p:cNvSpPr/>
          <p:nvPr/>
        </p:nvSpPr>
        <p:spPr>
          <a:xfrm rot="-518988" flipH="1">
            <a:off x="15015512" y="6884287"/>
            <a:ext cx="3639601" cy="3315346"/>
          </a:xfrm>
          <a:custGeom>
            <a:avLst/>
            <a:gdLst/>
            <a:ahLst/>
            <a:cxnLst/>
            <a:rect l="l" t="t" r="r" b="b"/>
            <a:pathLst>
              <a:path w="3639601" h="3315346">
                <a:moveTo>
                  <a:pt x="3639601" y="0"/>
                </a:moveTo>
                <a:lnTo>
                  <a:pt x="0" y="0"/>
                </a:lnTo>
                <a:lnTo>
                  <a:pt x="0" y="3315346"/>
                </a:lnTo>
                <a:lnTo>
                  <a:pt x="3639601" y="3315346"/>
                </a:lnTo>
                <a:lnTo>
                  <a:pt x="363960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925" y="4344840"/>
            <a:ext cx="17982150" cy="4223282"/>
          </a:xfrm>
          <a:custGeom>
            <a:avLst/>
            <a:gdLst/>
            <a:ahLst/>
            <a:cxnLst/>
            <a:rect l="l" t="t" r="r" b="b"/>
            <a:pathLst>
              <a:path w="17982150" h="4223282">
                <a:moveTo>
                  <a:pt x="0" y="0"/>
                </a:moveTo>
                <a:lnTo>
                  <a:pt x="17982150" y="0"/>
                </a:lnTo>
                <a:lnTo>
                  <a:pt x="17982150" y="4223281"/>
                </a:lnTo>
                <a:lnTo>
                  <a:pt x="0" y="4223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3594318" y="196808"/>
            <a:ext cx="11099363" cy="341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POST-PROCESSING AND LEAKAGE REDUCTION</a:t>
            </a:r>
          </a:p>
          <a:p>
            <a:pPr algn="ctr">
              <a:lnSpc>
                <a:spcPts val="9100"/>
              </a:lnSpc>
            </a:pPr>
            <a:endParaRPr lang="en-US" sz="6500">
              <a:solidFill>
                <a:srgbClr val="553D3D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 algn="ctr">
              <a:lnSpc>
                <a:spcPts val="9100"/>
              </a:lnSpc>
              <a:spcBef>
                <a:spcPct val="0"/>
              </a:spcBef>
            </a:pPr>
            <a:endParaRPr lang="en-US" sz="6500">
              <a:solidFill>
                <a:srgbClr val="553D3D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924842" y="2316329"/>
            <a:ext cx="12253915" cy="654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89"/>
              </a:lnSpc>
              <a:spcBef>
                <a:spcPct val="0"/>
              </a:spcBef>
            </a:pPr>
            <a:r>
              <a:rPr lang="en-US" sz="384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The goal was to preserve clinical meaning while keeping the text EMS-style.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6127" y="1555666"/>
            <a:ext cx="4810316" cy="973180"/>
            <a:chOff x="0" y="0"/>
            <a:chExt cx="1266915" cy="2563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6915" cy="256311"/>
            </a:xfrm>
            <a:custGeom>
              <a:avLst/>
              <a:gdLst/>
              <a:ahLst/>
              <a:cxnLst/>
              <a:rect l="l" t="t" r="r" b="b"/>
              <a:pathLst>
                <a:path w="1266915" h="256311">
                  <a:moveTo>
                    <a:pt x="82081" y="0"/>
                  </a:moveTo>
                  <a:lnTo>
                    <a:pt x="1184833" y="0"/>
                  </a:lnTo>
                  <a:cubicBezTo>
                    <a:pt x="1230166" y="0"/>
                    <a:pt x="1266915" y="36749"/>
                    <a:pt x="1266915" y="82081"/>
                  </a:cubicBezTo>
                  <a:lnTo>
                    <a:pt x="1266915" y="174229"/>
                  </a:lnTo>
                  <a:cubicBezTo>
                    <a:pt x="1266915" y="219562"/>
                    <a:pt x="1230166" y="256311"/>
                    <a:pt x="1184833" y="256311"/>
                  </a:cubicBezTo>
                  <a:lnTo>
                    <a:pt x="82081" y="256311"/>
                  </a:lnTo>
                  <a:cubicBezTo>
                    <a:pt x="36749" y="256311"/>
                    <a:pt x="0" y="219562"/>
                    <a:pt x="0" y="174229"/>
                  </a:cubicBezTo>
                  <a:lnTo>
                    <a:pt x="0" y="82081"/>
                  </a:lnTo>
                  <a:cubicBezTo>
                    <a:pt x="0" y="36749"/>
                    <a:pt x="36749" y="0"/>
                    <a:pt x="82081" y="0"/>
                  </a:cubicBezTo>
                  <a:close/>
                </a:path>
              </a:pathLst>
            </a:custGeom>
            <a:solidFill>
              <a:srgbClr val="9CD0B5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66915" cy="294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048001" y="-84"/>
            <a:ext cx="10316236" cy="1122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dirty="0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TRAIN / VALIDATION / TEST SPLIT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419" y="2717053"/>
            <a:ext cx="18215162" cy="1748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Group-based split by </a:t>
            </a:r>
            <a:r>
              <a:rPr lang="en-US" sz="33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source_case_id</a:t>
            </a:r>
            <a:r>
              <a:rPr lang="en-US" sz="3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all 4 variants of the same clinical case were kept in the same split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Class coverage check: all target classes are represented in train, validation, and test.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i="1" dirty="0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*This prevents leakage between train, validation, and test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6127" y="5784486"/>
            <a:ext cx="8111329" cy="4339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13"/>
              </a:lnSpc>
            </a:pPr>
            <a:r>
              <a:rPr lang="en-US" sz="39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70% TRAIN:</a:t>
            </a:r>
          </a:p>
          <a:p>
            <a:pPr algn="l">
              <a:lnSpc>
                <a:spcPts val="5460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5,988 reports (1,497 source cases)</a:t>
            </a:r>
          </a:p>
          <a:p>
            <a:pPr algn="l">
              <a:lnSpc>
                <a:spcPts val="5460"/>
              </a:lnSpc>
              <a:spcBef>
                <a:spcPct val="0"/>
              </a:spcBef>
            </a:pPr>
            <a:r>
              <a:rPr lang="en-US" sz="39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15% VALIDATION</a:t>
            </a:r>
            <a:r>
              <a:rPr lang="en-US" sz="3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</a:t>
            </a:r>
          </a:p>
          <a:p>
            <a:pPr algn="l">
              <a:lnSpc>
                <a:spcPts val="5460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1,284 reports (321 source cases)</a:t>
            </a:r>
          </a:p>
          <a:p>
            <a:pPr algn="l">
              <a:lnSpc>
                <a:spcPts val="5460"/>
              </a:lnSpc>
              <a:spcBef>
                <a:spcPct val="0"/>
              </a:spcBef>
            </a:pPr>
            <a:r>
              <a:rPr lang="en-US" sz="39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15% TEST:</a:t>
            </a:r>
          </a:p>
          <a:p>
            <a:pPr algn="l">
              <a:lnSpc>
                <a:spcPts val="5460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1,284 reports (321 source cases)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5800" y="1572808"/>
            <a:ext cx="3325063" cy="767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dirty="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Split strategy: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26127" y="4820831"/>
            <a:ext cx="4810316" cy="973180"/>
            <a:chOff x="0" y="0"/>
            <a:chExt cx="1266915" cy="25631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66915" cy="256311"/>
            </a:xfrm>
            <a:custGeom>
              <a:avLst/>
              <a:gdLst/>
              <a:ahLst/>
              <a:cxnLst/>
              <a:rect l="l" t="t" r="r" b="b"/>
              <a:pathLst>
                <a:path w="1266915" h="256311">
                  <a:moveTo>
                    <a:pt x="82081" y="0"/>
                  </a:moveTo>
                  <a:lnTo>
                    <a:pt x="1184833" y="0"/>
                  </a:lnTo>
                  <a:cubicBezTo>
                    <a:pt x="1230166" y="0"/>
                    <a:pt x="1266915" y="36749"/>
                    <a:pt x="1266915" y="82081"/>
                  </a:cubicBezTo>
                  <a:lnTo>
                    <a:pt x="1266915" y="174229"/>
                  </a:lnTo>
                  <a:cubicBezTo>
                    <a:pt x="1266915" y="219562"/>
                    <a:pt x="1230166" y="256311"/>
                    <a:pt x="1184833" y="256311"/>
                  </a:cubicBezTo>
                  <a:lnTo>
                    <a:pt x="82081" y="256311"/>
                  </a:lnTo>
                  <a:cubicBezTo>
                    <a:pt x="36749" y="256311"/>
                    <a:pt x="0" y="219562"/>
                    <a:pt x="0" y="174229"/>
                  </a:cubicBezTo>
                  <a:lnTo>
                    <a:pt x="0" y="82081"/>
                  </a:lnTo>
                  <a:cubicBezTo>
                    <a:pt x="0" y="36749"/>
                    <a:pt x="36749" y="0"/>
                    <a:pt x="82081" y="0"/>
                  </a:cubicBezTo>
                  <a:close/>
                </a:path>
              </a:pathLst>
            </a:custGeom>
            <a:solidFill>
              <a:srgbClr val="9CD0B5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66915" cy="294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14372" y="4823234"/>
            <a:ext cx="203382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Final split:</a:t>
            </a:r>
          </a:p>
        </p:txBody>
      </p:sp>
      <p:sp>
        <p:nvSpPr>
          <p:cNvPr id="13" name="Freeform 13"/>
          <p:cNvSpPr/>
          <p:nvPr/>
        </p:nvSpPr>
        <p:spPr>
          <a:xfrm rot="-5697878" flipH="1">
            <a:off x="14659258" y="10385"/>
            <a:ext cx="3639601" cy="3315346"/>
          </a:xfrm>
          <a:custGeom>
            <a:avLst/>
            <a:gdLst/>
            <a:ahLst/>
            <a:cxnLst/>
            <a:rect l="l" t="t" r="r" b="b"/>
            <a:pathLst>
              <a:path w="3639601" h="3315346">
                <a:moveTo>
                  <a:pt x="3639602" y="0"/>
                </a:moveTo>
                <a:lnTo>
                  <a:pt x="0" y="0"/>
                </a:lnTo>
                <a:lnTo>
                  <a:pt x="0" y="3315346"/>
                </a:lnTo>
                <a:lnTo>
                  <a:pt x="3639602" y="3315346"/>
                </a:lnTo>
                <a:lnTo>
                  <a:pt x="3639602" y="0"/>
                </a:lnTo>
                <a:close/>
              </a:path>
            </a:pathLst>
          </a:custGeom>
          <a:blipFill>
            <a:blip>
              <a:alphaModFix amt="51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4" name="Freeform 14"/>
          <p:cNvSpPr/>
          <p:nvPr/>
        </p:nvSpPr>
        <p:spPr>
          <a:xfrm rot="8398432" flipH="1">
            <a:off x="11834599" y="4754554"/>
            <a:ext cx="7627170" cy="6656439"/>
          </a:xfrm>
          <a:custGeom>
            <a:avLst/>
            <a:gdLst/>
            <a:ahLst/>
            <a:cxnLst/>
            <a:rect l="l" t="t" r="r" b="b"/>
            <a:pathLst>
              <a:path w="7627170" h="6656439">
                <a:moveTo>
                  <a:pt x="7627170" y="0"/>
                </a:moveTo>
                <a:lnTo>
                  <a:pt x="0" y="0"/>
                </a:lnTo>
                <a:lnTo>
                  <a:pt x="0" y="6656439"/>
                </a:lnTo>
                <a:lnTo>
                  <a:pt x="7627170" y="6656439"/>
                </a:lnTo>
                <a:lnTo>
                  <a:pt x="7627170" y="0"/>
                </a:lnTo>
                <a:close/>
              </a:path>
            </a:pathLst>
          </a:custGeom>
          <a:blipFill>
            <a:blip>
              <a:alphaModFix amt="7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531036"/>
            <a:ext cx="8397589" cy="5475244"/>
            <a:chOff x="0" y="0"/>
            <a:chExt cx="2211711" cy="14420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1711" cy="1442040"/>
            </a:xfrm>
            <a:custGeom>
              <a:avLst/>
              <a:gdLst/>
              <a:ahLst/>
              <a:cxnLst/>
              <a:rect l="l" t="t" r="r" b="b"/>
              <a:pathLst>
                <a:path w="2211711" h="1442040">
                  <a:moveTo>
                    <a:pt x="92192" y="0"/>
                  </a:moveTo>
                  <a:lnTo>
                    <a:pt x="2119518" y="0"/>
                  </a:lnTo>
                  <a:cubicBezTo>
                    <a:pt x="2143970" y="0"/>
                    <a:pt x="2167419" y="9713"/>
                    <a:pt x="2184708" y="27002"/>
                  </a:cubicBezTo>
                  <a:cubicBezTo>
                    <a:pt x="2201998" y="44292"/>
                    <a:pt x="2211711" y="67741"/>
                    <a:pt x="2211711" y="92192"/>
                  </a:cubicBezTo>
                  <a:lnTo>
                    <a:pt x="2211711" y="1349847"/>
                  </a:lnTo>
                  <a:cubicBezTo>
                    <a:pt x="2211711" y="1374298"/>
                    <a:pt x="2201998" y="1397748"/>
                    <a:pt x="2184708" y="1415037"/>
                  </a:cubicBezTo>
                  <a:cubicBezTo>
                    <a:pt x="2167419" y="1432327"/>
                    <a:pt x="2143970" y="1442040"/>
                    <a:pt x="2119518" y="1442040"/>
                  </a:cubicBezTo>
                  <a:lnTo>
                    <a:pt x="92192" y="1442040"/>
                  </a:lnTo>
                  <a:cubicBezTo>
                    <a:pt x="41276" y="1442040"/>
                    <a:pt x="0" y="1400764"/>
                    <a:pt x="0" y="1349847"/>
                  </a:cubicBezTo>
                  <a:lnTo>
                    <a:pt x="0" y="92192"/>
                  </a:lnTo>
                  <a:cubicBezTo>
                    <a:pt x="0" y="67741"/>
                    <a:pt x="9713" y="44292"/>
                    <a:pt x="27002" y="27002"/>
                  </a:cubicBezTo>
                  <a:cubicBezTo>
                    <a:pt x="44292" y="9713"/>
                    <a:pt x="67741" y="0"/>
                    <a:pt x="92192" y="0"/>
                  </a:cubicBezTo>
                  <a:close/>
                </a:path>
              </a:pathLst>
            </a:custGeom>
            <a:solidFill>
              <a:srgbClr val="6BA28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11711" cy="1480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96043" y="411163"/>
            <a:ext cx="9451827" cy="10419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sz="6500" dirty="0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ASR ROBUSTNESS EVALUATION SETUP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691600" y="2426261"/>
            <a:ext cx="1251999" cy="8136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GOAL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0996" y="2598737"/>
            <a:ext cx="7801455" cy="5166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endParaRPr dirty="0"/>
          </a:p>
          <a:p>
            <a:pPr marL="777238" lvl="1" indent="-388619" algn="l">
              <a:lnSpc>
                <a:spcPts val="5039"/>
              </a:lnSpc>
              <a:spcBef>
                <a:spcPct val="0"/>
              </a:spcBef>
              <a:buFont typeface="Arial"/>
              <a:buChar char="•"/>
            </a:pPr>
            <a:r>
              <a:rPr lang="en-US" sz="35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After selecting the best model for each target, evaluate its robustness on the same fixed test set:</a:t>
            </a: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Clean text reports</a:t>
            </a: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Noisy ASR transcripts after speech synthesis, ambulance noise, and Whisper transcription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2049616" y="1504663"/>
            <a:ext cx="5251078" cy="854922"/>
            <a:chOff x="0" y="0"/>
            <a:chExt cx="1538172" cy="2504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38172" cy="250428"/>
            </a:xfrm>
            <a:custGeom>
              <a:avLst/>
              <a:gdLst/>
              <a:ahLst/>
              <a:cxnLst/>
              <a:rect l="l" t="t" r="r" b="b"/>
              <a:pathLst>
                <a:path w="1538172" h="250428">
                  <a:moveTo>
                    <a:pt x="75192" y="0"/>
                  </a:moveTo>
                  <a:lnTo>
                    <a:pt x="1462980" y="0"/>
                  </a:lnTo>
                  <a:cubicBezTo>
                    <a:pt x="1504507" y="0"/>
                    <a:pt x="1538172" y="33665"/>
                    <a:pt x="1538172" y="75192"/>
                  </a:cubicBezTo>
                  <a:lnTo>
                    <a:pt x="1538172" y="175236"/>
                  </a:lnTo>
                  <a:cubicBezTo>
                    <a:pt x="1538172" y="216764"/>
                    <a:pt x="1504507" y="250428"/>
                    <a:pt x="1462980" y="250428"/>
                  </a:cubicBezTo>
                  <a:lnTo>
                    <a:pt x="75192" y="250428"/>
                  </a:lnTo>
                  <a:cubicBezTo>
                    <a:pt x="33665" y="250428"/>
                    <a:pt x="0" y="216764"/>
                    <a:pt x="0" y="175236"/>
                  </a:cubicBezTo>
                  <a:lnTo>
                    <a:pt x="0" y="75192"/>
                  </a:lnTo>
                  <a:cubicBezTo>
                    <a:pt x="0" y="33665"/>
                    <a:pt x="33665" y="0"/>
                    <a:pt x="75192" y="0"/>
                  </a:cubicBezTo>
                  <a:close/>
                </a:path>
              </a:pathLst>
            </a:custGeom>
            <a:solidFill>
              <a:srgbClr val="6BA286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57150"/>
              <a:ext cx="1538172" cy="193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655206" y="220731"/>
            <a:ext cx="5645488" cy="854922"/>
            <a:chOff x="0" y="0"/>
            <a:chExt cx="1538172" cy="2504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38172" cy="250428"/>
            </a:xfrm>
            <a:custGeom>
              <a:avLst/>
              <a:gdLst/>
              <a:ahLst/>
              <a:cxnLst/>
              <a:rect l="l" t="t" r="r" b="b"/>
              <a:pathLst>
                <a:path w="1538172" h="250428">
                  <a:moveTo>
                    <a:pt x="75192" y="0"/>
                  </a:moveTo>
                  <a:lnTo>
                    <a:pt x="1462980" y="0"/>
                  </a:lnTo>
                  <a:cubicBezTo>
                    <a:pt x="1504507" y="0"/>
                    <a:pt x="1538172" y="33665"/>
                    <a:pt x="1538172" y="75192"/>
                  </a:cubicBezTo>
                  <a:lnTo>
                    <a:pt x="1538172" y="175236"/>
                  </a:lnTo>
                  <a:cubicBezTo>
                    <a:pt x="1538172" y="216764"/>
                    <a:pt x="1504507" y="250428"/>
                    <a:pt x="1462980" y="250428"/>
                  </a:cubicBezTo>
                  <a:lnTo>
                    <a:pt x="75192" y="250428"/>
                  </a:lnTo>
                  <a:cubicBezTo>
                    <a:pt x="33665" y="250428"/>
                    <a:pt x="0" y="216764"/>
                    <a:pt x="0" y="175236"/>
                  </a:cubicBezTo>
                  <a:lnTo>
                    <a:pt x="0" y="75192"/>
                  </a:lnTo>
                  <a:cubicBezTo>
                    <a:pt x="0" y="33665"/>
                    <a:pt x="33665" y="0"/>
                    <a:pt x="75192" y="0"/>
                  </a:cubicBezTo>
                  <a:close/>
                </a:path>
              </a:pathLst>
            </a:custGeom>
            <a:solidFill>
              <a:srgbClr val="6BA286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57150"/>
              <a:ext cx="1538172" cy="193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715704" y="8644063"/>
            <a:ext cx="7023582" cy="74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3"/>
              </a:lnSpc>
              <a:spcBef>
                <a:spcPct val="0"/>
              </a:spcBef>
            </a:pPr>
            <a:r>
              <a:rPr lang="en-US" sz="2037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hlinkClick r:id="rId2" tooltip="https://drive.google.com/file/d/12f6D7XoTyqm1V-QM2hh8oOpsJEE8EI6Z/view?usp=drive_link"/>
              </a:rPr>
              <a:t>https://drive.google.com/file/d/12f6D7XoTyqm1V-QM2hh8oOpsJEE8EI6Z/view?usp=drive_link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110529" y="2737895"/>
            <a:ext cx="5251078" cy="854922"/>
            <a:chOff x="0" y="0"/>
            <a:chExt cx="1538172" cy="2504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38172" cy="250428"/>
            </a:xfrm>
            <a:custGeom>
              <a:avLst/>
              <a:gdLst/>
              <a:ahLst/>
              <a:cxnLst/>
              <a:rect l="l" t="t" r="r" b="b"/>
              <a:pathLst>
                <a:path w="1538172" h="250428">
                  <a:moveTo>
                    <a:pt x="75192" y="0"/>
                  </a:moveTo>
                  <a:lnTo>
                    <a:pt x="1462980" y="0"/>
                  </a:lnTo>
                  <a:cubicBezTo>
                    <a:pt x="1504507" y="0"/>
                    <a:pt x="1538172" y="33665"/>
                    <a:pt x="1538172" y="75192"/>
                  </a:cubicBezTo>
                  <a:lnTo>
                    <a:pt x="1538172" y="175236"/>
                  </a:lnTo>
                  <a:cubicBezTo>
                    <a:pt x="1538172" y="216764"/>
                    <a:pt x="1504507" y="250428"/>
                    <a:pt x="1462980" y="250428"/>
                  </a:cubicBezTo>
                  <a:lnTo>
                    <a:pt x="75192" y="250428"/>
                  </a:lnTo>
                  <a:cubicBezTo>
                    <a:pt x="33665" y="250428"/>
                    <a:pt x="0" y="216764"/>
                    <a:pt x="0" y="175236"/>
                  </a:cubicBezTo>
                  <a:lnTo>
                    <a:pt x="0" y="75192"/>
                  </a:lnTo>
                  <a:cubicBezTo>
                    <a:pt x="0" y="33665"/>
                    <a:pt x="33665" y="0"/>
                    <a:pt x="75192" y="0"/>
                  </a:cubicBezTo>
                  <a:close/>
                </a:path>
              </a:pathLst>
            </a:custGeom>
            <a:solidFill>
              <a:srgbClr val="6BA286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57150"/>
              <a:ext cx="1538172" cy="193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3030201" y="265048"/>
            <a:ext cx="2654188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32"/>
              </a:lnSpc>
              <a:spcBef>
                <a:spcPct val="0"/>
              </a:spcBef>
            </a:pPr>
            <a:r>
              <a:rPr lang="en-US" sz="4110" dirty="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Test reports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73411" y="1512887"/>
            <a:ext cx="4593593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6"/>
              </a:lnSpc>
              <a:spcBef>
                <a:spcPct val="0"/>
              </a:spcBef>
            </a:pPr>
            <a:r>
              <a:rPr lang="en-US" sz="2697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TTS conversion</a:t>
            </a:r>
          </a:p>
          <a:p>
            <a:pPr algn="ctr">
              <a:lnSpc>
                <a:spcPts val="3236"/>
              </a:lnSpc>
              <a:spcBef>
                <a:spcPct val="0"/>
              </a:spcBef>
            </a:pPr>
            <a:r>
              <a:rPr lang="en-US" sz="2697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(edge-tts, male voice, speed ×1.3)</a:t>
            </a:r>
          </a:p>
          <a:p>
            <a:pPr algn="ctr">
              <a:lnSpc>
                <a:spcPts val="3236"/>
              </a:lnSpc>
              <a:spcBef>
                <a:spcPct val="0"/>
              </a:spcBef>
            </a:pPr>
            <a:endParaRPr lang="en-US" sz="2697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2049616" y="6753915"/>
            <a:ext cx="5251078" cy="854922"/>
            <a:chOff x="0" y="0"/>
            <a:chExt cx="1538172" cy="25042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38172" cy="250428"/>
            </a:xfrm>
            <a:custGeom>
              <a:avLst/>
              <a:gdLst/>
              <a:ahLst/>
              <a:cxnLst/>
              <a:rect l="l" t="t" r="r" b="b"/>
              <a:pathLst>
                <a:path w="1538172" h="250428">
                  <a:moveTo>
                    <a:pt x="75192" y="0"/>
                  </a:moveTo>
                  <a:lnTo>
                    <a:pt x="1462980" y="0"/>
                  </a:lnTo>
                  <a:cubicBezTo>
                    <a:pt x="1504507" y="0"/>
                    <a:pt x="1538172" y="33665"/>
                    <a:pt x="1538172" y="75192"/>
                  </a:cubicBezTo>
                  <a:lnTo>
                    <a:pt x="1538172" y="175236"/>
                  </a:lnTo>
                  <a:cubicBezTo>
                    <a:pt x="1538172" y="216764"/>
                    <a:pt x="1504507" y="250428"/>
                    <a:pt x="1462980" y="250428"/>
                  </a:cubicBezTo>
                  <a:lnTo>
                    <a:pt x="75192" y="250428"/>
                  </a:lnTo>
                  <a:cubicBezTo>
                    <a:pt x="33665" y="250428"/>
                    <a:pt x="0" y="216764"/>
                    <a:pt x="0" y="175236"/>
                  </a:cubicBezTo>
                  <a:lnTo>
                    <a:pt x="0" y="75192"/>
                  </a:lnTo>
                  <a:cubicBezTo>
                    <a:pt x="0" y="33665"/>
                    <a:pt x="33665" y="0"/>
                    <a:pt x="75192" y="0"/>
                  </a:cubicBezTo>
                  <a:close/>
                </a:path>
              </a:pathLst>
            </a:custGeom>
            <a:solidFill>
              <a:srgbClr val="6BA286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57150"/>
              <a:ext cx="1538172" cy="193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3089189" y="2801292"/>
            <a:ext cx="2576328" cy="675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94"/>
              </a:lnSpc>
              <a:spcBef>
                <a:spcPct val="0"/>
              </a:spcBef>
            </a:pPr>
            <a:r>
              <a:rPr lang="en-US" sz="4210" dirty="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Clean audio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049616" y="4052249"/>
            <a:ext cx="5251078" cy="854922"/>
            <a:chOff x="0" y="0"/>
            <a:chExt cx="1538172" cy="25042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38172" cy="250428"/>
            </a:xfrm>
            <a:custGeom>
              <a:avLst/>
              <a:gdLst/>
              <a:ahLst/>
              <a:cxnLst/>
              <a:rect l="l" t="t" r="r" b="b"/>
              <a:pathLst>
                <a:path w="1538172" h="250428">
                  <a:moveTo>
                    <a:pt x="75192" y="0"/>
                  </a:moveTo>
                  <a:lnTo>
                    <a:pt x="1462980" y="0"/>
                  </a:lnTo>
                  <a:cubicBezTo>
                    <a:pt x="1504507" y="0"/>
                    <a:pt x="1538172" y="33665"/>
                    <a:pt x="1538172" y="75192"/>
                  </a:cubicBezTo>
                  <a:lnTo>
                    <a:pt x="1538172" y="175236"/>
                  </a:lnTo>
                  <a:cubicBezTo>
                    <a:pt x="1538172" y="216764"/>
                    <a:pt x="1504507" y="250428"/>
                    <a:pt x="1462980" y="250428"/>
                  </a:cubicBezTo>
                  <a:lnTo>
                    <a:pt x="75192" y="250428"/>
                  </a:lnTo>
                  <a:cubicBezTo>
                    <a:pt x="33665" y="250428"/>
                    <a:pt x="0" y="216764"/>
                    <a:pt x="0" y="175236"/>
                  </a:cubicBezTo>
                  <a:lnTo>
                    <a:pt x="0" y="75192"/>
                  </a:lnTo>
                  <a:cubicBezTo>
                    <a:pt x="0" y="33665"/>
                    <a:pt x="33665" y="0"/>
                    <a:pt x="75192" y="0"/>
                  </a:cubicBezTo>
                  <a:close/>
                </a:path>
              </a:pathLst>
            </a:custGeom>
            <a:solidFill>
              <a:srgbClr val="6BA286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57150"/>
              <a:ext cx="1538172" cy="193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2110529" y="3916667"/>
            <a:ext cx="5448283" cy="1417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6"/>
              </a:lnSpc>
              <a:spcBef>
                <a:spcPct val="0"/>
              </a:spcBef>
            </a:pPr>
            <a:r>
              <a:rPr lang="en-US" sz="2697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Ambulance noise injection</a:t>
            </a:r>
          </a:p>
          <a:p>
            <a:pPr algn="ctr">
              <a:lnSpc>
                <a:spcPts val="3776"/>
              </a:lnSpc>
              <a:spcBef>
                <a:spcPct val="0"/>
              </a:spcBef>
            </a:pPr>
            <a:r>
              <a:rPr lang="en-US" sz="2697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(siren + white noise, medium level)</a:t>
            </a:r>
          </a:p>
          <a:p>
            <a:pPr algn="ctr">
              <a:lnSpc>
                <a:spcPts val="3776"/>
              </a:lnSpc>
              <a:spcBef>
                <a:spcPct val="0"/>
              </a:spcBef>
            </a:pPr>
            <a:endParaRPr lang="en-US" sz="2697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12049616" y="5414626"/>
            <a:ext cx="5251078" cy="854922"/>
            <a:chOff x="0" y="0"/>
            <a:chExt cx="1538172" cy="25042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538172" cy="250428"/>
            </a:xfrm>
            <a:custGeom>
              <a:avLst/>
              <a:gdLst/>
              <a:ahLst/>
              <a:cxnLst/>
              <a:rect l="l" t="t" r="r" b="b"/>
              <a:pathLst>
                <a:path w="1538172" h="250428">
                  <a:moveTo>
                    <a:pt x="75192" y="0"/>
                  </a:moveTo>
                  <a:lnTo>
                    <a:pt x="1462980" y="0"/>
                  </a:lnTo>
                  <a:cubicBezTo>
                    <a:pt x="1504507" y="0"/>
                    <a:pt x="1538172" y="33665"/>
                    <a:pt x="1538172" y="75192"/>
                  </a:cubicBezTo>
                  <a:lnTo>
                    <a:pt x="1538172" y="175236"/>
                  </a:lnTo>
                  <a:cubicBezTo>
                    <a:pt x="1538172" y="216764"/>
                    <a:pt x="1504507" y="250428"/>
                    <a:pt x="1462980" y="250428"/>
                  </a:cubicBezTo>
                  <a:lnTo>
                    <a:pt x="75192" y="250428"/>
                  </a:lnTo>
                  <a:cubicBezTo>
                    <a:pt x="33665" y="250428"/>
                    <a:pt x="0" y="216764"/>
                    <a:pt x="0" y="175236"/>
                  </a:cubicBezTo>
                  <a:lnTo>
                    <a:pt x="0" y="75192"/>
                  </a:lnTo>
                  <a:cubicBezTo>
                    <a:pt x="0" y="33665"/>
                    <a:pt x="33665" y="0"/>
                    <a:pt x="75192" y="0"/>
                  </a:cubicBezTo>
                  <a:close/>
                </a:path>
              </a:pathLst>
            </a:custGeom>
            <a:solidFill>
              <a:srgbClr val="6BA286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57150"/>
              <a:ext cx="1538172" cy="193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1852410" y="5461204"/>
            <a:ext cx="5645488" cy="623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6"/>
              </a:lnSpc>
              <a:spcBef>
                <a:spcPct val="0"/>
              </a:spcBef>
            </a:pPr>
            <a:r>
              <a:rPr lang="en-US" sz="3597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Noisy audio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704836" y="6838265"/>
            <a:ext cx="5645488" cy="623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6"/>
              </a:lnSpc>
              <a:spcBef>
                <a:spcPct val="0"/>
              </a:spcBef>
            </a:pPr>
            <a:r>
              <a:rPr lang="en-US" sz="3597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Whisper transcription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2049616" y="8048878"/>
            <a:ext cx="5251078" cy="854922"/>
            <a:chOff x="0" y="0"/>
            <a:chExt cx="1538172" cy="25042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538172" cy="250428"/>
            </a:xfrm>
            <a:custGeom>
              <a:avLst/>
              <a:gdLst/>
              <a:ahLst/>
              <a:cxnLst/>
              <a:rect l="l" t="t" r="r" b="b"/>
              <a:pathLst>
                <a:path w="1538172" h="250428">
                  <a:moveTo>
                    <a:pt x="75192" y="0"/>
                  </a:moveTo>
                  <a:lnTo>
                    <a:pt x="1462980" y="0"/>
                  </a:lnTo>
                  <a:cubicBezTo>
                    <a:pt x="1504507" y="0"/>
                    <a:pt x="1538172" y="33665"/>
                    <a:pt x="1538172" y="75192"/>
                  </a:cubicBezTo>
                  <a:lnTo>
                    <a:pt x="1538172" y="175236"/>
                  </a:lnTo>
                  <a:cubicBezTo>
                    <a:pt x="1538172" y="216764"/>
                    <a:pt x="1504507" y="250428"/>
                    <a:pt x="1462980" y="250428"/>
                  </a:cubicBezTo>
                  <a:lnTo>
                    <a:pt x="75192" y="250428"/>
                  </a:lnTo>
                  <a:cubicBezTo>
                    <a:pt x="33665" y="250428"/>
                    <a:pt x="0" y="216764"/>
                    <a:pt x="0" y="175236"/>
                  </a:cubicBezTo>
                  <a:lnTo>
                    <a:pt x="0" y="75192"/>
                  </a:lnTo>
                  <a:cubicBezTo>
                    <a:pt x="0" y="33665"/>
                    <a:pt x="33665" y="0"/>
                    <a:pt x="75192" y="0"/>
                  </a:cubicBezTo>
                  <a:close/>
                </a:path>
              </a:pathLst>
            </a:custGeom>
            <a:solidFill>
              <a:srgbClr val="6BA286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57150"/>
              <a:ext cx="1538172" cy="193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049616" y="9284316"/>
            <a:ext cx="5251078" cy="854922"/>
            <a:chOff x="0" y="0"/>
            <a:chExt cx="1538172" cy="25042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38172" cy="250428"/>
            </a:xfrm>
            <a:custGeom>
              <a:avLst/>
              <a:gdLst/>
              <a:ahLst/>
              <a:cxnLst/>
              <a:rect l="l" t="t" r="r" b="b"/>
              <a:pathLst>
                <a:path w="1538172" h="250428">
                  <a:moveTo>
                    <a:pt x="75192" y="0"/>
                  </a:moveTo>
                  <a:lnTo>
                    <a:pt x="1462980" y="0"/>
                  </a:lnTo>
                  <a:cubicBezTo>
                    <a:pt x="1504507" y="0"/>
                    <a:pt x="1538172" y="33665"/>
                    <a:pt x="1538172" y="75192"/>
                  </a:cubicBezTo>
                  <a:lnTo>
                    <a:pt x="1538172" y="175236"/>
                  </a:lnTo>
                  <a:cubicBezTo>
                    <a:pt x="1538172" y="216764"/>
                    <a:pt x="1504507" y="250428"/>
                    <a:pt x="1462980" y="250428"/>
                  </a:cubicBezTo>
                  <a:lnTo>
                    <a:pt x="75192" y="250428"/>
                  </a:lnTo>
                  <a:cubicBezTo>
                    <a:pt x="33665" y="250428"/>
                    <a:pt x="0" y="216764"/>
                    <a:pt x="0" y="175236"/>
                  </a:cubicBezTo>
                  <a:lnTo>
                    <a:pt x="0" y="75192"/>
                  </a:lnTo>
                  <a:cubicBezTo>
                    <a:pt x="0" y="33665"/>
                    <a:pt x="33665" y="0"/>
                    <a:pt x="75192" y="0"/>
                  </a:cubicBezTo>
                  <a:close/>
                </a:path>
              </a:pathLst>
            </a:custGeom>
            <a:solidFill>
              <a:srgbClr val="6BA286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57150"/>
              <a:ext cx="1538172" cy="193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871460" y="8110663"/>
            <a:ext cx="5645488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8"/>
              </a:lnSpc>
              <a:spcBef>
                <a:spcPct val="0"/>
              </a:spcBef>
            </a:pPr>
            <a:r>
              <a:rPr lang="en-US" sz="3965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Noisy ASR text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149779" y="9526854"/>
            <a:ext cx="505075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8"/>
              </a:lnSpc>
              <a:spcBef>
                <a:spcPct val="0"/>
              </a:spcBef>
            </a:pPr>
            <a:r>
              <a:rPr lang="en-US" sz="3065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Clean text test set vs Noisy ASR test set</a:t>
            </a:r>
          </a:p>
        </p:txBody>
      </p:sp>
      <p:sp>
        <p:nvSpPr>
          <p:cNvPr id="41" name="AutoShape 41"/>
          <p:cNvSpPr/>
          <p:nvPr/>
        </p:nvSpPr>
        <p:spPr>
          <a:xfrm>
            <a:off x="14675155" y="1046098"/>
            <a:ext cx="0" cy="476314"/>
          </a:xfrm>
          <a:prstGeom prst="line">
            <a:avLst/>
          </a:prstGeom>
          <a:ln w="1143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he-IL"/>
          </a:p>
        </p:txBody>
      </p:sp>
      <p:sp>
        <p:nvSpPr>
          <p:cNvPr id="42" name="AutoShape 42"/>
          <p:cNvSpPr/>
          <p:nvPr/>
        </p:nvSpPr>
        <p:spPr>
          <a:xfrm>
            <a:off x="14675155" y="2321854"/>
            <a:ext cx="0" cy="476314"/>
          </a:xfrm>
          <a:prstGeom prst="line">
            <a:avLst/>
          </a:prstGeom>
          <a:ln w="1143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he-IL"/>
          </a:p>
        </p:txBody>
      </p:sp>
      <p:sp>
        <p:nvSpPr>
          <p:cNvPr id="43" name="AutoShape 43"/>
          <p:cNvSpPr/>
          <p:nvPr/>
        </p:nvSpPr>
        <p:spPr>
          <a:xfrm>
            <a:off x="14694205" y="3592817"/>
            <a:ext cx="0" cy="476314"/>
          </a:xfrm>
          <a:prstGeom prst="line">
            <a:avLst/>
          </a:prstGeom>
          <a:ln w="1143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he-IL"/>
          </a:p>
        </p:txBody>
      </p:sp>
      <p:sp>
        <p:nvSpPr>
          <p:cNvPr id="44" name="AutoShape 44"/>
          <p:cNvSpPr/>
          <p:nvPr/>
        </p:nvSpPr>
        <p:spPr>
          <a:xfrm>
            <a:off x="14678918" y="4907171"/>
            <a:ext cx="0" cy="476314"/>
          </a:xfrm>
          <a:prstGeom prst="line">
            <a:avLst/>
          </a:prstGeom>
          <a:ln w="1143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he-IL"/>
          </a:p>
        </p:txBody>
      </p:sp>
      <p:sp>
        <p:nvSpPr>
          <p:cNvPr id="45" name="AutoShape 45"/>
          <p:cNvSpPr/>
          <p:nvPr/>
        </p:nvSpPr>
        <p:spPr>
          <a:xfrm>
            <a:off x="14675155" y="6238126"/>
            <a:ext cx="0" cy="476314"/>
          </a:xfrm>
          <a:prstGeom prst="line">
            <a:avLst/>
          </a:prstGeom>
          <a:ln w="1143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he-IL"/>
          </a:p>
        </p:txBody>
      </p:sp>
      <p:sp>
        <p:nvSpPr>
          <p:cNvPr id="46" name="AutoShape 46"/>
          <p:cNvSpPr/>
          <p:nvPr/>
        </p:nvSpPr>
        <p:spPr>
          <a:xfrm>
            <a:off x="14675155" y="7567674"/>
            <a:ext cx="0" cy="476314"/>
          </a:xfrm>
          <a:prstGeom prst="line">
            <a:avLst/>
          </a:prstGeom>
          <a:ln w="1143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he-IL"/>
          </a:p>
        </p:txBody>
      </p:sp>
      <p:sp>
        <p:nvSpPr>
          <p:cNvPr id="47" name="AutoShape 47"/>
          <p:cNvSpPr/>
          <p:nvPr/>
        </p:nvSpPr>
        <p:spPr>
          <a:xfrm>
            <a:off x="14675155" y="8883855"/>
            <a:ext cx="0" cy="476314"/>
          </a:xfrm>
          <a:prstGeom prst="line">
            <a:avLst/>
          </a:prstGeom>
          <a:ln w="1143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71391" y="4391290"/>
            <a:ext cx="15945218" cy="5699567"/>
          </a:xfrm>
          <a:custGeom>
            <a:avLst/>
            <a:gdLst/>
            <a:ahLst/>
            <a:cxnLst/>
            <a:rect l="l" t="t" r="r" b="b"/>
            <a:pathLst>
              <a:path w="15945218" h="5699567">
                <a:moveTo>
                  <a:pt x="0" y="0"/>
                </a:moveTo>
                <a:lnTo>
                  <a:pt x="15945218" y="0"/>
                </a:lnTo>
                <a:lnTo>
                  <a:pt x="15945218" y="5699567"/>
                </a:lnTo>
                <a:lnTo>
                  <a:pt x="0" y="5699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2002974" y="412499"/>
            <a:ext cx="13391674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79"/>
              </a:lnSpc>
              <a:spcBef>
                <a:spcPct val="0"/>
              </a:spcBef>
            </a:pPr>
            <a:r>
              <a:rPr lang="en-US" sz="6399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ASR Error Example: Clean Report vs Noisy Transcript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40336" y="1714765"/>
            <a:ext cx="13254313" cy="267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  <a:spcBef>
                <a:spcPct val="0"/>
              </a:spcBef>
            </a:pPr>
            <a:r>
              <a:rPr lang="en-US" sz="3001" b="1">
                <a:solidFill>
                  <a:srgbClr val="FF313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Mean WER: 0.474≈ 47%</a:t>
            </a:r>
          </a:p>
          <a:p>
            <a:pPr algn="ctr">
              <a:lnSpc>
                <a:spcPts val="3362"/>
              </a:lnSpc>
              <a:spcBef>
                <a:spcPct val="0"/>
              </a:spcBef>
            </a:pPr>
            <a:r>
              <a:rPr lang="en-US" sz="2801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WER measures the word-level difference between the clean EMS report and the ASR transcript.</a:t>
            </a:r>
          </a:p>
          <a:p>
            <a:pPr algn="ctr">
              <a:lnSpc>
                <a:spcPts val="3482"/>
              </a:lnSpc>
              <a:spcBef>
                <a:spcPct val="0"/>
              </a:spcBef>
            </a:pPr>
            <a:endParaRPr lang="en-US" sz="2801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ctr">
              <a:lnSpc>
                <a:spcPts val="3482"/>
              </a:lnSpc>
              <a:spcBef>
                <a:spcPct val="0"/>
              </a:spcBef>
            </a:pPr>
            <a:r>
              <a:rPr lang="en-US" sz="2901" b="1" i="1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 In this example, about 31.6% of the words were changed, deleted, or inserted after noisy ASR transcription.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293080" y="3782077"/>
            <a:ext cx="4966220" cy="3086100"/>
            <a:chOff x="0" y="0"/>
            <a:chExt cx="1307976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7976" cy="812800"/>
            </a:xfrm>
            <a:custGeom>
              <a:avLst/>
              <a:gdLst/>
              <a:ahLst/>
              <a:cxnLst/>
              <a:rect l="l" t="t" r="r" b="b"/>
              <a:pathLst>
                <a:path w="1307976" h="812800">
                  <a:moveTo>
                    <a:pt x="79505" y="0"/>
                  </a:moveTo>
                  <a:lnTo>
                    <a:pt x="1228471" y="0"/>
                  </a:lnTo>
                  <a:cubicBezTo>
                    <a:pt x="1249557" y="0"/>
                    <a:pt x="1269779" y="8376"/>
                    <a:pt x="1284689" y="23286"/>
                  </a:cubicBezTo>
                  <a:cubicBezTo>
                    <a:pt x="1299599" y="38196"/>
                    <a:pt x="1307976" y="58419"/>
                    <a:pt x="1307976" y="79505"/>
                  </a:cubicBezTo>
                  <a:lnTo>
                    <a:pt x="1307976" y="733295"/>
                  </a:lnTo>
                  <a:cubicBezTo>
                    <a:pt x="1307976" y="777205"/>
                    <a:pt x="1272380" y="812800"/>
                    <a:pt x="1228471" y="812800"/>
                  </a:cubicBezTo>
                  <a:lnTo>
                    <a:pt x="79505" y="812800"/>
                  </a:lnTo>
                  <a:cubicBezTo>
                    <a:pt x="58419" y="812800"/>
                    <a:pt x="38196" y="804424"/>
                    <a:pt x="23286" y="789514"/>
                  </a:cubicBezTo>
                  <a:cubicBezTo>
                    <a:pt x="8376" y="774604"/>
                    <a:pt x="0" y="754381"/>
                    <a:pt x="0" y="733295"/>
                  </a:cubicBezTo>
                  <a:lnTo>
                    <a:pt x="0" y="79505"/>
                  </a:lnTo>
                  <a:cubicBezTo>
                    <a:pt x="0" y="58419"/>
                    <a:pt x="8376" y="38196"/>
                    <a:pt x="23286" y="23286"/>
                  </a:cubicBezTo>
                  <a:cubicBezTo>
                    <a:pt x="38196" y="8376"/>
                    <a:pt x="58419" y="0"/>
                    <a:pt x="79505" y="0"/>
                  </a:cubicBezTo>
                  <a:close/>
                </a:path>
              </a:pathLst>
            </a:custGeom>
            <a:solidFill>
              <a:srgbClr val="D7BAA2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07976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862233" y="-171450"/>
            <a:ext cx="2563535" cy="1427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19"/>
              </a:lnSpc>
              <a:spcBef>
                <a:spcPct val="0"/>
              </a:spcBef>
            </a:pPr>
            <a:r>
              <a:rPr lang="en-US" sz="8299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MODELS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81400" y="3920507"/>
            <a:ext cx="3905158" cy="7335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40"/>
              </a:lnSpc>
              <a:spcBef>
                <a:spcPct val="0"/>
              </a:spcBef>
            </a:pPr>
            <a:r>
              <a:rPr lang="en-US" sz="4600" dirty="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BASELINE APPROACH: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455900" y="2870217"/>
            <a:ext cx="4741069" cy="788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u="sng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TUNED HYPERPARAMETERS: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598061" y="3863357"/>
            <a:ext cx="4356259" cy="376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arrival_destination: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ngram_range = (1, 2)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min_df = 2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class_weight = balanced</a:t>
            </a:r>
          </a:p>
          <a:p>
            <a:pPr algn="l">
              <a:lnSpc>
                <a:spcPts val="4900"/>
              </a:lnSpc>
            </a:pPr>
            <a:endParaRPr lang="en-US" sz="35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900"/>
              </a:lnSpc>
            </a:pPr>
            <a:endParaRPr lang="en-US" sz="35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2293080" y="6992002"/>
            <a:ext cx="4966220" cy="3086100"/>
            <a:chOff x="0" y="0"/>
            <a:chExt cx="1307976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07976" cy="812800"/>
            </a:xfrm>
            <a:custGeom>
              <a:avLst/>
              <a:gdLst/>
              <a:ahLst/>
              <a:cxnLst/>
              <a:rect l="l" t="t" r="r" b="b"/>
              <a:pathLst>
                <a:path w="1307976" h="812800">
                  <a:moveTo>
                    <a:pt x="79505" y="0"/>
                  </a:moveTo>
                  <a:lnTo>
                    <a:pt x="1228471" y="0"/>
                  </a:lnTo>
                  <a:cubicBezTo>
                    <a:pt x="1249557" y="0"/>
                    <a:pt x="1269779" y="8376"/>
                    <a:pt x="1284689" y="23286"/>
                  </a:cubicBezTo>
                  <a:cubicBezTo>
                    <a:pt x="1299599" y="38196"/>
                    <a:pt x="1307976" y="58419"/>
                    <a:pt x="1307976" y="79505"/>
                  </a:cubicBezTo>
                  <a:lnTo>
                    <a:pt x="1307976" y="733295"/>
                  </a:lnTo>
                  <a:cubicBezTo>
                    <a:pt x="1307976" y="777205"/>
                    <a:pt x="1272380" y="812800"/>
                    <a:pt x="1228471" y="812800"/>
                  </a:cubicBezTo>
                  <a:lnTo>
                    <a:pt x="79505" y="812800"/>
                  </a:lnTo>
                  <a:cubicBezTo>
                    <a:pt x="58419" y="812800"/>
                    <a:pt x="38196" y="804424"/>
                    <a:pt x="23286" y="789514"/>
                  </a:cubicBezTo>
                  <a:cubicBezTo>
                    <a:pt x="8376" y="774604"/>
                    <a:pt x="0" y="754381"/>
                    <a:pt x="0" y="733295"/>
                  </a:cubicBezTo>
                  <a:lnTo>
                    <a:pt x="0" y="79505"/>
                  </a:lnTo>
                  <a:cubicBezTo>
                    <a:pt x="0" y="58419"/>
                    <a:pt x="8376" y="38196"/>
                    <a:pt x="23286" y="23286"/>
                  </a:cubicBezTo>
                  <a:cubicBezTo>
                    <a:pt x="38196" y="8376"/>
                    <a:pt x="58419" y="0"/>
                    <a:pt x="79505" y="0"/>
                  </a:cubicBezTo>
                  <a:close/>
                </a:path>
              </a:pathLst>
            </a:custGeom>
            <a:solidFill>
              <a:srgbClr val="D7BAA2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307976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598061" y="7392052"/>
            <a:ext cx="4456747" cy="220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specialty_consult_label: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ngram_range = (1, 1)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min_df = 1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class_weight = balanced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225332" y="4929406"/>
            <a:ext cx="11636959" cy="3283961"/>
            <a:chOff x="0" y="0"/>
            <a:chExt cx="3064878" cy="86491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064878" cy="864912"/>
            </a:xfrm>
            <a:custGeom>
              <a:avLst/>
              <a:gdLst/>
              <a:ahLst/>
              <a:cxnLst/>
              <a:rect l="l" t="t" r="r" b="b"/>
              <a:pathLst>
                <a:path w="3064878" h="864912">
                  <a:moveTo>
                    <a:pt x="33930" y="0"/>
                  </a:moveTo>
                  <a:lnTo>
                    <a:pt x="3030948" y="0"/>
                  </a:lnTo>
                  <a:cubicBezTo>
                    <a:pt x="3049687" y="0"/>
                    <a:pt x="3064878" y="15191"/>
                    <a:pt x="3064878" y="33930"/>
                  </a:cubicBezTo>
                  <a:lnTo>
                    <a:pt x="3064878" y="830982"/>
                  </a:lnTo>
                  <a:cubicBezTo>
                    <a:pt x="3064878" y="849721"/>
                    <a:pt x="3049687" y="864912"/>
                    <a:pt x="3030948" y="864912"/>
                  </a:cubicBezTo>
                  <a:lnTo>
                    <a:pt x="33930" y="864912"/>
                  </a:lnTo>
                  <a:cubicBezTo>
                    <a:pt x="15191" y="864912"/>
                    <a:pt x="0" y="849721"/>
                    <a:pt x="0" y="830982"/>
                  </a:cubicBezTo>
                  <a:lnTo>
                    <a:pt x="0" y="33930"/>
                  </a:lnTo>
                  <a:cubicBezTo>
                    <a:pt x="0" y="15191"/>
                    <a:pt x="15191" y="0"/>
                    <a:pt x="33930" y="0"/>
                  </a:cubicBezTo>
                  <a:close/>
                </a:path>
              </a:pathLst>
            </a:custGeom>
            <a:solidFill>
              <a:srgbClr val="D7BAA2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064878" cy="903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47457" y="5182252"/>
            <a:ext cx="11192709" cy="2530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Text representation:</a:t>
            </a: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TF-IDF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</a:t>
            </a:r>
            <a:r>
              <a:rPr lang="en-US" sz="35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Classifier: </a:t>
            </a: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Logistic Regression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Hyperparameter tuning was performed on the validation set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Final evaluation was performed on the held-out test set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4284415" y="1371600"/>
            <a:ext cx="9093033" cy="881364"/>
            <a:chOff x="0" y="0"/>
            <a:chExt cx="2394873" cy="23212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394873" cy="232129"/>
            </a:xfrm>
            <a:custGeom>
              <a:avLst/>
              <a:gdLst/>
              <a:ahLst/>
              <a:cxnLst/>
              <a:rect l="l" t="t" r="r" b="b"/>
              <a:pathLst>
                <a:path w="2394873" h="232129">
                  <a:moveTo>
                    <a:pt x="43422" y="0"/>
                  </a:moveTo>
                  <a:lnTo>
                    <a:pt x="2351451" y="0"/>
                  </a:lnTo>
                  <a:cubicBezTo>
                    <a:pt x="2375432" y="0"/>
                    <a:pt x="2394873" y="19441"/>
                    <a:pt x="2394873" y="43422"/>
                  </a:cubicBezTo>
                  <a:lnTo>
                    <a:pt x="2394873" y="188707"/>
                  </a:lnTo>
                  <a:cubicBezTo>
                    <a:pt x="2394873" y="200223"/>
                    <a:pt x="2390298" y="211268"/>
                    <a:pt x="2382155" y="219411"/>
                  </a:cubicBezTo>
                  <a:cubicBezTo>
                    <a:pt x="2374012" y="227554"/>
                    <a:pt x="2362967" y="232129"/>
                    <a:pt x="2351451" y="232129"/>
                  </a:cubicBezTo>
                  <a:lnTo>
                    <a:pt x="43422" y="232129"/>
                  </a:lnTo>
                  <a:cubicBezTo>
                    <a:pt x="19441" y="232129"/>
                    <a:pt x="0" y="212688"/>
                    <a:pt x="0" y="188707"/>
                  </a:cubicBezTo>
                  <a:lnTo>
                    <a:pt x="0" y="43422"/>
                  </a:lnTo>
                  <a:cubicBezTo>
                    <a:pt x="0" y="19441"/>
                    <a:pt x="19441" y="0"/>
                    <a:pt x="43422" y="0"/>
                  </a:cubicBezTo>
                  <a:close/>
                </a:path>
              </a:pathLst>
            </a:custGeom>
            <a:solidFill>
              <a:srgbClr val="F0C19C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394873" cy="2702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528132" y="1282057"/>
            <a:ext cx="8605600" cy="946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TF-IDF + LOGISTIC REGRESSION BASELINE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274041" y="7186604"/>
            <a:ext cx="4203042" cy="2746910"/>
            <a:chOff x="0" y="0"/>
            <a:chExt cx="1106974" cy="7234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06974" cy="723466"/>
            </a:xfrm>
            <a:custGeom>
              <a:avLst/>
              <a:gdLst/>
              <a:ahLst/>
              <a:cxnLst/>
              <a:rect l="l" t="t" r="r" b="b"/>
              <a:pathLst>
                <a:path w="1106974" h="723466">
                  <a:moveTo>
                    <a:pt x="93941" y="0"/>
                  </a:moveTo>
                  <a:lnTo>
                    <a:pt x="1013033" y="0"/>
                  </a:lnTo>
                  <a:cubicBezTo>
                    <a:pt x="1037948" y="0"/>
                    <a:pt x="1061842" y="9897"/>
                    <a:pt x="1079459" y="27515"/>
                  </a:cubicBezTo>
                  <a:cubicBezTo>
                    <a:pt x="1097077" y="45132"/>
                    <a:pt x="1106974" y="69026"/>
                    <a:pt x="1106974" y="93941"/>
                  </a:cubicBezTo>
                  <a:lnTo>
                    <a:pt x="1106974" y="629525"/>
                  </a:lnTo>
                  <a:cubicBezTo>
                    <a:pt x="1106974" y="654440"/>
                    <a:pt x="1097077" y="678334"/>
                    <a:pt x="1079459" y="695951"/>
                  </a:cubicBezTo>
                  <a:cubicBezTo>
                    <a:pt x="1061842" y="713569"/>
                    <a:pt x="1037948" y="723466"/>
                    <a:pt x="1013033" y="723466"/>
                  </a:cubicBezTo>
                  <a:lnTo>
                    <a:pt x="93941" y="723466"/>
                  </a:lnTo>
                  <a:cubicBezTo>
                    <a:pt x="69026" y="723466"/>
                    <a:pt x="45132" y="713569"/>
                    <a:pt x="27515" y="695951"/>
                  </a:cubicBezTo>
                  <a:cubicBezTo>
                    <a:pt x="9897" y="678334"/>
                    <a:pt x="0" y="654440"/>
                    <a:pt x="0" y="629525"/>
                  </a:cubicBezTo>
                  <a:lnTo>
                    <a:pt x="0" y="93941"/>
                  </a:lnTo>
                  <a:cubicBezTo>
                    <a:pt x="0" y="69026"/>
                    <a:pt x="9897" y="45132"/>
                    <a:pt x="27515" y="27515"/>
                  </a:cubicBezTo>
                  <a:cubicBezTo>
                    <a:pt x="45132" y="9897"/>
                    <a:pt x="69026" y="0"/>
                    <a:pt x="93941" y="0"/>
                  </a:cubicBezTo>
                  <a:close/>
                </a:path>
              </a:pathLst>
            </a:custGeom>
            <a:solidFill>
              <a:srgbClr val="F4DDB8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06974" cy="7615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94003" y="1543694"/>
            <a:ext cx="4699994" cy="987429"/>
            <a:chOff x="0" y="0"/>
            <a:chExt cx="1237859" cy="2600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7859" cy="260064"/>
            </a:xfrm>
            <a:custGeom>
              <a:avLst/>
              <a:gdLst/>
              <a:ahLst/>
              <a:cxnLst/>
              <a:rect l="l" t="t" r="r" b="b"/>
              <a:pathLst>
                <a:path w="1237859" h="260064">
                  <a:moveTo>
                    <a:pt x="84008" y="0"/>
                  </a:moveTo>
                  <a:lnTo>
                    <a:pt x="1153851" y="0"/>
                  </a:lnTo>
                  <a:cubicBezTo>
                    <a:pt x="1176131" y="0"/>
                    <a:pt x="1197499" y="8851"/>
                    <a:pt x="1213253" y="24605"/>
                  </a:cubicBezTo>
                  <a:cubicBezTo>
                    <a:pt x="1229008" y="40360"/>
                    <a:pt x="1237859" y="61728"/>
                    <a:pt x="1237859" y="84008"/>
                  </a:cubicBezTo>
                  <a:lnTo>
                    <a:pt x="1237859" y="176056"/>
                  </a:lnTo>
                  <a:cubicBezTo>
                    <a:pt x="1237859" y="198336"/>
                    <a:pt x="1229008" y="219704"/>
                    <a:pt x="1213253" y="235458"/>
                  </a:cubicBezTo>
                  <a:cubicBezTo>
                    <a:pt x="1197499" y="251213"/>
                    <a:pt x="1176131" y="260064"/>
                    <a:pt x="1153851" y="260064"/>
                  </a:cubicBezTo>
                  <a:lnTo>
                    <a:pt x="84008" y="260064"/>
                  </a:lnTo>
                  <a:cubicBezTo>
                    <a:pt x="61728" y="260064"/>
                    <a:pt x="40360" y="251213"/>
                    <a:pt x="24605" y="235458"/>
                  </a:cubicBezTo>
                  <a:cubicBezTo>
                    <a:pt x="8851" y="219704"/>
                    <a:pt x="0" y="198336"/>
                    <a:pt x="0" y="176056"/>
                  </a:cubicBezTo>
                  <a:lnTo>
                    <a:pt x="0" y="84008"/>
                  </a:lnTo>
                  <a:cubicBezTo>
                    <a:pt x="0" y="61728"/>
                    <a:pt x="8851" y="40360"/>
                    <a:pt x="24605" y="24605"/>
                  </a:cubicBezTo>
                  <a:cubicBezTo>
                    <a:pt x="40360" y="8851"/>
                    <a:pt x="61728" y="0"/>
                    <a:pt x="84008" y="0"/>
                  </a:cubicBezTo>
                  <a:close/>
                </a:path>
              </a:pathLst>
            </a:custGeom>
            <a:solidFill>
              <a:srgbClr val="F0C19C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37859" cy="298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772154" y="2879467"/>
            <a:ext cx="12743691" cy="4030912"/>
          </a:xfrm>
          <a:custGeom>
            <a:avLst/>
            <a:gdLst/>
            <a:ahLst/>
            <a:cxnLst/>
            <a:rect l="l" t="t" r="r" b="b"/>
            <a:pathLst>
              <a:path w="12743691" h="4030912">
                <a:moveTo>
                  <a:pt x="0" y="0"/>
                </a:moveTo>
                <a:lnTo>
                  <a:pt x="12743692" y="0"/>
                </a:lnTo>
                <a:lnTo>
                  <a:pt x="12743692" y="4030912"/>
                </a:lnTo>
                <a:lnTo>
                  <a:pt x="0" y="40309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9" name="TextBox 9"/>
          <p:cNvSpPr txBox="1"/>
          <p:nvPr/>
        </p:nvSpPr>
        <p:spPr>
          <a:xfrm>
            <a:off x="3359051" y="234557"/>
            <a:ext cx="11569898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TF-IDF + LOGISTIC REGRESSION BASELINE: RESULTS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67600" y="7403039"/>
            <a:ext cx="3781947" cy="2530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Accuracy = 68.1%</a:t>
            </a:r>
          </a:p>
          <a:p>
            <a:pPr algn="ctr">
              <a:lnSpc>
                <a:spcPts val="4900"/>
              </a:lnSpc>
            </a:pPr>
            <a:r>
              <a:rPr lang="en-US" sz="35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Macro F1 = 0.330</a:t>
            </a:r>
          </a:p>
          <a:p>
            <a:pPr algn="ctr">
              <a:lnSpc>
                <a:spcPts val="4900"/>
              </a:lnSpc>
            </a:pPr>
            <a:r>
              <a:rPr lang="en-US" sz="35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Weighted F1 = 0.664</a:t>
            </a:r>
          </a:p>
          <a:p>
            <a:pPr algn="ctr">
              <a:lnSpc>
                <a:spcPts val="4900"/>
              </a:lnSpc>
            </a:pPr>
            <a:endParaRPr lang="en-US" sz="350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728920" y="1561476"/>
            <a:ext cx="4765077" cy="847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sz="48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arrival_destination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28920" y="1421137"/>
            <a:ext cx="4699994" cy="987429"/>
            <a:chOff x="0" y="0"/>
            <a:chExt cx="1237859" cy="260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7859" cy="260064"/>
            </a:xfrm>
            <a:custGeom>
              <a:avLst/>
              <a:gdLst/>
              <a:ahLst/>
              <a:cxnLst/>
              <a:rect l="l" t="t" r="r" b="b"/>
              <a:pathLst>
                <a:path w="1237859" h="260064">
                  <a:moveTo>
                    <a:pt x="84008" y="0"/>
                  </a:moveTo>
                  <a:lnTo>
                    <a:pt x="1153851" y="0"/>
                  </a:lnTo>
                  <a:cubicBezTo>
                    <a:pt x="1176131" y="0"/>
                    <a:pt x="1197499" y="8851"/>
                    <a:pt x="1213253" y="24605"/>
                  </a:cubicBezTo>
                  <a:cubicBezTo>
                    <a:pt x="1229008" y="40360"/>
                    <a:pt x="1237859" y="61728"/>
                    <a:pt x="1237859" y="84008"/>
                  </a:cubicBezTo>
                  <a:lnTo>
                    <a:pt x="1237859" y="176056"/>
                  </a:lnTo>
                  <a:cubicBezTo>
                    <a:pt x="1237859" y="198336"/>
                    <a:pt x="1229008" y="219704"/>
                    <a:pt x="1213253" y="235458"/>
                  </a:cubicBezTo>
                  <a:cubicBezTo>
                    <a:pt x="1197499" y="251213"/>
                    <a:pt x="1176131" y="260064"/>
                    <a:pt x="1153851" y="260064"/>
                  </a:cubicBezTo>
                  <a:lnTo>
                    <a:pt x="84008" y="260064"/>
                  </a:lnTo>
                  <a:cubicBezTo>
                    <a:pt x="61728" y="260064"/>
                    <a:pt x="40360" y="251213"/>
                    <a:pt x="24605" y="235458"/>
                  </a:cubicBezTo>
                  <a:cubicBezTo>
                    <a:pt x="8851" y="219704"/>
                    <a:pt x="0" y="198336"/>
                    <a:pt x="0" y="176056"/>
                  </a:cubicBezTo>
                  <a:lnTo>
                    <a:pt x="0" y="84008"/>
                  </a:lnTo>
                  <a:cubicBezTo>
                    <a:pt x="0" y="61728"/>
                    <a:pt x="8851" y="40360"/>
                    <a:pt x="24605" y="24605"/>
                  </a:cubicBezTo>
                  <a:cubicBezTo>
                    <a:pt x="40360" y="8851"/>
                    <a:pt x="61728" y="0"/>
                    <a:pt x="84008" y="0"/>
                  </a:cubicBezTo>
                  <a:close/>
                </a:path>
              </a:pathLst>
            </a:custGeom>
            <a:solidFill>
              <a:srgbClr val="F0C19C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37859" cy="298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6651" y="2807348"/>
            <a:ext cx="15387193" cy="7287608"/>
          </a:xfrm>
          <a:custGeom>
            <a:avLst/>
            <a:gdLst/>
            <a:ahLst/>
            <a:cxnLst/>
            <a:rect l="l" t="t" r="r" b="b"/>
            <a:pathLst>
              <a:path w="15387193" h="7287608">
                <a:moveTo>
                  <a:pt x="0" y="0"/>
                </a:moveTo>
                <a:lnTo>
                  <a:pt x="15387193" y="0"/>
                </a:lnTo>
                <a:lnTo>
                  <a:pt x="15387193" y="7287608"/>
                </a:lnTo>
                <a:lnTo>
                  <a:pt x="0" y="7287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06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6" name="TextBox 6"/>
          <p:cNvSpPr txBox="1"/>
          <p:nvPr/>
        </p:nvSpPr>
        <p:spPr>
          <a:xfrm>
            <a:off x="3359051" y="234557"/>
            <a:ext cx="11569898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TF-IDF + LOGISTIC REGRESSION BASELINE: RESULTS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28920" y="1438919"/>
            <a:ext cx="4765077" cy="847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sz="48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arrival_destination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5299" y="3785483"/>
            <a:ext cx="4076008" cy="2178624"/>
            <a:chOff x="0" y="0"/>
            <a:chExt cx="1073517" cy="5737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73517" cy="573794"/>
            </a:xfrm>
            <a:custGeom>
              <a:avLst/>
              <a:gdLst/>
              <a:ahLst/>
              <a:cxnLst/>
              <a:rect l="l" t="t" r="r" b="b"/>
              <a:pathLst>
                <a:path w="1073517" h="573794">
                  <a:moveTo>
                    <a:pt x="96869" y="0"/>
                  </a:moveTo>
                  <a:lnTo>
                    <a:pt x="976648" y="0"/>
                  </a:lnTo>
                  <a:cubicBezTo>
                    <a:pt x="1030147" y="0"/>
                    <a:pt x="1073517" y="43370"/>
                    <a:pt x="1073517" y="96869"/>
                  </a:cubicBezTo>
                  <a:lnTo>
                    <a:pt x="1073517" y="476925"/>
                  </a:lnTo>
                  <a:cubicBezTo>
                    <a:pt x="1073517" y="530424"/>
                    <a:pt x="1030147" y="573794"/>
                    <a:pt x="976648" y="573794"/>
                  </a:cubicBezTo>
                  <a:lnTo>
                    <a:pt x="96869" y="573794"/>
                  </a:lnTo>
                  <a:cubicBezTo>
                    <a:pt x="43370" y="573794"/>
                    <a:pt x="0" y="530424"/>
                    <a:pt x="0" y="476925"/>
                  </a:cubicBezTo>
                  <a:lnTo>
                    <a:pt x="0" y="96869"/>
                  </a:lnTo>
                  <a:cubicBezTo>
                    <a:pt x="0" y="43370"/>
                    <a:pt x="43370" y="0"/>
                    <a:pt x="96869" y="0"/>
                  </a:cubicBezTo>
                  <a:close/>
                </a:path>
              </a:pathLst>
            </a:custGeom>
            <a:solidFill>
              <a:srgbClr val="F4DDB8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73517" cy="611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94003" y="992187"/>
            <a:ext cx="4699994" cy="987429"/>
            <a:chOff x="0" y="0"/>
            <a:chExt cx="1237859" cy="2600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7859" cy="260064"/>
            </a:xfrm>
            <a:custGeom>
              <a:avLst/>
              <a:gdLst/>
              <a:ahLst/>
              <a:cxnLst/>
              <a:rect l="l" t="t" r="r" b="b"/>
              <a:pathLst>
                <a:path w="1237859" h="260064">
                  <a:moveTo>
                    <a:pt x="84008" y="0"/>
                  </a:moveTo>
                  <a:lnTo>
                    <a:pt x="1153851" y="0"/>
                  </a:lnTo>
                  <a:cubicBezTo>
                    <a:pt x="1176131" y="0"/>
                    <a:pt x="1197499" y="8851"/>
                    <a:pt x="1213253" y="24605"/>
                  </a:cubicBezTo>
                  <a:cubicBezTo>
                    <a:pt x="1229008" y="40360"/>
                    <a:pt x="1237859" y="61728"/>
                    <a:pt x="1237859" y="84008"/>
                  </a:cubicBezTo>
                  <a:lnTo>
                    <a:pt x="1237859" y="176056"/>
                  </a:lnTo>
                  <a:cubicBezTo>
                    <a:pt x="1237859" y="198336"/>
                    <a:pt x="1229008" y="219704"/>
                    <a:pt x="1213253" y="235458"/>
                  </a:cubicBezTo>
                  <a:cubicBezTo>
                    <a:pt x="1197499" y="251213"/>
                    <a:pt x="1176131" y="260064"/>
                    <a:pt x="1153851" y="260064"/>
                  </a:cubicBezTo>
                  <a:lnTo>
                    <a:pt x="84008" y="260064"/>
                  </a:lnTo>
                  <a:cubicBezTo>
                    <a:pt x="61728" y="260064"/>
                    <a:pt x="40360" y="251213"/>
                    <a:pt x="24605" y="235458"/>
                  </a:cubicBezTo>
                  <a:cubicBezTo>
                    <a:pt x="8851" y="219704"/>
                    <a:pt x="0" y="198336"/>
                    <a:pt x="0" y="176056"/>
                  </a:cubicBezTo>
                  <a:lnTo>
                    <a:pt x="0" y="84008"/>
                  </a:lnTo>
                  <a:cubicBezTo>
                    <a:pt x="0" y="61728"/>
                    <a:pt x="8851" y="40360"/>
                    <a:pt x="24605" y="24605"/>
                  </a:cubicBezTo>
                  <a:cubicBezTo>
                    <a:pt x="40360" y="8851"/>
                    <a:pt x="61728" y="0"/>
                    <a:pt x="84008" y="0"/>
                  </a:cubicBezTo>
                  <a:close/>
                </a:path>
              </a:pathLst>
            </a:custGeom>
            <a:solidFill>
              <a:srgbClr val="F0C19C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37859" cy="298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4582232" y="2340330"/>
            <a:ext cx="11971907" cy="7718495"/>
          </a:xfrm>
          <a:custGeom>
            <a:avLst/>
            <a:gdLst/>
            <a:ahLst/>
            <a:cxnLst/>
            <a:rect l="l" t="t" r="r" b="b"/>
            <a:pathLst>
              <a:path w="11971907" h="7718495">
                <a:moveTo>
                  <a:pt x="0" y="0"/>
                </a:moveTo>
                <a:lnTo>
                  <a:pt x="11971907" y="0"/>
                </a:lnTo>
                <a:lnTo>
                  <a:pt x="11971907" y="7718495"/>
                </a:lnTo>
                <a:lnTo>
                  <a:pt x="0" y="77184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692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9" name="TextBox 9"/>
          <p:cNvSpPr txBox="1"/>
          <p:nvPr/>
        </p:nvSpPr>
        <p:spPr>
          <a:xfrm>
            <a:off x="3165812" y="-123825"/>
            <a:ext cx="11956376" cy="1061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9"/>
              </a:lnSpc>
              <a:spcBef>
                <a:spcPct val="0"/>
              </a:spcBef>
            </a:pPr>
            <a:r>
              <a:rPr lang="en-US" sz="61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TF-IDF + LOGISTIC REGRESSION BASELINE: RESULTS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9319" y="4056241"/>
            <a:ext cx="3755481" cy="3276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Accuracy = 61.9%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Macro F1 = 0.452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Weighted F1 = 0.622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50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50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50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728920" y="1036004"/>
            <a:ext cx="4765077" cy="804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sz="46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specialty_consult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63598" y="840292"/>
            <a:ext cx="4530399" cy="646836"/>
            <a:chOff x="0" y="0"/>
            <a:chExt cx="1193192" cy="170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3192" cy="170360"/>
            </a:xfrm>
            <a:custGeom>
              <a:avLst/>
              <a:gdLst/>
              <a:ahLst/>
              <a:cxnLst/>
              <a:rect l="l" t="t" r="r" b="b"/>
              <a:pathLst>
                <a:path w="1193192" h="170360">
                  <a:moveTo>
                    <a:pt x="85180" y="0"/>
                  </a:moveTo>
                  <a:lnTo>
                    <a:pt x="1108012" y="0"/>
                  </a:lnTo>
                  <a:cubicBezTo>
                    <a:pt x="1130603" y="0"/>
                    <a:pt x="1152269" y="8974"/>
                    <a:pt x="1168243" y="24949"/>
                  </a:cubicBezTo>
                  <a:cubicBezTo>
                    <a:pt x="1184217" y="40923"/>
                    <a:pt x="1193192" y="62589"/>
                    <a:pt x="1193192" y="85180"/>
                  </a:cubicBezTo>
                  <a:lnTo>
                    <a:pt x="1193192" y="85180"/>
                  </a:lnTo>
                  <a:cubicBezTo>
                    <a:pt x="1193192" y="107771"/>
                    <a:pt x="1184217" y="129437"/>
                    <a:pt x="1168243" y="145412"/>
                  </a:cubicBezTo>
                  <a:cubicBezTo>
                    <a:pt x="1152269" y="161386"/>
                    <a:pt x="1130603" y="170360"/>
                    <a:pt x="1108012" y="170360"/>
                  </a:cubicBezTo>
                  <a:lnTo>
                    <a:pt x="85180" y="170360"/>
                  </a:lnTo>
                  <a:cubicBezTo>
                    <a:pt x="62589" y="170360"/>
                    <a:pt x="40923" y="161386"/>
                    <a:pt x="24949" y="145412"/>
                  </a:cubicBezTo>
                  <a:cubicBezTo>
                    <a:pt x="8974" y="129437"/>
                    <a:pt x="0" y="107771"/>
                    <a:pt x="0" y="85180"/>
                  </a:cubicBezTo>
                  <a:lnTo>
                    <a:pt x="0" y="85180"/>
                  </a:lnTo>
                  <a:cubicBezTo>
                    <a:pt x="0" y="62589"/>
                    <a:pt x="8974" y="40923"/>
                    <a:pt x="24949" y="24949"/>
                  </a:cubicBezTo>
                  <a:cubicBezTo>
                    <a:pt x="40923" y="8974"/>
                    <a:pt x="62589" y="0"/>
                    <a:pt x="85180" y="0"/>
                  </a:cubicBezTo>
                  <a:close/>
                </a:path>
              </a:pathLst>
            </a:custGeom>
            <a:solidFill>
              <a:srgbClr val="F0C19C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93192" cy="20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965231" y="1525228"/>
            <a:ext cx="12085203" cy="8761772"/>
          </a:xfrm>
          <a:custGeom>
            <a:avLst/>
            <a:gdLst/>
            <a:ahLst/>
            <a:cxnLst/>
            <a:rect l="l" t="t" r="r" b="b"/>
            <a:pathLst>
              <a:path w="12085203" h="8761772">
                <a:moveTo>
                  <a:pt x="0" y="0"/>
                </a:moveTo>
                <a:lnTo>
                  <a:pt x="12085203" y="0"/>
                </a:lnTo>
                <a:lnTo>
                  <a:pt x="12085203" y="8761772"/>
                </a:lnTo>
                <a:lnTo>
                  <a:pt x="0" y="87617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6" name="TextBox 6"/>
          <p:cNvSpPr txBox="1"/>
          <p:nvPr/>
        </p:nvSpPr>
        <p:spPr>
          <a:xfrm>
            <a:off x="4033659" y="-114300"/>
            <a:ext cx="10220682" cy="913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0"/>
              </a:lnSpc>
              <a:spcBef>
                <a:spcPct val="0"/>
              </a:spcBef>
            </a:pPr>
            <a:r>
              <a:rPr lang="en-US" sz="530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TF-IDF + LOGISTIC REGRESSION BASELINE: RESULTS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61462" y="722630"/>
            <a:ext cx="4765077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specialty_consult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91000" y="-171450"/>
            <a:ext cx="9006034" cy="1362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  <a:spcBef>
                <a:spcPct val="0"/>
              </a:spcBef>
            </a:pPr>
            <a:r>
              <a:rPr lang="en-US" sz="8499" dirty="0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Transformer Model Setup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386781" y="3412056"/>
            <a:ext cx="8872519" cy="4493971"/>
            <a:chOff x="0" y="0"/>
            <a:chExt cx="2336795" cy="11835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6795" cy="1183597"/>
            </a:xfrm>
            <a:custGeom>
              <a:avLst/>
              <a:gdLst/>
              <a:ahLst/>
              <a:cxnLst/>
              <a:rect l="l" t="t" r="r" b="b"/>
              <a:pathLst>
                <a:path w="2336795" h="1183597">
                  <a:moveTo>
                    <a:pt x="44501" y="0"/>
                  </a:moveTo>
                  <a:lnTo>
                    <a:pt x="2292294" y="0"/>
                  </a:lnTo>
                  <a:cubicBezTo>
                    <a:pt x="2304096" y="0"/>
                    <a:pt x="2315415" y="4689"/>
                    <a:pt x="2323761" y="13034"/>
                  </a:cubicBezTo>
                  <a:cubicBezTo>
                    <a:pt x="2332107" y="21380"/>
                    <a:pt x="2336795" y="32699"/>
                    <a:pt x="2336795" y="44501"/>
                  </a:cubicBezTo>
                  <a:lnTo>
                    <a:pt x="2336795" y="1139096"/>
                  </a:lnTo>
                  <a:cubicBezTo>
                    <a:pt x="2336795" y="1150898"/>
                    <a:pt x="2332107" y="1162218"/>
                    <a:pt x="2323761" y="1170563"/>
                  </a:cubicBezTo>
                  <a:cubicBezTo>
                    <a:pt x="2315415" y="1178909"/>
                    <a:pt x="2304096" y="1183597"/>
                    <a:pt x="2292294" y="1183597"/>
                  </a:cubicBezTo>
                  <a:lnTo>
                    <a:pt x="44501" y="1183597"/>
                  </a:lnTo>
                  <a:cubicBezTo>
                    <a:pt x="32699" y="1183597"/>
                    <a:pt x="21380" y="1178909"/>
                    <a:pt x="13034" y="1170563"/>
                  </a:cubicBezTo>
                  <a:cubicBezTo>
                    <a:pt x="4689" y="1162218"/>
                    <a:pt x="0" y="1150898"/>
                    <a:pt x="0" y="1139096"/>
                  </a:cubicBezTo>
                  <a:lnTo>
                    <a:pt x="0" y="44501"/>
                  </a:lnTo>
                  <a:cubicBezTo>
                    <a:pt x="0" y="32699"/>
                    <a:pt x="4689" y="21380"/>
                    <a:pt x="13034" y="13034"/>
                  </a:cubicBezTo>
                  <a:cubicBezTo>
                    <a:pt x="21380" y="4689"/>
                    <a:pt x="32699" y="0"/>
                    <a:pt x="44501" y="0"/>
                  </a:cubicBezTo>
                  <a:close/>
                </a:path>
              </a:pathLst>
            </a:custGeom>
            <a:solidFill>
              <a:srgbClr val="F4DDB8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2336795" cy="12597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4202"/>
                </a:lnSpc>
              </a:pPr>
              <a:endParaRPr/>
            </a:p>
            <a:p>
              <a:pPr algn="just">
                <a:lnSpc>
                  <a:spcPts val="4202"/>
                </a:lnSpc>
              </a:pPr>
              <a:endParaRPr/>
            </a:p>
            <a:p>
              <a:pPr algn="just">
                <a:lnSpc>
                  <a:spcPts val="4202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51423" y="4178447"/>
            <a:ext cx="6167679" cy="3308855"/>
            <a:chOff x="0" y="0"/>
            <a:chExt cx="1624409" cy="8714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4409" cy="871468"/>
            </a:xfrm>
            <a:custGeom>
              <a:avLst/>
              <a:gdLst/>
              <a:ahLst/>
              <a:cxnLst/>
              <a:rect l="l" t="t" r="r" b="b"/>
              <a:pathLst>
                <a:path w="1624409" h="871468">
                  <a:moveTo>
                    <a:pt x="64017" y="0"/>
                  </a:moveTo>
                  <a:lnTo>
                    <a:pt x="1560392" y="0"/>
                  </a:lnTo>
                  <a:cubicBezTo>
                    <a:pt x="1595748" y="0"/>
                    <a:pt x="1624409" y="28662"/>
                    <a:pt x="1624409" y="64017"/>
                  </a:cubicBezTo>
                  <a:lnTo>
                    <a:pt x="1624409" y="807451"/>
                  </a:lnTo>
                  <a:cubicBezTo>
                    <a:pt x="1624409" y="842807"/>
                    <a:pt x="1595748" y="871468"/>
                    <a:pt x="1560392" y="871468"/>
                  </a:cubicBezTo>
                  <a:lnTo>
                    <a:pt x="64017" y="871468"/>
                  </a:lnTo>
                  <a:cubicBezTo>
                    <a:pt x="47039" y="871468"/>
                    <a:pt x="30756" y="864723"/>
                    <a:pt x="18750" y="852718"/>
                  </a:cubicBezTo>
                  <a:cubicBezTo>
                    <a:pt x="6745" y="840712"/>
                    <a:pt x="0" y="824429"/>
                    <a:pt x="0" y="807451"/>
                  </a:cubicBezTo>
                  <a:lnTo>
                    <a:pt x="0" y="64017"/>
                  </a:lnTo>
                  <a:cubicBezTo>
                    <a:pt x="0" y="47039"/>
                    <a:pt x="6745" y="30756"/>
                    <a:pt x="18750" y="18750"/>
                  </a:cubicBezTo>
                  <a:cubicBezTo>
                    <a:pt x="30756" y="6745"/>
                    <a:pt x="47039" y="0"/>
                    <a:pt x="64017" y="0"/>
                  </a:cubicBezTo>
                  <a:close/>
                </a:path>
              </a:pathLst>
            </a:custGeom>
            <a:solidFill>
              <a:srgbClr val="F4DDB8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24409" cy="909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119102" y="1482382"/>
            <a:ext cx="4344372" cy="1022694"/>
            <a:chOff x="0" y="0"/>
            <a:chExt cx="1144197" cy="26935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4197" cy="269351"/>
            </a:xfrm>
            <a:custGeom>
              <a:avLst/>
              <a:gdLst/>
              <a:ahLst/>
              <a:cxnLst/>
              <a:rect l="l" t="t" r="r" b="b"/>
              <a:pathLst>
                <a:path w="1144197" h="269351">
                  <a:moveTo>
                    <a:pt x="90885" y="0"/>
                  </a:moveTo>
                  <a:lnTo>
                    <a:pt x="1053312" y="0"/>
                  </a:lnTo>
                  <a:cubicBezTo>
                    <a:pt x="1103506" y="0"/>
                    <a:pt x="1144197" y="40691"/>
                    <a:pt x="1144197" y="90885"/>
                  </a:cubicBezTo>
                  <a:lnTo>
                    <a:pt x="1144197" y="178466"/>
                  </a:lnTo>
                  <a:cubicBezTo>
                    <a:pt x="1144197" y="202571"/>
                    <a:pt x="1134621" y="225688"/>
                    <a:pt x="1117577" y="242732"/>
                  </a:cubicBezTo>
                  <a:cubicBezTo>
                    <a:pt x="1100533" y="259776"/>
                    <a:pt x="1077416" y="269351"/>
                    <a:pt x="1053312" y="269351"/>
                  </a:cubicBezTo>
                  <a:lnTo>
                    <a:pt x="90885" y="269351"/>
                  </a:lnTo>
                  <a:cubicBezTo>
                    <a:pt x="66781" y="269351"/>
                    <a:pt x="43664" y="259776"/>
                    <a:pt x="26620" y="242732"/>
                  </a:cubicBezTo>
                  <a:cubicBezTo>
                    <a:pt x="9575" y="225688"/>
                    <a:pt x="0" y="202571"/>
                    <a:pt x="0" y="178466"/>
                  </a:cubicBezTo>
                  <a:lnTo>
                    <a:pt x="0" y="90885"/>
                  </a:lnTo>
                  <a:cubicBezTo>
                    <a:pt x="0" y="66781"/>
                    <a:pt x="9575" y="43664"/>
                    <a:pt x="26620" y="26620"/>
                  </a:cubicBezTo>
                  <a:cubicBezTo>
                    <a:pt x="43664" y="9575"/>
                    <a:pt x="66781" y="0"/>
                    <a:pt x="90885" y="0"/>
                  </a:cubicBezTo>
                  <a:close/>
                </a:path>
              </a:pathLst>
            </a:custGeom>
            <a:solidFill>
              <a:srgbClr val="F0C19C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4197" cy="30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400932" y="1393826"/>
            <a:ext cx="3780711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sz="650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BioClinicalBERT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56607" y="4186637"/>
            <a:ext cx="5157311" cy="314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Input: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text_cleaned EMS report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endParaRPr lang="en-US" sz="35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Task: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Multi-class text classification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56824" y="3718577"/>
            <a:ext cx="8153876" cy="376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Tokenization with max_length = 128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3 epochs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batch_size = 16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learning_rate = 2e-5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Best model selected by validation Macro F1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Regular Trainer, without class weights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274041" y="7186604"/>
            <a:ext cx="4203042" cy="2746910"/>
            <a:chOff x="0" y="0"/>
            <a:chExt cx="1106974" cy="7234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06974" cy="723466"/>
            </a:xfrm>
            <a:custGeom>
              <a:avLst/>
              <a:gdLst/>
              <a:ahLst/>
              <a:cxnLst/>
              <a:rect l="l" t="t" r="r" b="b"/>
              <a:pathLst>
                <a:path w="1106974" h="723466">
                  <a:moveTo>
                    <a:pt x="93941" y="0"/>
                  </a:moveTo>
                  <a:lnTo>
                    <a:pt x="1013033" y="0"/>
                  </a:lnTo>
                  <a:cubicBezTo>
                    <a:pt x="1037948" y="0"/>
                    <a:pt x="1061842" y="9897"/>
                    <a:pt x="1079459" y="27515"/>
                  </a:cubicBezTo>
                  <a:cubicBezTo>
                    <a:pt x="1097077" y="45132"/>
                    <a:pt x="1106974" y="69026"/>
                    <a:pt x="1106974" y="93941"/>
                  </a:cubicBezTo>
                  <a:lnTo>
                    <a:pt x="1106974" y="629525"/>
                  </a:lnTo>
                  <a:cubicBezTo>
                    <a:pt x="1106974" y="654440"/>
                    <a:pt x="1097077" y="678334"/>
                    <a:pt x="1079459" y="695951"/>
                  </a:cubicBezTo>
                  <a:cubicBezTo>
                    <a:pt x="1061842" y="713569"/>
                    <a:pt x="1037948" y="723466"/>
                    <a:pt x="1013033" y="723466"/>
                  </a:cubicBezTo>
                  <a:lnTo>
                    <a:pt x="93941" y="723466"/>
                  </a:lnTo>
                  <a:cubicBezTo>
                    <a:pt x="69026" y="723466"/>
                    <a:pt x="45132" y="713569"/>
                    <a:pt x="27515" y="695951"/>
                  </a:cubicBezTo>
                  <a:cubicBezTo>
                    <a:pt x="9897" y="678334"/>
                    <a:pt x="0" y="654440"/>
                    <a:pt x="0" y="629525"/>
                  </a:cubicBezTo>
                  <a:lnTo>
                    <a:pt x="0" y="93941"/>
                  </a:lnTo>
                  <a:cubicBezTo>
                    <a:pt x="0" y="69026"/>
                    <a:pt x="9897" y="45132"/>
                    <a:pt x="27515" y="27515"/>
                  </a:cubicBezTo>
                  <a:cubicBezTo>
                    <a:pt x="45132" y="9897"/>
                    <a:pt x="69026" y="0"/>
                    <a:pt x="93941" y="0"/>
                  </a:cubicBezTo>
                  <a:close/>
                </a:path>
              </a:pathLst>
            </a:custGeom>
            <a:solidFill>
              <a:srgbClr val="F4DDB8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06974" cy="7615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204241" y="358382"/>
            <a:ext cx="11964316" cy="987429"/>
            <a:chOff x="0" y="0"/>
            <a:chExt cx="3151096" cy="2600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51095" cy="260064"/>
            </a:xfrm>
            <a:custGeom>
              <a:avLst/>
              <a:gdLst/>
              <a:ahLst/>
              <a:cxnLst/>
              <a:rect l="l" t="t" r="r" b="b"/>
              <a:pathLst>
                <a:path w="3151095" h="260064">
                  <a:moveTo>
                    <a:pt x="33001" y="0"/>
                  </a:moveTo>
                  <a:lnTo>
                    <a:pt x="3118094" y="0"/>
                  </a:lnTo>
                  <a:cubicBezTo>
                    <a:pt x="3126847" y="0"/>
                    <a:pt x="3135241" y="3477"/>
                    <a:pt x="3141430" y="9666"/>
                  </a:cubicBezTo>
                  <a:cubicBezTo>
                    <a:pt x="3147619" y="15855"/>
                    <a:pt x="3151095" y="24249"/>
                    <a:pt x="3151095" y="33001"/>
                  </a:cubicBezTo>
                  <a:lnTo>
                    <a:pt x="3151095" y="227062"/>
                  </a:lnTo>
                  <a:cubicBezTo>
                    <a:pt x="3151095" y="235815"/>
                    <a:pt x="3147619" y="244209"/>
                    <a:pt x="3141430" y="250398"/>
                  </a:cubicBezTo>
                  <a:cubicBezTo>
                    <a:pt x="3135241" y="256587"/>
                    <a:pt x="3126847" y="260064"/>
                    <a:pt x="3118094" y="260064"/>
                  </a:cubicBezTo>
                  <a:lnTo>
                    <a:pt x="33001" y="260064"/>
                  </a:lnTo>
                  <a:cubicBezTo>
                    <a:pt x="24249" y="260064"/>
                    <a:pt x="15855" y="256587"/>
                    <a:pt x="9666" y="250398"/>
                  </a:cubicBezTo>
                  <a:cubicBezTo>
                    <a:pt x="3477" y="244209"/>
                    <a:pt x="0" y="235815"/>
                    <a:pt x="0" y="227062"/>
                  </a:cubicBezTo>
                  <a:lnTo>
                    <a:pt x="0" y="33001"/>
                  </a:lnTo>
                  <a:cubicBezTo>
                    <a:pt x="0" y="24249"/>
                    <a:pt x="3477" y="15855"/>
                    <a:pt x="9666" y="9666"/>
                  </a:cubicBezTo>
                  <a:cubicBezTo>
                    <a:pt x="15855" y="3477"/>
                    <a:pt x="24249" y="0"/>
                    <a:pt x="33001" y="0"/>
                  </a:cubicBezTo>
                  <a:close/>
                </a:path>
              </a:pathLst>
            </a:custGeom>
            <a:solidFill>
              <a:srgbClr val="F0C19C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151096" cy="298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391813" y="2041769"/>
            <a:ext cx="12983936" cy="4448878"/>
          </a:xfrm>
          <a:custGeom>
            <a:avLst/>
            <a:gdLst/>
            <a:ahLst/>
            <a:cxnLst/>
            <a:rect l="l" t="t" r="r" b="b"/>
            <a:pathLst>
              <a:path w="12983936" h="4448878">
                <a:moveTo>
                  <a:pt x="0" y="0"/>
                </a:moveTo>
                <a:lnTo>
                  <a:pt x="12983936" y="0"/>
                </a:lnTo>
                <a:lnTo>
                  <a:pt x="12983936" y="4448878"/>
                </a:lnTo>
                <a:lnTo>
                  <a:pt x="0" y="4448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0541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9" name="TextBox 9"/>
          <p:cNvSpPr txBox="1"/>
          <p:nvPr/>
        </p:nvSpPr>
        <p:spPr>
          <a:xfrm>
            <a:off x="3954125" y="234557"/>
            <a:ext cx="1037975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BioClinicalBERT Results: arrival_destination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91400" y="7403039"/>
            <a:ext cx="3858147" cy="1911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Accuracy = 64.7%</a:t>
            </a:r>
          </a:p>
          <a:p>
            <a:pPr algn="ctr">
              <a:lnSpc>
                <a:spcPts val="4900"/>
              </a:lnSpc>
            </a:pPr>
            <a:r>
              <a:rPr lang="en-US" sz="35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Macro F1 = 0.312</a:t>
            </a:r>
          </a:p>
          <a:p>
            <a:pPr algn="ctr">
              <a:lnSpc>
                <a:spcPts val="4900"/>
              </a:lnSpc>
            </a:pPr>
            <a:r>
              <a:rPr lang="en-US" sz="35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Weighted F1 = 0.635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04241" y="358382"/>
            <a:ext cx="11964316" cy="987429"/>
            <a:chOff x="0" y="0"/>
            <a:chExt cx="3151096" cy="260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51095" cy="260064"/>
            </a:xfrm>
            <a:custGeom>
              <a:avLst/>
              <a:gdLst/>
              <a:ahLst/>
              <a:cxnLst/>
              <a:rect l="l" t="t" r="r" b="b"/>
              <a:pathLst>
                <a:path w="3151095" h="260064">
                  <a:moveTo>
                    <a:pt x="33001" y="0"/>
                  </a:moveTo>
                  <a:lnTo>
                    <a:pt x="3118094" y="0"/>
                  </a:lnTo>
                  <a:cubicBezTo>
                    <a:pt x="3126847" y="0"/>
                    <a:pt x="3135241" y="3477"/>
                    <a:pt x="3141430" y="9666"/>
                  </a:cubicBezTo>
                  <a:cubicBezTo>
                    <a:pt x="3147619" y="15855"/>
                    <a:pt x="3151095" y="24249"/>
                    <a:pt x="3151095" y="33001"/>
                  </a:cubicBezTo>
                  <a:lnTo>
                    <a:pt x="3151095" y="227062"/>
                  </a:lnTo>
                  <a:cubicBezTo>
                    <a:pt x="3151095" y="235815"/>
                    <a:pt x="3147619" y="244209"/>
                    <a:pt x="3141430" y="250398"/>
                  </a:cubicBezTo>
                  <a:cubicBezTo>
                    <a:pt x="3135241" y="256587"/>
                    <a:pt x="3126847" y="260064"/>
                    <a:pt x="3118094" y="260064"/>
                  </a:cubicBezTo>
                  <a:lnTo>
                    <a:pt x="33001" y="260064"/>
                  </a:lnTo>
                  <a:cubicBezTo>
                    <a:pt x="24249" y="260064"/>
                    <a:pt x="15855" y="256587"/>
                    <a:pt x="9666" y="250398"/>
                  </a:cubicBezTo>
                  <a:cubicBezTo>
                    <a:pt x="3477" y="244209"/>
                    <a:pt x="0" y="235815"/>
                    <a:pt x="0" y="227062"/>
                  </a:cubicBezTo>
                  <a:lnTo>
                    <a:pt x="0" y="33001"/>
                  </a:lnTo>
                  <a:cubicBezTo>
                    <a:pt x="0" y="24249"/>
                    <a:pt x="3477" y="15855"/>
                    <a:pt x="9666" y="9666"/>
                  </a:cubicBezTo>
                  <a:cubicBezTo>
                    <a:pt x="15855" y="3477"/>
                    <a:pt x="24249" y="0"/>
                    <a:pt x="33001" y="0"/>
                  </a:cubicBezTo>
                  <a:close/>
                </a:path>
              </a:pathLst>
            </a:custGeom>
            <a:solidFill>
              <a:srgbClr val="F0C19C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151096" cy="298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76954" y="1869054"/>
            <a:ext cx="16482346" cy="8158761"/>
          </a:xfrm>
          <a:custGeom>
            <a:avLst/>
            <a:gdLst/>
            <a:ahLst/>
            <a:cxnLst/>
            <a:rect l="l" t="t" r="r" b="b"/>
            <a:pathLst>
              <a:path w="16482346" h="8158761">
                <a:moveTo>
                  <a:pt x="0" y="0"/>
                </a:moveTo>
                <a:lnTo>
                  <a:pt x="16482346" y="0"/>
                </a:lnTo>
                <a:lnTo>
                  <a:pt x="16482346" y="8158762"/>
                </a:lnTo>
                <a:lnTo>
                  <a:pt x="0" y="81587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6" name="TextBox 6"/>
          <p:cNvSpPr txBox="1"/>
          <p:nvPr/>
        </p:nvSpPr>
        <p:spPr>
          <a:xfrm>
            <a:off x="3954125" y="234557"/>
            <a:ext cx="1037975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BioClinicalBERT Results: arrival_destination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9945" y="4559556"/>
            <a:ext cx="4011616" cy="2751323"/>
            <a:chOff x="0" y="0"/>
            <a:chExt cx="1056557" cy="7246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6557" cy="724628"/>
            </a:xfrm>
            <a:custGeom>
              <a:avLst/>
              <a:gdLst/>
              <a:ahLst/>
              <a:cxnLst/>
              <a:rect l="l" t="t" r="r" b="b"/>
              <a:pathLst>
                <a:path w="1056557" h="724628">
                  <a:moveTo>
                    <a:pt x="98424" y="0"/>
                  </a:moveTo>
                  <a:lnTo>
                    <a:pt x="958134" y="0"/>
                  </a:lnTo>
                  <a:cubicBezTo>
                    <a:pt x="1012492" y="0"/>
                    <a:pt x="1056557" y="44066"/>
                    <a:pt x="1056557" y="98424"/>
                  </a:cubicBezTo>
                  <a:lnTo>
                    <a:pt x="1056557" y="626205"/>
                  </a:lnTo>
                  <a:cubicBezTo>
                    <a:pt x="1056557" y="680563"/>
                    <a:pt x="1012492" y="724628"/>
                    <a:pt x="958134" y="724628"/>
                  </a:cubicBezTo>
                  <a:lnTo>
                    <a:pt x="98424" y="724628"/>
                  </a:lnTo>
                  <a:cubicBezTo>
                    <a:pt x="44066" y="724628"/>
                    <a:pt x="0" y="680563"/>
                    <a:pt x="0" y="626205"/>
                  </a:cubicBezTo>
                  <a:lnTo>
                    <a:pt x="0" y="98424"/>
                  </a:lnTo>
                  <a:cubicBezTo>
                    <a:pt x="0" y="44066"/>
                    <a:pt x="44066" y="0"/>
                    <a:pt x="98424" y="0"/>
                  </a:cubicBezTo>
                  <a:close/>
                </a:path>
              </a:pathLst>
            </a:custGeom>
            <a:solidFill>
              <a:srgbClr val="F4DDB8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56557" cy="762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458633" y="386648"/>
            <a:ext cx="11483797" cy="959164"/>
            <a:chOff x="0" y="0"/>
            <a:chExt cx="3024539" cy="2526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24539" cy="252619"/>
            </a:xfrm>
            <a:custGeom>
              <a:avLst/>
              <a:gdLst/>
              <a:ahLst/>
              <a:cxnLst/>
              <a:rect l="l" t="t" r="r" b="b"/>
              <a:pathLst>
                <a:path w="3024539" h="252619">
                  <a:moveTo>
                    <a:pt x="34382" y="0"/>
                  </a:moveTo>
                  <a:lnTo>
                    <a:pt x="2990157" y="0"/>
                  </a:lnTo>
                  <a:cubicBezTo>
                    <a:pt x="3009146" y="0"/>
                    <a:pt x="3024539" y="15393"/>
                    <a:pt x="3024539" y="34382"/>
                  </a:cubicBezTo>
                  <a:lnTo>
                    <a:pt x="3024539" y="218237"/>
                  </a:lnTo>
                  <a:cubicBezTo>
                    <a:pt x="3024539" y="227356"/>
                    <a:pt x="3020917" y="236101"/>
                    <a:pt x="3014469" y="242549"/>
                  </a:cubicBezTo>
                  <a:cubicBezTo>
                    <a:pt x="3008021" y="248997"/>
                    <a:pt x="2999276" y="252619"/>
                    <a:pt x="2990157" y="252619"/>
                  </a:cubicBezTo>
                  <a:lnTo>
                    <a:pt x="34382" y="252619"/>
                  </a:lnTo>
                  <a:cubicBezTo>
                    <a:pt x="25263" y="252619"/>
                    <a:pt x="16518" y="248997"/>
                    <a:pt x="10070" y="242549"/>
                  </a:cubicBezTo>
                  <a:cubicBezTo>
                    <a:pt x="3622" y="236101"/>
                    <a:pt x="0" y="227356"/>
                    <a:pt x="0" y="218237"/>
                  </a:cubicBezTo>
                  <a:lnTo>
                    <a:pt x="0" y="34382"/>
                  </a:lnTo>
                  <a:cubicBezTo>
                    <a:pt x="0" y="25263"/>
                    <a:pt x="3622" y="16518"/>
                    <a:pt x="10070" y="10070"/>
                  </a:cubicBezTo>
                  <a:cubicBezTo>
                    <a:pt x="16518" y="3622"/>
                    <a:pt x="25263" y="0"/>
                    <a:pt x="34382" y="0"/>
                  </a:cubicBezTo>
                  <a:close/>
                </a:path>
              </a:pathLst>
            </a:custGeom>
            <a:solidFill>
              <a:srgbClr val="F0C19C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024539" cy="2907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4629092" y="1930451"/>
            <a:ext cx="13199220" cy="8066065"/>
          </a:xfrm>
          <a:custGeom>
            <a:avLst/>
            <a:gdLst/>
            <a:ahLst/>
            <a:cxnLst/>
            <a:rect l="l" t="t" r="r" b="b"/>
            <a:pathLst>
              <a:path w="13199220" h="8066065">
                <a:moveTo>
                  <a:pt x="0" y="0"/>
                </a:moveTo>
                <a:lnTo>
                  <a:pt x="13199220" y="0"/>
                </a:lnTo>
                <a:lnTo>
                  <a:pt x="13199220" y="8066065"/>
                </a:lnTo>
                <a:lnTo>
                  <a:pt x="0" y="80660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00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9" name="TextBox 9"/>
          <p:cNvSpPr txBox="1"/>
          <p:nvPr/>
        </p:nvSpPr>
        <p:spPr>
          <a:xfrm>
            <a:off x="3962400" y="234557"/>
            <a:ext cx="10151924" cy="9496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sz="5899" dirty="0" err="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BioClinicalBERT</a:t>
            </a:r>
            <a:r>
              <a:rPr lang="en-US" sz="5899" dirty="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Results: </a:t>
            </a:r>
            <a:r>
              <a:rPr lang="en-US" sz="5899" dirty="0" err="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specialty_consult</a:t>
            </a:r>
            <a:endParaRPr lang="en-US" sz="5899" dirty="0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09946" y="4908105"/>
            <a:ext cx="3879792" cy="1911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Accuracy = 65.7%</a:t>
            </a:r>
          </a:p>
          <a:p>
            <a:pPr algn="ctr">
              <a:lnSpc>
                <a:spcPts val="4900"/>
              </a:lnSpc>
            </a:pPr>
            <a:r>
              <a:rPr lang="en-US" sz="35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Macro F1 = 0.497</a:t>
            </a:r>
          </a:p>
          <a:p>
            <a:pPr algn="ctr">
              <a:lnSpc>
                <a:spcPts val="4900"/>
              </a:lnSpc>
            </a:pPr>
            <a:r>
              <a:rPr lang="en-US" sz="35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Weighted F1 = 0.638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32560" y="1028700"/>
            <a:ext cx="14022879" cy="9306418"/>
          </a:xfrm>
          <a:custGeom>
            <a:avLst/>
            <a:gdLst/>
            <a:ahLst/>
            <a:cxnLst/>
            <a:rect l="l" t="t" r="r" b="b"/>
            <a:pathLst>
              <a:path w="14022879" h="9306418">
                <a:moveTo>
                  <a:pt x="0" y="0"/>
                </a:moveTo>
                <a:lnTo>
                  <a:pt x="14022880" y="0"/>
                </a:lnTo>
                <a:lnTo>
                  <a:pt x="14022880" y="9306418"/>
                </a:lnTo>
                <a:lnTo>
                  <a:pt x="0" y="93064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" b="-100"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3" name="Group 3"/>
          <p:cNvGrpSpPr/>
          <p:nvPr/>
        </p:nvGrpSpPr>
        <p:grpSpPr>
          <a:xfrm>
            <a:off x="3797824" y="239131"/>
            <a:ext cx="10098770" cy="733037"/>
            <a:chOff x="0" y="0"/>
            <a:chExt cx="2659758" cy="1930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59758" cy="193063"/>
            </a:xfrm>
            <a:custGeom>
              <a:avLst/>
              <a:gdLst/>
              <a:ahLst/>
              <a:cxnLst/>
              <a:rect l="l" t="t" r="r" b="b"/>
              <a:pathLst>
                <a:path w="2659758" h="193063">
                  <a:moveTo>
                    <a:pt x="39098" y="0"/>
                  </a:moveTo>
                  <a:lnTo>
                    <a:pt x="2620661" y="0"/>
                  </a:lnTo>
                  <a:cubicBezTo>
                    <a:pt x="2642254" y="0"/>
                    <a:pt x="2659758" y="17505"/>
                    <a:pt x="2659758" y="39098"/>
                  </a:cubicBezTo>
                  <a:lnTo>
                    <a:pt x="2659758" y="153966"/>
                  </a:lnTo>
                  <a:cubicBezTo>
                    <a:pt x="2659758" y="175559"/>
                    <a:pt x="2642254" y="193063"/>
                    <a:pt x="2620661" y="193063"/>
                  </a:cubicBezTo>
                  <a:lnTo>
                    <a:pt x="39098" y="193063"/>
                  </a:lnTo>
                  <a:cubicBezTo>
                    <a:pt x="17505" y="193063"/>
                    <a:pt x="0" y="175559"/>
                    <a:pt x="0" y="153966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solidFill>
              <a:srgbClr val="F0C19C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659758" cy="231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648200" y="124831"/>
            <a:ext cx="8707933" cy="8015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dirty="0" err="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BioClinicalBERT</a:t>
            </a:r>
            <a:r>
              <a:rPr lang="en-US" sz="5000" dirty="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Results: </a:t>
            </a:r>
            <a:r>
              <a:rPr lang="en-US" sz="5000" dirty="0" err="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specialty_consult</a:t>
            </a:r>
            <a:endParaRPr lang="en-US" sz="5000" dirty="0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426814" y="748326"/>
          <a:ext cx="17434371" cy="8790349"/>
        </p:xfrm>
        <a:graphic>
          <a:graphicData uri="http://schemas.openxmlformats.org/drawingml/2006/table">
            <a:tbl>
              <a:tblPr/>
              <a:tblGrid>
                <a:gridCol w="4246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9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8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395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74193">
                <a:tc>
                  <a:txBody>
                    <a:bodyPr/>
                    <a:lstStyle/>
                    <a:p>
                      <a:pPr algn="ctr">
                        <a:lnSpc>
                          <a:spcPts val="69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0"/>
                        </a:lnSpc>
                        <a:defRPr/>
                      </a:pPr>
                      <a:r>
                        <a:rPr lang="en-US" sz="5000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Target Label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0"/>
                        </a:lnSpc>
                        <a:defRPr/>
                      </a:pPr>
                      <a:r>
                        <a:rPr lang="en-US" sz="5000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0"/>
                        </a:lnSpc>
                        <a:defRPr/>
                      </a:pPr>
                      <a:r>
                        <a:rPr lang="en-US" sz="5000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Macro F1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0"/>
                        </a:lnSpc>
                        <a:defRPr/>
                      </a:pPr>
                      <a:r>
                        <a:rPr lang="en-US" sz="5000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Weighted F1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4184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TF-IDF + Logistic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r">
                        <a:lnSpc>
                          <a:spcPts val="5040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arrival_destination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0.681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0.330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0.664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5743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BioClinicalBERT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r">
                        <a:lnSpc>
                          <a:spcPts val="5040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arrival_destination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0.647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0.312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0.635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8467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TF-IDF + Logistic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specialty_consult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0.619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0.452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0.622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7762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BioClinicalBERT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specialty_consult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0.657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0.497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0.638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Freeform 3"/>
          <p:cNvSpPr/>
          <p:nvPr/>
        </p:nvSpPr>
        <p:spPr>
          <a:xfrm flipH="1">
            <a:off x="-480228" y="0"/>
            <a:ext cx="1814085" cy="2277961"/>
          </a:xfrm>
          <a:custGeom>
            <a:avLst/>
            <a:gdLst/>
            <a:ahLst/>
            <a:cxnLst/>
            <a:rect l="l" t="t" r="r" b="b"/>
            <a:pathLst>
              <a:path w="1814085" h="2277961">
                <a:moveTo>
                  <a:pt x="1814085" y="0"/>
                </a:moveTo>
                <a:lnTo>
                  <a:pt x="0" y="0"/>
                </a:lnTo>
                <a:lnTo>
                  <a:pt x="0" y="2277961"/>
                </a:lnTo>
                <a:lnTo>
                  <a:pt x="1814085" y="2277961"/>
                </a:lnTo>
                <a:lnTo>
                  <a:pt x="1814085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 flipH="1">
            <a:off x="16753532" y="8119320"/>
            <a:ext cx="1814085" cy="2277961"/>
          </a:xfrm>
          <a:custGeom>
            <a:avLst/>
            <a:gdLst/>
            <a:ahLst/>
            <a:cxnLst/>
            <a:rect l="l" t="t" r="r" b="b"/>
            <a:pathLst>
              <a:path w="1814085" h="2277961">
                <a:moveTo>
                  <a:pt x="1814085" y="0"/>
                </a:moveTo>
                <a:lnTo>
                  <a:pt x="0" y="0"/>
                </a:lnTo>
                <a:lnTo>
                  <a:pt x="0" y="2277960"/>
                </a:lnTo>
                <a:lnTo>
                  <a:pt x="1814085" y="2277960"/>
                </a:lnTo>
                <a:lnTo>
                  <a:pt x="1814085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560364" y="1249097"/>
            <a:ext cx="6953329" cy="2851983"/>
            <a:chOff x="0" y="0"/>
            <a:chExt cx="1913947" cy="7850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948" cy="785026"/>
            </a:xfrm>
            <a:custGeom>
              <a:avLst/>
              <a:gdLst/>
              <a:ahLst/>
              <a:cxnLst/>
              <a:rect l="l" t="t" r="r" b="b"/>
              <a:pathLst>
                <a:path w="1913948" h="785026">
                  <a:moveTo>
                    <a:pt x="111341" y="0"/>
                  </a:moveTo>
                  <a:lnTo>
                    <a:pt x="1802606" y="0"/>
                  </a:lnTo>
                  <a:cubicBezTo>
                    <a:pt x="1832136" y="0"/>
                    <a:pt x="1860456" y="11731"/>
                    <a:pt x="1881337" y="32611"/>
                  </a:cubicBezTo>
                  <a:cubicBezTo>
                    <a:pt x="1902217" y="53492"/>
                    <a:pt x="1913948" y="81812"/>
                    <a:pt x="1913948" y="111341"/>
                  </a:cubicBezTo>
                  <a:lnTo>
                    <a:pt x="1913948" y="673685"/>
                  </a:lnTo>
                  <a:cubicBezTo>
                    <a:pt x="1913948" y="735177"/>
                    <a:pt x="1864098" y="785026"/>
                    <a:pt x="1802606" y="785026"/>
                  </a:cubicBezTo>
                  <a:lnTo>
                    <a:pt x="111341" y="785026"/>
                  </a:lnTo>
                  <a:cubicBezTo>
                    <a:pt x="81812" y="785026"/>
                    <a:pt x="53492" y="773296"/>
                    <a:pt x="32611" y="752415"/>
                  </a:cubicBezTo>
                  <a:cubicBezTo>
                    <a:pt x="11731" y="731535"/>
                    <a:pt x="0" y="703215"/>
                    <a:pt x="0" y="673685"/>
                  </a:cubicBezTo>
                  <a:lnTo>
                    <a:pt x="0" y="111341"/>
                  </a:lnTo>
                  <a:cubicBezTo>
                    <a:pt x="0" y="49849"/>
                    <a:pt x="49849" y="0"/>
                    <a:pt x="111341" y="0"/>
                  </a:cubicBezTo>
                  <a:close/>
                </a:path>
              </a:pathLst>
            </a:custGeom>
            <a:solidFill>
              <a:srgbClr val="6BA286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913947" cy="823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758232" y="1804513"/>
            <a:ext cx="6501068" cy="1674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90"/>
              </a:lnSpc>
              <a:spcBef>
                <a:spcPct val="0"/>
              </a:spcBef>
            </a:pPr>
            <a:r>
              <a:rPr lang="en-US" sz="3575" spc="225">
                <a:solidFill>
                  <a:srgbClr val="FEFEFF"/>
                </a:solidFill>
                <a:latin typeface="Handyman"/>
                <a:ea typeface="Handyman"/>
                <a:cs typeface="Handyman"/>
                <a:sym typeface="Handyman"/>
              </a:rPr>
              <a:t>Clean vs ASR: Ev</a:t>
            </a:r>
            <a:r>
              <a:rPr lang="en-US" sz="3575" u="none" strike="noStrike" spc="225">
                <a:solidFill>
                  <a:srgbClr val="FEFEFF"/>
                </a:solidFill>
                <a:latin typeface="Handyman"/>
                <a:ea typeface="Handyman"/>
                <a:cs typeface="Handyman"/>
                <a:sym typeface="Handyman"/>
              </a:rPr>
              <a:t>aluate the best trained models on clean text and noisy ASR transcripts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4749" y="437364"/>
            <a:ext cx="8739251" cy="4972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10000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PLAN TOWARD FINAL SUBMISSION</a:t>
            </a:r>
          </a:p>
          <a:p>
            <a:pPr algn="l">
              <a:lnSpc>
                <a:spcPts val="9600"/>
              </a:lnSpc>
            </a:pPr>
            <a:endParaRPr lang="en-US" sz="10000">
              <a:solidFill>
                <a:srgbClr val="553D3D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 algn="l">
              <a:lnSpc>
                <a:spcPts val="9600"/>
              </a:lnSpc>
            </a:pPr>
            <a:endParaRPr lang="en-US" sz="10000">
              <a:solidFill>
                <a:srgbClr val="553D3D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7" name="Freeform 7"/>
          <p:cNvSpPr/>
          <p:nvPr/>
        </p:nvSpPr>
        <p:spPr>
          <a:xfrm rot="8398432" flipH="1">
            <a:off x="3542005" y="5669948"/>
            <a:ext cx="11571907" cy="10099118"/>
          </a:xfrm>
          <a:custGeom>
            <a:avLst/>
            <a:gdLst/>
            <a:ahLst/>
            <a:cxnLst/>
            <a:rect l="l" t="t" r="r" b="b"/>
            <a:pathLst>
              <a:path w="11571907" h="10099118">
                <a:moveTo>
                  <a:pt x="11571907" y="0"/>
                </a:moveTo>
                <a:lnTo>
                  <a:pt x="0" y="0"/>
                </a:lnTo>
                <a:lnTo>
                  <a:pt x="0" y="10099119"/>
                </a:lnTo>
                <a:lnTo>
                  <a:pt x="11571907" y="10099119"/>
                </a:lnTo>
                <a:lnTo>
                  <a:pt x="1157190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8" name="Freeform 8"/>
          <p:cNvSpPr/>
          <p:nvPr/>
        </p:nvSpPr>
        <p:spPr>
          <a:xfrm>
            <a:off x="453154" y="4569915"/>
            <a:ext cx="3895981" cy="4473465"/>
          </a:xfrm>
          <a:custGeom>
            <a:avLst/>
            <a:gdLst/>
            <a:ahLst/>
            <a:cxnLst/>
            <a:rect l="l" t="t" r="r" b="b"/>
            <a:pathLst>
              <a:path w="3895981" h="4473465">
                <a:moveTo>
                  <a:pt x="0" y="0"/>
                </a:moveTo>
                <a:lnTo>
                  <a:pt x="3895981" y="0"/>
                </a:lnTo>
                <a:lnTo>
                  <a:pt x="3895981" y="4473465"/>
                </a:lnTo>
                <a:lnTo>
                  <a:pt x="0" y="44734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9" name="Freeform 9"/>
          <p:cNvSpPr/>
          <p:nvPr/>
        </p:nvSpPr>
        <p:spPr>
          <a:xfrm rot="-5697878" flipH="1">
            <a:off x="-170001" y="7105405"/>
            <a:ext cx="3639601" cy="3315346"/>
          </a:xfrm>
          <a:custGeom>
            <a:avLst/>
            <a:gdLst/>
            <a:ahLst/>
            <a:cxnLst/>
            <a:rect l="l" t="t" r="r" b="b"/>
            <a:pathLst>
              <a:path w="3639601" h="3315346">
                <a:moveTo>
                  <a:pt x="3639601" y="0"/>
                </a:moveTo>
                <a:lnTo>
                  <a:pt x="0" y="0"/>
                </a:lnTo>
                <a:lnTo>
                  <a:pt x="0" y="3315346"/>
                </a:lnTo>
                <a:lnTo>
                  <a:pt x="3639601" y="3315346"/>
                </a:lnTo>
                <a:lnTo>
                  <a:pt x="363960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10" name="Group 10"/>
          <p:cNvGrpSpPr/>
          <p:nvPr/>
        </p:nvGrpSpPr>
        <p:grpSpPr>
          <a:xfrm>
            <a:off x="10560364" y="4708960"/>
            <a:ext cx="7465448" cy="3523680"/>
            <a:chOff x="0" y="0"/>
            <a:chExt cx="2054912" cy="9699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54912" cy="969915"/>
            </a:xfrm>
            <a:custGeom>
              <a:avLst/>
              <a:gdLst/>
              <a:ahLst/>
              <a:cxnLst/>
              <a:rect l="l" t="t" r="r" b="b"/>
              <a:pathLst>
                <a:path w="2054912" h="969915">
                  <a:moveTo>
                    <a:pt x="103703" y="0"/>
                  </a:moveTo>
                  <a:lnTo>
                    <a:pt x="1951208" y="0"/>
                  </a:lnTo>
                  <a:cubicBezTo>
                    <a:pt x="2008482" y="0"/>
                    <a:pt x="2054912" y="46430"/>
                    <a:pt x="2054912" y="103703"/>
                  </a:cubicBezTo>
                  <a:lnTo>
                    <a:pt x="2054912" y="866212"/>
                  </a:lnTo>
                  <a:cubicBezTo>
                    <a:pt x="2054912" y="893716"/>
                    <a:pt x="2043986" y="920093"/>
                    <a:pt x="2024538" y="939541"/>
                  </a:cubicBezTo>
                  <a:cubicBezTo>
                    <a:pt x="2005089" y="958989"/>
                    <a:pt x="1978712" y="969915"/>
                    <a:pt x="1951208" y="969915"/>
                  </a:cubicBezTo>
                  <a:lnTo>
                    <a:pt x="103703" y="969915"/>
                  </a:lnTo>
                  <a:cubicBezTo>
                    <a:pt x="46430" y="969915"/>
                    <a:pt x="0" y="923485"/>
                    <a:pt x="0" y="866212"/>
                  </a:cubicBezTo>
                  <a:lnTo>
                    <a:pt x="0" y="103703"/>
                  </a:lnTo>
                  <a:cubicBezTo>
                    <a:pt x="0" y="46430"/>
                    <a:pt x="46430" y="0"/>
                    <a:pt x="103703" y="0"/>
                  </a:cubicBezTo>
                  <a:close/>
                </a:path>
              </a:pathLst>
            </a:custGeom>
            <a:solidFill>
              <a:srgbClr val="6BA286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054912" cy="1008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758232" y="5076825"/>
            <a:ext cx="6953329" cy="2276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96"/>
              </a:lnSpc>
              <a:spcBef>
                <a:spcPct val="0"/>
              </a:spcBef>
            </a:pPr>
            <a:r>
              <a:rPr lang="en-US" sz="3663" spc="230">
                <a:solidFill>
                  <a:srgbClr val="FEFEFF"/>
                </a:solidFill>
                <a:latin typeface="Handyman"/>
                <a:ea typeface="Handyman"/>
                <a:cs typeface="Handyman"/>
                <a:sym typeface="Handyman"/>
              </a:rPr>
              <a:t>Improv</a:t>
            </a:r>
            <a:r>
              <a:rPr lang="en-US" sz="3663" u="none" strike="noStrike" spc="230">
                <a:solidFill>
                  <a:srgbClr val="FEFEFF"/>
                </a:solidFill>
                <a:latin typeface="Handyman"/>
                <a:ea typeface="Handyman"/>
                <a:cs typeface="Handyman"/>
                <a:sym typeface="Handyman"/>
              </a:rPr>
              <a:t>e rare class performance:</a:t>
            </a:r>
          </a:p>
          <a:p>
            <a:pPr marL="0" lvl="0" indent="0" algn="ctr">
              <a:lnSpc>
                <a:spcPts val="4396"/>
              </a:lnSpc>
              <a:spcBef>
                <a:spcPct val="0"/>
              </a:spcBef>
            </a:pPr>
            <a:r>
              <a:rPr lang="en-US" sz="3663" u="none" strike="noStrike" spc="230">
                <a:solidFill>
                  <a:srgbClr val="FEFEFF"/>
                </a:solidFill>
                <a:latin typeface="Handyman"/>
                <a:ea typeface="Handyman"/>
                <a:cs typeface="Handyman"/>
                <a:sym typeface="Handyman"/>
              </a:rPr>
              <a:t> using class weights. </a:t>
            </a:r>
          </a:p>
          <a:p>
            <a:pPr marL="0" lvl="0" indent="0" algn="ctr">
              <a:lnSpc>
                <a:spcPts val="4396"/>
              </a:lnSpc>
              <a:spcBef>
                <a:spcPct val="0"/>
              </a:spcBef>
            </a:pPr>
            <a:r>
              <a:rPr lang="en-US" sz="3663" u="none" strike="noStrike" spc="230">
                <a:solidFill>
                  <a:srgbClr val="FEFEFF"/>
                </a:solidFill>
                <a:latin typeface="Handyman"/>
                <a:ea typeface="Handyman"/>
                <a:cs typeface="Handyman"/>
                <a:sym typeface="Handyman"/>
              </a:rPr>
              <a:t> Controlled oversampling / Text augmentation. 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401145" y="3395673"/>
            <a:ext cx="6953329" cy="2851983"/>
            <a:chOff x="0" y="0"/>
            <a:chExt cx="1913947" cy="7850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13948" cy="785026"/>
            </a:xfrm>
            <a:custGeom>
              <a:avLst/>
              <a:gdLst/>
              <a:ahLst/>
              <a:cxnLst/>
              <a:rect l="l" t="t" r="r" b="b"/>
              <a:pathLst>
                <a:path w="1913948" h="785026">
                  <a:moveTo>
                    <a:pt x="111341" y="0"/>
                  </a:moveTo>
                  <a:lnTo>
                    <a:pt x="1802606" y="0"/>
                  </a:lnTo>
                  <a:cubicBezTo>
                    <a:pt x="1832136" y="0"/>
                    <a:pt x="1860456" y="11731"/>
                    <a:pt x="1881337" y="32611"/>
                  </a:cubicBezTo>
                  <a:cubicBezTo>
                    <a:pt x="1902217" y="53492"/>
                    <a:pt x="1913948" y="81812"/>
                    <a:pt x="1913948" y="111341"/>
                  </a:cubicBezTo>
                  <a:lnTo>
                    <a:pt x="1913948" y="673685"/>
                  </a:lnTo>
                  <a:cubicBezTo>
                    <a:pt x="1913948" y="735177"/>
                    <a:pt x="1864098" y="785026"/>
                    <a:pt x="1802606" y="785026"/>
                  </a:cubicBezTo>
                  <a:lnTo>
                    <a:pt x="111341" y="785026"/>
                  </a:lnTo>
                  <a:cubicBezTo>
                    <a:pt x="81812" y="785026"/>
                    <a:pt x="53492" y="773296"/>
                    <a:pt x="32611" y="752415"/>
                  </a:cubicBezTo>
                  <a:cubicBezTo>
                    <a:pt x="11731" y="731535"/>
                    <a:pt x="0" y="703215"/>
                    <a:pt x="0" y="673685"/>
                  </a:cubicBezTo>
                  <a:lnTo>
                    <a:pt x="0" y="111341"/>
                  </a:lnTo>
                  <a:cubicBezTo>
                    <a:pt x="0" y="49849"/>
                    <a:pt x="49849" y="0"/>
                    <a:pt x="111341" y="0"/>
                  </a:cubicBezTo>
                  <a:close/>
                </a:path>
              </a:pathLst>
            </a:custGeom>
            <a:solidFill>
              <a:srgbClr val="6BA286">
                <a:alpha val="90980"/>
              </a:srgbClr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913947" cy="823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627275" y="4145389"/>
            <a:ext cx="6501068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50"/>
              </a:lnSpc>
              <a:spcBef>
                <a:spcPct val="0"/>
              </a:spcBef>
            </a:pPr>
            <a:r>
              <a:rPr lang="en-US" sz="3875" spc="244">
                <a:solidFill>
                  <a:srgbClr val="FEFEFF"/>
                </a:solidFill>
                <a:latin typeface="Handyman"/>
                <a:ea typeface="Handyman"/>
                <a:cs typeface="Handyman"/>
                <a:sym typeface="Handyman"/>
              </a:rPr>
              <a:t>Mod</a:t>
            </a:r>
            <a:r>
              <a:rPr lang="en-US" sz="3875" u="none" strike="noStrike" spc="244">
                <a:solidFill>
                  <a:srgbClr val="FEFEFF"/>
                </a:solidFill>
                <a:latin typeface="Handyman"/>
                <a:ea typeface="Handyman"/>
                <a:cs typeface="Handyman"/>
                <a:sym typeface="Handyman"/>
              </a:rPr>
              <a:t>el tuning: Try more epochs, lower learning rate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3458741" y="6806648"/>
            <a:ext cx="6953329" cy="2851983"/>
            <a:chOff x="0" y="0"/>
            <a:chExt cx="1913947" cy="78502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13948" cy="785026"/>
            </a:xfrm>
            <a:custGeom>
              <a:avLst/>
              <a:gdLst/>
              <a:ahLst/>
              <a:cxnLst/>
              <a:rect l="l" t="t" r="r" b="b"/>
              <a:pathLst>
                <a:path w="1913948" h="785026">
                  <a:moveTo>
                    <a:pt x="111341" y="0"/>
                  </a:moveTo>
                  <a:lnTo>
                    <a:pt x="1802606" y="0"/>
                  </a:lnTo>
                  <a:cubicBezTo>
                    <a:pt x="1832136" y="0"/>
                    <a:pt x="1860456" y="11731"/>
                    <a:pt x="1881337" y="32611"/>
                  </a:cubicBezTo>
                  <a:cubicBezTo>
                    <a:pt x="1902217" y="53492"/>
                    <a:pt x="1913948" y="81812"/>
                    <a:pt x="1913948" y="111341"/>
                  </a:cubicBezTo>
                  <a:lnTo>
                    <a:pt x="1913948" y="673685"/>
                  </a:lnTo>
                  <a:cubicBezTo>
                    <a:pt x="1913948" y="735177"/>
                    <a:pt x="1864098" y="785026"/>
                    <a:pt x="1802606" y="785026"/>
                  </a:cubicBezTo>
                  <a:lnTo>
                    <a:pt x="111341" y="785026"/>
                  </a:lnTo>
                  <a:cubicBezTo>
                    <a:pt x="81812" y="785026"/>
                    <a:pt x="53492" y="773296"/>
                    <a:pt x="32611" y="752415"/>
                  </a:cubicBezTo>
                  <a:cubicBezTo>
                    <a:pt x="11731" y="731535"/>
                    <a:pt x="0" y="703215"/>
                    <a:pt x="0" y="673685"/>
                  </a:cubicBezTo>
                  <a:lnTo>
                    <a:pt x="0" y="111341"/>
                  </a:lnTo>
                  <a:cubicBezTo>
                    <a:pt x="0" y="49849"/>
                    <a:pt x="49849" y="0"/>
                    <a:pt x="111341" y="0"/>
                  </a:cubicBezTo>
                  <a:close/>
                </a:path>
              </a:pathLst>
            </a:custGeom>
            <a:solidFill>
              <a:srgbClr val="6BA286">
                <a:alpha val="91765"/>
              </a:srgbClr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913947" cy="823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3684871" y="7556364"/>
            <a:ext cx="6501068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50"/>
              </a:lnSpc>
              <a:spcBef>
                <a:spcPct val="0"/>
              </a:spcBef>
            </a:pPr>
            <a:r>
              <a:rPr lang="en-US" sz="3875" u="none" strike="noStrike" spc="244">
                <a:solidFill>
                  <a:srgbClr val="FEFEFF"/>
                </a:solidFill>
                <a:latin typeface="Handyman"/>
                <a:ea typeface="Handyman"/>
                <a:cs typeface="Handyman"/>
                <a:sym typeface="Handyman"/>
              </a:rPr>
              <a:t> Perform error analysis using  confusion matrices.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1289</Words>
  <Application>Microsoft Office PowerPoint</Application>
  <PresentationFormat>מותאם אישית</PresentationFormat>
  <Paragraphs>226</Paragraphs>
  <Slides>29</Slides>
  <Notes>0</Notes>
  <HiddenSlides>0</HiddenSlides>
  <MMClips>0</MMClips>
  <ScaleCrop>false</ScaleCrop>
  <HeadingPairs>
    <vt:vector size="8" baseType="variant">
      <vt:variant>
        <vt:lpstr>גופנים בשימוש</vt:lpstr>
      </vt:variant>
      <vt:variant>
        <vt:i4>11</vt:i4>
      </vt:variant>
      <vt:variant>
        <vt:lpstr>ערכת נושא</vt:lpstr>
      </vt:variant>
      <vt:variant>
        <vt:i4>1</vt:i4>
      </vt:variant>
      <vt:variant>
        <vt:lpstr>שרתי OLE מוטבעים</vt:lpstr>
      </vt:variant>
      <vt:variant>
        <vt:i4>1</vt:i4>
      </vt:variant>
      <vt:variant>
        <vt:lpstr>כותרות שקופיות</vt:lpstr>
      </vt:variant>
      <vt:variant>
        <vt:i4>29</vt:i4>
      </vt:variant>
    </vt:vector>
  </HeadingPairs>
  <TitlesOfParts>
    <vt:vector size="42" baseType="lpstr">
      <vt:lpstr>Arimo</vt:lpstr>
      <vt:lpstr>Calibri (MS) Italics</vt:lpstr>
      <vt:lpstr>Calibri (MS) Bold</vt:lpstr>
      <vt:lpstr>Calibri (MS) Bold Italics</vt:lpstr>
      <vt:lpstr>Arial</vt:lpstr>
      <vt:lpstr>Calibri (MS)</vt:lpstr>
      <vt:lpstr>Arimo Bold</vt:lpstr>
      <vt:lpstr>Handy Casual</vt:lpstr>
      <vt:lpstr>Calibri</vt:lpstr>
      <vt:lpstr>Handyman</vt:lpstr>
      <vt:lpstr>David Libre Bold</vt:lpstr>
      <vt:lpstr>Office Theme</vt:lpstr>
      <vt:lpstr>Worksheet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MedAlert</dc:title>
  <cp:lastModifiedBy>נופר הממי</cp:lastModifiedBy>
  <cp:revision>3</cp:revision>
  <dcterms:created xsi:type="dcterms:W3CDTF">2006-08-16T00:00:00Z</dcterms:created>
  <dcterms:modified xsi:type="dcterms:W3CDTF">2026-06-16T18:08:13Z</dcterms:modified>
  <dc:identifier>DAHJ1hcdOa4</dc:identifier>
</cp:coreProperties>
</file>