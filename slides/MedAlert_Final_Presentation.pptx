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8288000" cy="10287000"/>
  <p:notesSz cx="6858000" cy="9144000"/>
  <p:embeddedFontLst>
    <p:embeddedFont>
      <p:font typeface="Arimo" panose="020B0604020202020204" charset="0"/>
      <p:regular r:id="rId32"/>
    </p:embeddedFont>
    <p:embeddedFont>
      <p:font typeface="Arimo Bold" panose="020B0604020202020204" charset="0"/>
      <p:regular r:id="rId33"/>
    </p:embeddedFont>
    <p:embeddedFont>
      <p:font typeface="Calibri (MS)" panose="020B0604020202020204" charset="0"/>
      <p:regular r:id="rId34"/>
    </p:embeddedFont>
    <p:embeddedFont>
      <p:font typeface="Calibri (MS) Bold" panose="020B0604020202020204" charset="0"/>
      <p:regular r:id="rId35"/>
    </p:embeddedFont>
    <p:embeddedFont>
      <p:font typeface="Calibri (MS) Bold Italics" panose="020B0604020202020204" charset="0"/>
      <p:regular r:id="rId36"/>
    </p:embeddedFont>
    <p:embeddedFont>
      <p:font typeface="Calibri (MS) Italics" panose="020B0604020202020204" charset="0"/>
      <p:regular r:id="rId37"/>
    </p:embeddedFont>
    <p:embeddedFont>
      <p:font typeface="David Libre" panose="020B0604020202020204" charset="-79"/>
      <p:regular r:id="rId38"/>
    </p:embeddedFont>
    <p:embeddedFont>
      <p:font typeface="David Libre Bold" panose="020B0604020202020204" charset="-79"/>
      <p:regular r:id="rId39"/>
    </p:embeddedFont>
    <p:embeddedFont>
      <p:font typeface="Handy Casual" panose="020B0604020202020204" charset="0"/>
      <p:regular r:id="rId40"/>
    </p:embeddedFont>
    <p:embeddedFont>
      <p:font typeface="Handyman" panose="020B0604020202020204" charset="0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2" d="100"/>
          <a:sy n="32" d="100"/>
        </p:scale>
        <p:origin x="86" y="6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10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jg_v28-YC5nWC8-0Iucoiau6JXERLKBA/view?usp=sharing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3494290" y="258635"/>
            <a:ext cx="11571907" cy="10099118"/>
          </a:xfrm>
          <a:custGeom>
            <a:avLst/>
            <a:gdLst/>
            <a:ahLst/>
            <a:cxnLst/>
            <a:rect l="l" t="t" r="r" b="b"/>
            <a:pathLst>
              <a:path w="11571907" h="10099118">
                <a:moveTo>
                  <a:pt x="11571907" y="0"/>
                </a:moveTo>
                <a:lnTo>
                  <a:pt x="0" y="0"/>
                </a:lnTo>
                <a:lnTo>
                  <a:pt x="0" y="10099118"/>
                </a:lnTo>
                <a:lnTo>
                  <a:pt x="11571907" y="10099118"/>
                </a:lnTo>
                <a:lnTo>
                  <a:pt x="1157190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2291663" y="2925426"/>
            <a:ext cx="3145671" cy="3157152"/>
          </a:xfrm>
          <a:custGeom>
            <a:avLst/>
            <a:gdLst/>
            <a:ahLst/>
            <a:cxnLst/>
            <a:rect l="l" t="t" r="r" b="b"/>
            <a:pathLst>
              <a:path w="3145671" h="3157152">
                <a:moveTo>
                  <a:pt x="0" y="0"/>
                </a:moveTo>
                <a:lnTo>
                  <a:pt x="3145671" y="0"/>
                </a:lnTo>
                <a:lnTo>
                  <a:pt x="3145671" y="3157151"/>
                </a:lnTo>
                <a:lnTo>
                  <a:pt x="0" y="31571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>
            <a:off x="6093927" y="1064981"/>
            <a:ext cx="2167815" cy="3080874"/>
          </a:xfrm>
          <a:custGeom>
            <a:avLst/>
            <a:gdLst/>
            <a:ahLst/>
            <a:cxnLst/>
            <a:rect l="l" t="t" r="r" b="b"/>
            <a:pathLst>
              <a:path w="2167815" h="3080874">
                <a:moveTo>
                  <a:pt x="0" y="0"/>
                </a:moveTo>
                <a:lnTo>
                  <a:pt x="2167815" y="0"/>
                </a:lnTo>
                <a:lnTo>
                  <a:pt x="2167815" y="3080874"/>
                </a:lnTo>
                <a:lnTo>
                  <a:pt x="0" y="30808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5" name="Freeform 5"/>
          <p:cNvSpPr/>
          <p:nvPr/>
        </p:nvSpPr>
        <p:spPr>
          <a:xfrm>
            <a:off x="490167" y="6308096"/>
            <a:ext cx="4542522" cy="2816364"/>
          </a:xfrm>
          <a:custGeom>
            <a:avLst/>
            <a:gdLst/>
            <a:ahLst/>
            <a:cxnLst/>
            <a:rect l="l" t="t" r="r" b="b"/>
            <a:pathLst>
              <a:path w="4542522" h="2816364">
                <a:moveTo>
                  <a:pt x="0" y="0"/>
                </a:moveTo>
                <a:lnTo>
                  <a:pt x="4542522" y="0"/>
                </a:lnTo>
                <a:lnTo>
                  <a:pt x="4542522" y="2816364"/>
                </a:lnTo>
                <a:lnTo>
                  <a:pt x="0" y="28163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6" name="Freeform 6"/>
          <p:cNvSpPr/>
          <p:nvPr/>
        </p:nvSpPr>
        <p:spPr>
          <a:xfrm rot="7340109">
            <a:off x="6032031" y="5382322"/>
            <a:ext cx="2753192" cy="3974424"/>
          </a:xfrm>
          <a:custGeom>
            <a:avLst/>
            <a:gdLst/>
            <a:ahLst/>
            <a:cxnLst/>
            <a:rect l="l" t="t" r="r" b="b"/>
            <a:pathLst>
              <a:path w="2753192" h="3974424">
                <a:moveTo>
                  <a:pt x="0" y="0"/>
                </a:moveTo>
                <a:lnTo>
                  <a:pt x="2753191" y="0"/>
                </a:lnTo>
                <a:lnTo>
                  <a:pt x="2753191" y="3974424"/>
                </a:lnTo>
                <a:lnTo>
                  <a:pt x="0" y="39744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7" name="Group 7"/>
          <p:cNvGrpSpPr/>
          <p:nvPr/>
        </p:nvGrpSpPr>
        <p:grpSpPr>
          <a:xfrm>
            <a:off x="9628038" y="886477"/>
            <a:ext cx="6711588" cy="961965"/>
            <a:chOff x="0" y="0"/>
            <a:chExt cx="1767661" cy="25335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67661" cy="253357"/>
            </a:xfrm>
            <a:custGeom>
              <a:avLst/>
              <a:gdLst/>
              <a:ahLst/>
              <a:cxnLst/>
              <a:rect l="l" t="t" r="r" b="b"/>
              <a:pathLst>
                <a:path w="1767661" h="253357">
                  <a:moveTo>
                    <a:pt x="115352" y="0"/>
                  </a:moveTo>
                  <a:lnTo>
                    <a:pt x="1652309" y="0"/>
                  </a:lnTo>
                  <a:cubicBezTo>
                    <a:pt x="1716016" y="0"/>
                    <a:pt x="1767661" y="51645"/>
                    <a:pt x="1767661" y="115352"/>
                  </a:cubicBezTo>
                  <a:lnTo>
                    <a:pt x="1767661" y="138005"/>
                  </a:lnTo>
                  <a:cubicBezTo>
                    <a:pt x="1767661" y="201712"/>
                    <a:pt x="1716016" y="253357"/>
                    <a:pt x="1652309" y="253357"/>
                  </a:cubicBezTo>
                  <a:lnTo>
                    <a:pt x="115352" y="253357"/>
                  </a:lnTo>
                  <a:cubicBezTo>
                    <a:pt x="51645" y="253357"/>
                    <a:pt x="0" y="201712"/>
                    <a:pt x="0" y="138005"/>
                  </a:cubicBezTo>
                  <a:lnTo>
                    <a:pt x="0" y="115352"/>
                  </a:lnTo>
                  <a:cubicBezTo>
                    <a:pt x="0" y="51645"/>
                    <a:pt x="51645" y="0"/>
                    <a:pt x="115352" y="0"/>
                  </a:cubicBezTo>
                  <a:close/>
                </a:path>
              </a:pathLst>
            </a:custGeom>
            <a:solidFill>
              <a:srgbClr val="6BA286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767661" cy="2914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0" y="1622387"/>
            <a:ext cx="4151306" cy="1077520"/>
          </a:xfrm>
          <a:custGeom>
            <a:avLst/>
            <a:gdLst/>
            <a:ahLst/>
            <a:cxnLst/>
            <a:rect l="l" t="t" r="r" b="b"/>
            <a:pathLst>
              <a:path w="4151306" h="1077520">
                <a:moveTo>
                  <a:pt x="0" y="0"/>
                </a:moveTo>
                <a:lnTo>
                  <a:pt x="4151306" y="0"/>
                </a:lnTo>
                <a:lnTo>
                  <a:pt x="4151306" y="1077520"/>
                </a:lnTo>
                <a:lnTo>
                  <a:pt x="0" y="1077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1" name="TextBox 11"/>
          <p:cNvSpPr txBox="1"/>
          <p:nvPr/>
        </p:nvSpPr>
        <p:spPr>
          <a:xfrm>
            <a:off x="10161803" y="873863"/>
            <a:ext cx="5782740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32"/>
              </a:lnSpc>
              <a:spcBef>
                <a:spcPct val="0"/>
              </a:spcBef>
            </a:pPr>
            <a:r>
              <a:rPr lang="en-US" sz="5277">
                <a:solidFill>
                  <a:srgbClr val="FEFEFF"/>
                </a:solidFill>
                <a:latin typeface="Handyman"/>
                <a:ea typeface="Handyman"/>
                <a:cs typeface="Handyman"/>
                <a:sym typeface="Handyman"/>
              </a:rPr>
              <a:t>MedAlert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48570" y="2595893"/>
            <a:ext cx="9070523" cy="577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19"/>
              </a:lnSpc>
              <a:spcBef>
                <a:spcPct val="0"/>
              </a:spcBef>
            </a:pPr>
            <a:r>
              <a:rPr lang="en-US" sz="7599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LLM-BASED EMS VOICE REPORT CLASSIFICATION FOR ED DECISIONS</a:t>
            </a:r>
          </a:p>
          <a:p>
            <a:pPr algn="ctr">
              <a:lnSpc>
                <a:spcPts val="9119"/>
              </a:lnSpc>
              <a:spcBef>
                <a:spcPct val="0"/>
              </a:spcBef>
            </a:pPr>
            <a:endParaRPr lang="en-US" sz="7599">
              <a:solidFill>
                <a:srgbClr val="553D3D"/>
              </a:solidFill>
              <a:latin typeface="Handy Casual"/>
              <a:ea typeface="Handy Casual"/>
              <a:cs typeface="Handy Casual"/>
              <a:sym typeface="Handy Casual"/>
            </a:endParaRPr>
          </a:p>
          <a:p>
            <a:pPr algn="ctr">
              <a:lnSpc>
                <a:spcPts val="9119"/>
              </a:lnSpc>
              <a:spcBef>
                <a:spcPct val="0"/>
              </a:spcBef>
            </a:pPr>
            <a:endParaRPr lang="en-US" sz="7599">
              <a:solidFill>
                <a:srgbClr val="553D3D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823990" y="8358518"/>
            <a:ext cx="6560334" cy="119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sz="3899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STUDENTS: </a:t>
            </a:r>
          </a:p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sz="3899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Nofar Refaeli ,Meital Gerasi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94878" y="6231896"/>
            <a:ext cx="8916591" cy="179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6B3E0A"/>
                </a:solidFill>
                <a:latin typeface="Handy Casual"/>
                <a:ea typeface="Handy Casual"/>
                <a:cs typeface="Handy Casual"/>
                <a:sym typeface="Handy Casual"/>
              </a:rPr>
              <a:t>Improving Robustness to ASR Noise with Clean and Noisy Training</a:t>
            </a:r>
          </a:p>
          <a:p>
            <a:pPr algn="ctr">
              <a:lnSpc>
                <a:spcPts val="4760"/>
              </a:lnSpc>
              <a:spcBef>
                <a:spcPct val="0"/>
              </a:spcBef>
            </a:pPr>
            <a:endParaRPr lang="en-US" sz="3400">
              <a:solidFill>
                <a:srgbClr val="6B3E0A"/>
              </a:solidFill>
              <a:latin typeface="Handy Casual"/>
              <a:ea typeface="Handy Casual"/>
              <a:cs typeface="Handy Casual"/>
              <a:sym typeface="Handy Casual"/>
            </a:endParaRPr>
          </a:p>
          <a:p>
            <a:pPr algn="ctr">
              <a:lnSpc>
                <a:spcPts val="4760"/>
              </a:lnSpc>
              <a:spcBef>
                <a:spcPct val="0"/>
              </a:spcBef>
            </a:pPr>
            <a:endParaRPr lang="en-US" sz="3400">
              <a:solidFill>
                <a:srgbClr val="6B3E0A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981139" flipH="1">
            <a:off x="8124857" y="-1831532"/>
            <a:ext cx="11571907" cy="10099118"/>
          </a:xfrm>
          <a:custGeom>
            <a:avLst/>
            <a:gdLst/>
            <a:ahLst/>
            <a:cxnLst/>
            <a:rect l="l" t="t" r="r" b="b"/>
            <a:pathLst>
              <a:path w="11571907" h="10099118">
                <a:moveTo>
                  <a:pt x="11571907" y="0"/>
                </a:moveTo>
                <a:lnTo>
                  <a:pt x="0" y="0"/>
                </a:lnTo>
                <a:lnTo>
                  <a:pt x="0" y="10099118"/>
                </a:lnTo>
                <a:lnTo>
                  <a:pt x="11571907" y="10099118"/>
                </a:lnTo>
                <a:lnTo>
                  <a:pt x="1157190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3" name="Group 3"/>
          <p:cNvGrpSpPr/>
          <p:nvPr/>
        </p:nvGrpSpPr>
        <p:grpSpPr>
          <a:xfrm>
            <a:off x="187292" y="1690752"/>
            <a:ext cx="8007673" cy="8210164"/>
            <a:chOff x="0" y="0"/>
            <a:chExt cx="2109017" cy="216234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9017" cy="2162348"/>
            </a:xfrm>
            <a:custGeom>
              <a:avLst/>
              <a:gdLst/>
              <a:ahLst/>
              <a:cxnLst/>
              <a:rect l="l" t="t" r="r" b="b"/>
              <a:pathLst>
                <a:path w="2109017" h="2162348">
                  <a:moveTo>
                    <a:pt x="96681" y="0"/>
                  </a:moveTo>
                  <a:lnTo>
                    <a:pt x="2012335" y="0"/>
                  </a:lnTo>
                  <a:cubicBezTo>
                    <a:pt x="2037977" y="0"/>
                    <a:pt x="2062568" y="10186"/>
                    <a:pt x="2080699" y="28317"/>
                  </a:cubicBezTo>
                  <a:cubicBezTo>
                    <a:pt x="2098831" y="46449"/>
                    <a:pt x="2109017" y="71040"/>
                    <a:pt x="2109017" y="96681"/>
                  </a:cubicBezTo>
                  <a:lnTo>
                    <a:pt x="2109017" y="2065667"/>
                  </a:lnTo>
                  <a:cubicBezTo>
                    <a:pt x="2109017" y="2091308"/>
                    <a:pt x="2098831" y="2115899"/>
                    <a:pt x="2080699" y="2134031"/>
                  </a:cubicBezTo>
                  <a:cubicBezTo>
                    <a:pt x="2062568" y="2152162"/>
                    <a:pt x="2037977" y="2162348"/>
                    <a:pt x="2012335" y="2162348"/>
                  </a:cubicBezTo>
                  <a:lnTo>
                    <a:pt x="96681" y="2162348"/>
                  </a:lnTo>
                  <a:cubicBezTo>
                    <a:pt x="71040" y="2162348"/>
                    <a:pt x="46449" y="2152162"/>
                    <a:pt x="28317" y="2134031"/>
                  </a:cubicBezTo>
                  <a:cubicBezTo>
                    <a:pt x="10186" y="2115899"/>
                    <a:pt x="0" y="2091308"/>
                    <a:pt x="0" y="2065667"/>
                  </a:cubicBezTo>
                  <a:lnTo>
                    <a:pt x="0" y="96681"/>
                  </a:lnTo>
                  <a:cubicBezTo>
                    <a:pt x="0" y="71040"/>
                    <a:pt x="10186" y="46449"/>
                    <a:pt x="28317" y="28317"/>
                  </a:cubicBezTo>
                  <a:cubicBezTo>
                    <a:pt x="46449" y="10186"/>
                    <a:pt x="71040" y="0"/>
                    <a:pt x="96681" y="0"/>
                  </a:cubicBezTo>
                  <a:close/>
                </a:path>
              </a:pathLst>
            </a:custGeom>
            <a:solidFill>
              <a:srgbClr val="6BA286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109017" cy="22004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86387" y="276348"/>
            <a:ext cx="8121894" cy="1194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12"/>
              </a:lnSpc>
            </a:pPr>
            <a:r>
              <a:rPr lang="en-US" sz="9179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PROJECT DEFINITION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81174" y="2066802"/>
            <a:ext cx="3619910" cy="547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1"/>
              </a:lnSpc>
            </a:pPr>
            <a:r>
              <a:rPr lang="en-US" sz="4199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MOTIVATING USE CASE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12529" y="2556768"/>
            <a:ext cx="7469611" cy="7839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1"/>
              </a:lnSpc>
            </a:pPr>
            <a:endParaRPr/>
          </a:p>
          <a:p>
            <a:pPr algn="l">
              <a:lnSpc>
                <a:spcPts val="3834"/>
              </a:lnSpc>
            </a:pPr>
            <a:r>
              <a:rPr lang="en-US" sz="3143" b="1">
                <a:solidFill>
                  <a:srgbClr val="000000"/>
                </a:solidFill>
                <a:latin typeface="David Libre Bold"/>
                <a:ea typeface="David Libre Bold"/>
                <a:cs typeface="David Libre Bold"/>
                <a:sym typeface="David Libre Bold"/>
              </a:rPr>
              <a:t>EMS pre-arrival reports provide early clinical information that may help the ED prepare the appropriate care area and specialty consultation.</a:t>
            </a:r>
          </a:p>
          <a:p>
            <a:pPr algn="l">
              <a:lnSpc>
                <a:spcPts val="3834"/>
              </a:lnSpc>
            </a:pPr>
            <a:endParaRPr lang="en-US" sz="3143" b="1">
              <a:solidFill>
                <a:srgbClr val="000000"/>
              </a:solidFill>
              <a:latin typeface="David Libre Bold"/>
              <a:ea typeface="David Libre Bold"/>
              <a:cs typeface="David Libre Bold"/>
              <a:sym typeface="David Libre Bold"/>
            </a:endParaRPr>
          </a:p>
          <a:p>
            <a:pPr algn="l">
              <a:lnSpc>
                <a:spcPts val="3834"/>
              </a:lnSpc>
            </a:pPr>
            <a:r>
              <a:rPr lang="en-US" sz="3143" b="1">
                <a:solidFill>
                  <a:srgbClr val="000000"/>
                </a:solidFill>
                <a:latin typeface="David Libre Bold"/>
                <a:ea typeface="David Libre Bold"/>
                <a:cs typeface="David Libre Bold"/>
                <a:sym typeface="David Libre Bold"/>
              </a:rPr>
              <a:t>However, these reports are often brief, incomplete, and communicated verbally under noisy ambulance conditions.</a:t>
            </a:r>
          </a:p>
          <a:p>
            <a:pPr algn="l">
              <a:lnSpc>
                <a:spcPts val="3834"/>
              </a:lnSpc>
            </a:pPr>
            <a:endParaRPr lang="en-US" sz="3143" b="1">
              <a:solidFill>
                <a:srgbClr val="000000"/>
              </a:solidFill>
              <a:latin typeface="David Libre Bold"/>
              <a:ea typeface="David Libre Bold"/>
              <a:cs typeface="David Libre Bold"/>
              <a:sym typeface="David Libre Bold"/>
            </a:endParaRPr>
          </a:p>
          <a:p>
            <a:pPr algn="l">
              <a:lnSpc>
                <a:spcPts val="3834"/>
              </a:lnSpc>
            </a:pPr>
            <a:r>
              <a:rPr lang="en-US" sz="3143" b="1">
                <a:solidFill>
                  <a:srgbClr val="000000"/>
                </a:solidFill>
                <a:latin typeface="David Libre Bold"/>
                <a:ea typeface="David Libre Bold"/>
                <a:cs typeface="David Libre Bold"/>
                <a:sym typeface="David Libre Bold"/>
              </a:rPr>
              <a:t>To simulate this setting, we converted the reports to speech, added ambulance noise, and transcribed them using ASR.</a:t>
            </a:r>
          </a:p>
          <a:p>
            <a:pPr algn="l">
              <a:lnSpc>
                <a:spcPts val="3834"/>
              </a:lnSpc>
            </a:pPr>
            <a:endParaRPr lang="en-US" sz="3143" b="1">
              <a:solidFill>
                <a:srgbClr val="000000"/>
              </a:solidFill>
              <a:latin typeface="David Libre Bold"/>
              <a:ea typeface="David Libre Bold"/>
              <a:cs typeface="David Libre Bold"/>
              <a:sym typeface="David Libre Bold"/>
            </a:endParaRPr>
          </a:p>
          <a:p>
            <a:pPr algn="l">
              <a:lnSpc>
                <a:spcPts val="3834"/>
              </a:lnSpc>
              <a:spcBef>
                <a:spcPct val="0"/>
              </a:spcBef>
            </a:pPr>
            <a:endParaRPr lang="en-US" sz="3143" b="1">
              <a:solidFill>
                <a:srgbClr val="000000"/>
              </a:solidFill>
              <a:latin typeface="David Libre Bold"/>
              <a:ea typeface="David Libre Bold"/>
              <a:cs typeface="David Libre Bold"/>
              <a:sym typeface="David Libre Bold"/>
            </a:endParaRPr>
          </a:p>
          <a:p>
            <a:pPr algn="ctr">
              <a:lnSpc>
                <a:spcPts val="3771"/>
              </a:lnSpc>
              <a:spcBef>
                <a:spcPct val="0"/>
              </a:spcBef>
            </a:pPr>
            <a:endParaRPr lang="en-US" sz="3143" b="1">
              <a:solidFill>
                <a:srgbClr val="000000"/>
              </a:solidFill>
              <a:latin typeface="David Libre Bold"/>
              <a:ea typeface="David Libre Bold"/>
              <a:cs typeface="David Libre Bold"/>
              <a:sym typeface="David Libre Bold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8946139" y="76323"/>
            <a:ext cx="8837532" cy="10022454"/>
            <a:chOff x="0" y="0"/>
            <a:chExt cx="2327580" cy="263965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27580" cy="2639659"/>
            </a:xfrm>
            <a:custGeom>
              <a:avLst/>
              <a:gdLst/>
              <a:ahLst/>
              <a:cxnLst/>
              <a:rect l="l" t="t" r="r" b="b"/>
              <a:pathLst>
                <a:path w="2327580" h="2639659">
                  <a:moveTo>
                    <a:pt x="87603" y="0"/>
                  </a:moveTo>
                  <a:lnTo>
                    <a:pt x="2239978" y="0"/>
                  </a:lnTo>
                  <a:cubicBezTo>
                    <a:pt x="2288359" y="0"/>
                    <a:pt x="2327580" y="39221"/>
                    <a:pt x="2327580" y="87603"/>
                  </a:cubicBezTo>
                  <a:lnTo>
                    <a:pt x="2327580" y="2552056"/>
                  </a:lnTo>
                  <a:cubicBezTo>
                    <a:pt x="2327580" y="2575290"/>
                    <a:pt x="2318351" y="2597572"/>
                    <a:pt x="2301922" y="2614000"/>
                  </a:cubicBezTo>
                  <a:cubicBezTo>
                    <a:pt x="2285493" y="2630429"/>
                    <a:pt x="2263211" y="2639659"/>
                    <a:pt x="2239978" y="2639659"/>
                  </a:cubicBezTo>
                  <a:lnTo>
                    <a:pt x="87603" y="2639659"/>
                  </a:lnTo>
                  <a:cubicBezTo>
                    <a:pt x="64369" y="2639659"/>
                    <a:pt x="42087" y="2630429"/>
                    <a:pt x="25658" y="2614000"/>
                  </a:cubicBezTo>
                  <a:cubicBezTo>
                    <a:pt x="9230" y="2597572"/>
                    <a:pt x="0" y="2575290"/>
                    <a:pt x="0" y="2552056"/>
                  </a:cubicBezTo>
                  <a:lnTo>
                    <a:pt x="0" y="87603"/>
                  </a:lnTo>
                  <a:cubicBezTo>
                    <a:pt x="0" y="64369"/>
                    <a:pt x="9230" y="42087"/>
                    <a:pt x="25658" y="25658"/>
                  </a:cubicBezTo>
                  <a:cubicBezTo>
                    <a:pt x="42087" y="9230"/>
                    <a:pt x="64369" y="0"/>
                    <a:pt x="87603" y="0"/>
                  </a:cubicBezTo>
                  <a:close/>
                </a:path>
              </a:pathLst>
            </a:custGeom>
            <a:solidFill>
              <a:srgbClr val="6BA286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327580" cy="2677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560164" y="621131"/>
            <a:ext cx="7609482" cy="1102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0"/>
              </a:lnSpc>
            </a:pPr>
            <a:endParaRPr/>
          </a:p>
          <a:p>
            <a:pPr algn="ctr">
              <a:lnSpc>
                <a:spcPts val="4319"/>
              </a:lnSpc>
            </a:pPr>
            <a:r>
              <a:rPr lang="en-US" sz="3599" b="1">
                <a:solidFill>
                  <a:srgbClr val="000000"/>
                </a:solidFill>
                <a:latin typeface="David Libre Bold"/>
                <a:ea typeface="David Libre Bold"/>
                <a:cs typeface="David Libre Bold"/>
                <a:sym typeface="David Libre Bold"/>
              </a:rPr>
              <a:t>Task:</a:t>
            </a:r>
          </a:p>
          <a:p>
            <a:pPr algn="ctr">
              <a:lnSpc>
                <a:spcPts val="3480"/>
              </a:lnSpc>
            </a:pPr>
            <a:r>
              <a:rPr lang="en-US" sz="2900" b="1">
                <a:solidFill>
                  <a:srgbClr val="000000"/>
                </a:solidFill>
                <a:latin typeface="David Libre Bold"/>
                <a:ea typeface="David Libre Bold"/>
                <a:cs typeface="David Libre Bold"/>
                <a:sym typeface="David Libre Bold"/>
              </a:rPr>
              <a:t>Predict ED preparation decisions from EMS pre-arrival handoff reports.</a:t>
            </a:r>
          </a:p>
          <a:p>
            <a:pPr algn="ctr">
              <a:lnSpc>
                <a:spcPts val="3480"/>
              </a:lnSpc>
            </a:pPr>
            <a:endParaRPr lang="en-US" sz="2900" b="1">
              <a:solidFill>
                <a:srgbClr val="000000"/>
              </a:solidFill>
              <a:latin typeface="David Libre Bold"/>
              <a:ea typeface="David Libre Bold"/>
              <a:cs typeface="David Libre Bold"/>
              <a:sym typeface="David Libre Bold"/>
            </a:endParaRPr>
          </a:p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David Libre Bold"/>
                <a:ea typeface="David Libre Bold"/>
                <a:cs typeface="David Libre Bold"/>
                <a:sym typeface="David Libre Bold"/>
              </a:rPr>
              <a:t>input:</a:t>
            </a:r>
          </a:p>
          <a:p>
            <a:pPr algn="ctr">
              <a:lnSpc>
                <a:spcPts val="3480"/>
              </a:lnSpc>
            </a:pPr>
            <a:r>
              <a:rPr lang="en-US" sz="2900" b="1">
                <a:solidFill>
                  <a:srgbClr val="000000"/>
                </a:solidFill>
                <a:latin typeface="David Libre Bold"/>
                <a:ea typeface="David Libre Bold"/>
                <a:cs typeface="David Libre Bold"/>
                <a:sym typeface="David Libre Bold"/>
              </a:rPr>
              <a:t>Synthetic EMS pre-arrival handoff report</a:t>
            </a:r>
          </a:p>
          <a:p>
            <a:pPr algn="ctr">
              <a:lnSpc>
                <a:spcPts val="3480"/>
              </a:lnSpc>
            </a:pPr>
            <a:endParaRPr lang="en-US" sz="2900" b="1">
              <a:solidFill>
                <a:srgbClr val="000000"/>
              </a:solidFill>
              <a:latin typeface="David Libre Bold"/>
              <a:ea typeface="David Libre Bold"/>
              <a:cs typeface="David Libre Bold"/>
              <a:sym typeface="David Libre Bold"/>
            </a:endParaRPr>
          </a:p>
          <a:p>
            <a:pPr algn="ctr">
              <a:lnSpc>
                <a:spcPts val="4319"/>
              </a:lnSpc>
            </a:pPr>
            <a:r>
              <a:rPr lang="en-US" sz="3599" b="1">
                <a:solidFill>
                  <a:srgbClr val="000000"/>
                </a:solidFill>
                <a:latin typeface="David Libre Bold"/>
                <a:ea typeface="David Libre Bold"/>
                <a:cs typeface="David Libre Bold"/>
                <a:sym typeface="David Libre Bold"/>
              </a:rPr>
              <a:t>Outputs:</a:t>
            </a:r>
          </a:p>
          <a:p>
            <a:pPr algn="ctr">
              <a:lnSpc>
                <a:spcPts val="3480"/>
              </a:lnSpc>
            </a:pPr>
            <a:r>
              <a:rPr lang="en-US" sz="2900" b="1">
                <a:solidFill>
                  <a:srgbClr val="000000"/>
                </a:solidFill>
                <a:latin typeface="David Libre Bold"/>
                <a:ea typeface="David Libre Bold"/>
                <a:cs typeface="David Libre Bold"/>
                <a:sym typeface="David Libre Bold"/>
              </a:rPr>
              <a:t>1. ED care area</a:t>
            </a:r>
            <a:r>
              <a:rPr lang="en-US" sz="2900">
                <a:solidFill>
                  <a:srgbClr val="000000"/>
                </a:solidFill>
                <a:latin typeface="David Libre"/>
                <a:ea typeface="David Libre"/>
                <a:cs typeface="David Libre"/>
                <a:sym typeface="David Libre"/>
              </a:rPr>
              <a:t> (arrival_destination)</a:t>
            </a:r>
          </a:p>
          <a:p>
            <a:pPr algn="ctr">
              <a:lnSpc>
                <a:spcPts val="3480"/>
              </a:lnSpc>
            </a:pPr>
            <a:r>
              <a:rPr lang="en-US" sz="2900" b="1">
                <a:solidFill>
                  <a:srgbClr val="000000"/>
                </a:solidFill>
                <a:latin typeface="David Libre Bold"/>
                <a:ea typeface="David Libre Bold"/>
                <a:cs typeface="David Libre Bold"/>
                <a:sym typeface="David Libre Bold"/>
              </a:rPr>
              <a:t>2. Primary specialty consultation </a:t>
            </a:r>
            <a:r>
              <a:rPr lang="en-US" sz="2900">
                <a:solidFill>
                  <a:srgbClr val="000000"/>
                </a:solidFill>
                <a:latin typeface="David Libre"/>
                <a:ea typeface="David Libre"/>
                <a:cs typeface="David Libre"/>
                <a:sym typeface="David Libre"/>
              </a:rPr>
              <a:t>(specialty_consult_label)</a:t>
            </a:r>
          </a:p>
          <a:p>
            <a:pPr algn="l">
              <a:lnSpc>
                <a:spcPts val="3480"/>
              </a:lnSpc>
            </a:pPr>
            <a:endParaRPr lang="en-US" sz="2900">
              <a:solidFill>
                <a:srgbClr val="000000"/>
              </a:solidFill>
              <a:latin typeface="David Libre"/>
              <a:ea typeface="David Libre"/>
              <a:cs typeface="David Libre"/>
              <a:sym typeface="David Libre"/>
            </a:endParaRPr>
          </a:p>
          <a:p>
            <a:pPr algn="ctr">
              <a:lnSpc>
                <a:spcPts val="4319"/>
              </a:lnSpc>
            </a:pPr>
            <a:r>
              <a:rPr lang="en-US" sz="3599" b="1">
                <a:solidFill>
                  <a:srgbClr val="000000"/>
                </a:solidFill>
                <a:latin typeface="David Libre Bold"/>
                <a:ea typeface="David Libre Bold"/>
                <a:cs typeface="David Libre Bold"/>
                <a:sym typeface="David Libre Bold"/>
              </a:rPr>
              <a:t>Main research question:</a:t>
            </a:r>
          </a:p>
          <a:p>
            <a:pPr algn="ctr">
              <a:lnSpc>
                <a:spcPts val="3480"/>
              </a:lnSpc>
            </a:pPr>
            <a:r>
              <a:rPr lang="en-US" sz="2900" b="1">
                <a:solidFill>
                  <a:srgbClr val="000000"/>
                </a:solidFill>
                <a:latin typeface="David Libre Bold"/>
                <a:ea typeface="David Libre Bold"/>
                <a:cs typeface="David Libre Bold"/>
                <a:sym typeface="David Libre Bold"/>
              </a:rPr>
              <a:t>How well can ED decisions be predicted from EMS reports, and does noisy ASR training improve performance?</a:t>
            </a:r>
          </a:p>
          <a:p>
            <a:pPr algn="ctr">
              <a:lnSpc>
                <a:spcPts val="3240"/>
              </a:lnSpc>
            </a:pPr>
            <a:endParaRPr lang="en-US" sz="2900" b="1">
              <a:solidFill>
                <a:srgbClr val="000000"/>
              </a:solidFill>
              <a:latin typeface="David Libre Bold"/>
              <a:ea typeface="David Libre Bold"/>
              <a:cs typeface="David Libre Bold"/>
              <a:sym typeface="David Libre Bold"/>
            </a:endParaRPr>
          </a:p>
          <a:p>
            <a:pPr algn="ctr">
              <a:lnSpc>
                <a:spcPts val="4319"/>
              </a:lnSpc>
            </a:pPr>
            <a:r>
              <a:rPr lang="en-US" sz="3599" b="1">
                <a:solidFill>
                  <a:srgbClr val="000000"/>
                </a:solidFill>
                <a:latin typeface="David Libre Bold"/>
                <a:ea typeface="David Libre Bold"/>
                <a:cs typeface="David Libre Bold"/>
                <a:sym typeface="David Libre Bold"/>
              </a:rPr>
              <a:t>Models:</a:t>
            </a:r>
          </a:p>
          <a:p>
            <a:pPr algn="ctr">
              <a:lnSpc>
                <a:spcPts val="3480"/>
              </a:lnSpc>
            </a:pPr>
            <a:r>
              <a:rPr lang="en-US" sz="2900" b="1">
                <a:solidFill>
                  <a:srgbClr val="000000"/>
                </a:solidFill>
                <a:latin typeface="David Libre Bold"/>
                <a:ea typeface="David Libre Bold"/>
                <a:cs typeface="David Libre Bold"/>
                <a:sym typeface="David Libre Bold"/>
              </a:rPr>
              <a:t>DistilBERT and BioClinicalBERT</a:t>
            </a:r>
          </a:p>
          <a:p>
            <a:pPr algn="ctr">
              <a:lnSpc>
                <a:spcPts val="4319"/>
              </a:lnSpc>
            </a:pPr>
            <a:endParaRPr lang="en-US" sz="2900" b="1">
              <a:solidFill>
                <a:srgbClr val="000000"/>
              </a:solidFill>
              <a:latin typeface="David Libre Bold"/>
              <a:ea typeface="David Libre Bold"/>
              <a:cs typeface="David Libre Bold"/>
              <a:sym typeface="David Libre Bold"/>
            </a:endParaRPr>
          </a:p>
          <a:p>
            <a:pPr algn="ctr">
              <a:lnSpc>
                <a:spcPts val="2640"/>
              </a:lnSpc>
            </a:pPr>
            <a:endParaRPr lang="en-US" sz="2900" b="1">
              <a:solidFill>
                <a:srgbClr val="000000"/>
              </a:solidFill>
              <a:latin typeface="David Libre Bold"/>
              <a:ea typeface="David Libre Bold"/>
              <a:cs typeface="David Libre Bold"/>
              <a:sym typeface="David Libre Bold"/>
            </a:endParaRPr>
          </a:p>
          <a:p>
            <a:pPr algn="ctr">
              <a:lnSpc>
                <a:spcPts val="3480"/>
              </a:lnSpc>
            </a:pPr>
            <a:endParaRPr lang="en-US" sz="2900" b="1">
              <a:solidFill>
                <a:srgbClr val="000000"/>
              </a:solidFill>
              <a:latin typeface="David Libre Bold"/>
              <a:ea typeface="David Libre Bold"/>
              <a:cs typeface="David Libre Bold"/>
              <a:sym typeface="David Libre Bold"/>
            </a:endParaRPr>
          </a:p>
          <a:p>
            <a:pPr algn="ctr">
              <a:lnSpc>
                <a:spcPts val="3480"/>
              </a:lnSpc>
              <a:spcBef>
                <a:spcPct val="0"/>
              </a:spcBef>
            </a:pPr>
            <a:endParaRPr lang="en-US" sz="2900" b="1">
              <a:solidFill>
                <a:srgbClr val="000000"/>
              </a:solidFill>
              <a:latin typeface="David Libre Bold"/>
              <a:ea typeface="David Libre Bold"/>
              <a:cs typeface="David Libre Bold"/>
              <a:sym typeface="David Libre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295140" y="340492"/>
            <a:ext cx="5231340" cy="1640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5"/>
              </a:lnSpc>
            </a:pPr>
            <a:r>
              <a:rPr lang="en-US" sz="4599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PROBLEM DEFINITION</a:t>
            </a:r>
          </a:p>
          <a:p>
            <a:pPr algn="l">
              <a:lnSpc>
                <a:spcPts val="4127"/>
              </a:lnSpc>
            </a:pPr>
            <a:endParaRPr lang="en-US" sz="4599">
              <a:solidFill>
                <a:srgbClr val="FFFFFF"/>
              </a:solidFill>
              <a:latin typeface="Handy Casual"/>
              <a:ea typeface="Handy Casual"/>
              <a:cs typeface="Handy Casual"/>
              <a:sym typeface="Handy Casual"/>
            </a:endParaRPr>
          </a:p>
          <a:p>
            <a:pPr algn="l">
              <a:lnSpc>
                <a:spcPts val="4127"/>
              </a:lnSpc>
            </a:pPr>
            <a:endParaRPr lang="en-US" sz="4599">
              <a:solidFill>
                <a:srgbClr val="FFFFFF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2576" y="591862"/>
            <a:ext cx="11029320" cy="5055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27"/>
              </a:lnSpc>
            </a:pPr>
            <a:r>
              <a:rPr lang="en-US" sz="9195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NOVELTY</a:t>
            </a:r>
          </a:p>
          <a:p>
            <a:pPr algn="l">
              <a:lnSpc>
                <a:spcPts val="8827"/>
              </a:lnSpc>
            </a:pPr>
            <a:endParaRPr lang="en-US" sz="9195">
              <a:solidFill>
                <a:srgbClr val="553D3D"/>
              </a:solidFill>
              <a:latin typeface="Handy Casual"/>
              <a:ea typeface="Handy Casual"/>
              <a:cs typeface="Handy Casual"/>
              <a:sym typeface="Handy Casual"/>
            </a:endParaRPr>
          </a:p>
          <a:p>
            <a:pPr algn="l">
              <a:lnSpc>
                <a:spcPts val="2491"/>
              </a:lnSpc>
            </a:pPr>
            <a:endParaRPr lang="en-US" sz="9195">
              <a:solidFill>
                <a:srgbClr val="553D3D"/>
              </a:solidFill>
              <a:latin typeface="Handy Casual"/>
              <a:ea typeface="Handy Casual"/>
              <a:cs typeface="Handy Casual"/>
              <a:sym typeface="Handy Casual"/>
            </a:endParaRPr>
          </a:p>
          <a:p>
            <a:pPr algn="l">
              <a:lnSpc>
                <a:spcPts val="9599"/>
              </a:lnSpc>
            </a:pPr>
            <a:endParaRPr lang="en-US" sz="9195">
              <a:solidFill>
                <a:srgbClr val="553D3D"/>
              </a:solidFill>
              <a:latin typeface="Handy Casual"/>
              <a:ea typeface="Handy Casual"/>
              <a:cs typeface="Handy Casual"/>
              <a:sym typeface="Handy Casual"/>
            </a:endParaRPr>
          </a:p>
          <a:p>
            <a:pPr algn="l">
              <a:lnSpc>
                <a:spcPts val="9599"/>
              </a:lnSpc>
            </a:pPr>
            <a:endParaRPr lang="en-US" sz="9195">
              <a:solidFill>
                <a:srgbClr val="553D3D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9159606" y="2378638"/>
            <a:ext cx="8773598" cy="3050491"/>
            <a:chOff x="0" y="0"/>
            <a:chExt cx="2310742" cy="8034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10742" cy="803421"/>
            </a:xfrm>
            <a:custGeom>
              <a:avLst/>
              <a:gdLst/>
              <a:ahLst/>
              <a:cxnLst/>
              <a:rect l="l" t="t" r="r" b="b"/>
              <a:pathLst>
                <a:path w="2310742" h="803421">
                  <a:moveTo>
                    <a:pt x="45003" y="0"/>
                  </a:moveTo>
                  <a:lnTo>
                    <a:pt x="2265739" y="0"/>
                  </a:lnTo>
                  <a:cubicBezTo>
                    <a:pt x="2290593" y="0"/>
                    <a:pt x="2310742" y="20149"/>
                    <a:pt x="2310742" y="45003"/>
                  </a:cubicBezTo>
                  <a:lnTo>
                    <a:pt x="2310742" y="758418"/>
                  </a:lnTo>
                  <a:cubicBezTo>
                    <a:pt x="2310742" y="770354"/>
                    <a:pt x="2306000" y="781801"/>
                    <a:pt x="2297561" y="790240"/>
                  </a:cubicBezTo>
                  <a:cubicBezTo>
                    <a:pt x="2289121" y="798680"/>
                    <a:pt x="2277674" y="803421"/>
                    <a:pt x="2265739" y="803421"/>
                  </a:cubicBezTo>
                  <a:lnTo>
                    <a:pt x="45003" y="803421"/>
                  </a:lnTo>
                  <a:cubicBezTo>
                    <a:pt x="20149" y="803421"/>
                    <a:pt x="0" y="783273"/>
                    <a:pt x="0" y="758418"/>
                  </a:cubicBezTo>
                  <a:lnTo>
                    <a:pt x="0" y="45003"/>
                  </a:lnTo>
                  <a:cubicBezTo>
                    <a:pt x="0" y="20149"/>
                    <a:pt x="20149" y="0"/>
                    <a:pt x="45003" y="0"/>
                  </a:cubicBezTo>
                  <a:close/>
                </a:path>
              </a:pathLst>
            </a:custGeom>
            <a:solidFill>
              <a:srgbClr val="F4DDB8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57150"/>
              <a:ext cx="2310742" cy="7462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1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457015" y="2923589"/>
            <a:ext cx="10059586" cy="2072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47"/>
              </a:lnSpc>
              <a:spcBef>
                <a:spcPct val="0"/>
              </a:spcBef>
            </a:pPr>
            <a:r>
              <a:rPr lang="en-US" sz="3962" dirty="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WE DO NOT USE A TRADITIONAL ASR → INFORMATION EXTRACTION → </a:t>
            </a:r>
          </a:p>
          <a:p>
            <a:pPr algn="ctr">
              <a:lnSpc>
                <a:spcPts val="5547"/>
              </a:lnSpc>
              <a:spcBef>
                <a:spcPct val="0"/>
              </a:spcBef>
            </a:pPr>
            <a:r>
              <a:rPr lang="en-US" sz="3962" dirty="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RULE-BASED DECISION PIPELINE.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87288" y="2378638"/>
            <a:ext cx="8773598" cy="3097916"/>
            <a:chOff x="0" y="0"/>
            <a:chExt cx="2310742" cy="81591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10742" cy="815912"/>
            </a:xfrm>
            <a:custGeom>
              <a:avLst/>
              <a:gdLst/>
              <a:ahLst/>
              <a:cxnLst/>
              <a:rect l="l" t="t" r="r" b="b"/>
              <a:pathLst>
                <a:path w="2310742" h="815912">
                  <a:moveTo>
                    <a:pt x="45003" y="0"/>
                  </a:moveTo>
                  <a:lnTo>
                    <a:pt x="2265739" y="0"/>
                  </a:lnTo>
                  <a:cubicBezTo>
                    <a:pt x="2290593" y="0"/>
                    <a:pt x="2310742" y="20149"/>
                    <a:pt x="2310742" y="45003"/>
                  </a:cubicBezTo>
                  <a:lnTo>
                    <a:pt x="2310742" y="770909"/>
                  </a:lnTo>
                  <a:cubicBezTo>
                    <a:pt x="2310742" y="795764"/>
                    <a:pt x="2290593" y="815912"/>
                    <a:pt x="2265739" y="815912"/>
                  </a:cubicBezTo>
                  <a:lnTo>
                    <a:pt x="45003" y="815912"/>
                  </a:lnTo>
                  <a:cubicBezTo>
                    <a:pt x="33067" y="815912"/>
                    <a:pt x="21621" y="811171"/>
                    <a:pt x="13181" y="802731"/>
                  </a:cubicBezTo>
                  <a:cubicBezTo>
                    <a:pt x="4741" y="794291"/>
                    <a:pt x="0" y="782845"/>
                    <a:pt x="0" y="770909"/>
                  </a:cubicBezTo>
                  <a:lnTo>
                    <a:pt x="0" y="45003"/>
                  </a:lnTo>
                  <a:cubicBezTo>
                    <a:pt x="0" y="20149"/>
                    <a:pt x="20149" y="0"/>
                    <a:pt x="45003" y="0"/>
                  </a:cubicBezTo>
                  <a:close/>
                </a:path>
              </a:pathLst>
            </a:custGeom>
            <a:solidFill>
              <a:srgbClr val="F4DDB8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57150"/>
              <a:ext cx="2310742" cy="7587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1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74575" y="2923589"/>
            <a:ext cx="8399022" cy="2262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43"/>
              </a:lnSpc>
              <a:spcBef>
                <a:spcPct val="0"/>
              </a:spcBef>
            </a:pPr>
            <a:r>
              <a:rPr lang="en-US" sz="4317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We generate synthetic noisy EMS training data </a:t>
            </a:r>
          </a:p>
          <a:p>
            <a:pPr algn="ctr">
              <a:lnSpc>
                <a:spcPts val="6043"/>
              </a:lnSpc>
              <a:spcBef>
                <a:spcPct val="0"/>
              </a:spcBef>
            </a:pPr>
            <a:r>
              <a:rPr lang="en-US" sz="4317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and train one Transformer model directly on the full report.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741595" y="6406833"/>
            <a:ext cx="8804810" cy="3368758"/>
            <a:chOff x="0" y="0"/>
            <a:chExt cx="2318962" cy="88724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18962" cy="887245"/>
            </a:xfrm>
            <a:custGeom>
              <a:avLst/>
              <a:gdLst/>
              <a:ahLst/>
              <a:cxnLst/>
              <a:rect l="l" t="t" r="r" b="b"/>
              <a:pathLst>
                <a:path w="2318962" h="887245">
                  <a:moveTo>
                    <a:pt x="44843" y="0"/>
                  </a:moveTo>
                  <a:lnTo>
                    <a:pt x="2274119" y="0"/>
                  </a:lnTo>
                  <a:cubicBezTo>
                    <a:pt x="2298885" y="0"/>
                    <a:pt x="2318962" y="20077"/>
                    <a:pt x="2318962" y="44843"/>
                  </a:cubicBezTo>
                  <a:lnTo>
                    <a:pt x="2318962" y="842402"/>
                  </a:lnTo>
                  <a:cubicBezTo>
                    <a:pt x="2318962" y="854295"/>
                    <a:pt x="2314238" y="865701"/>
                    <a:pt x="2305828" y="874111"/>
                  </a:cubicBezTo>
                  <a:cubicBezTo>
                    <a:pt x="2297418" y="882520"/>
                    <a:pt x="2286012" y="887245"/>
                    <a:pt x="2274119" y="887245"/>
                  </a:cubicBezTo>
                  <a:lnTo>
                    <a:pt x="44843" y="887245"/>
                  </a:lnTo>
                  <a:cubicBezTo>
                    <a:pt x="32950" y="887245"/>
                    <a:pt x="21544" y="882520"/>
                    <a:pt x="13134" y="874111"/>
                  </a:cubicBezTo>
                  <a:cubicBezTo>
                    <a:pt x="4725" y="865701"/>
                    <a:pt x="0" y="854295"/>
                    <a:pt x="0" y="842402"/>
                  </a:cubicBezTo>
                  <a:lnTo>
                    <a:pt x="0" y="44843"/>
                  </a:lnTo>
                  <a:cubicBezTo>
                    <a:pt x="0" y="32950"/>
                    <a:pt x="4725" y="21544"/>
                    <a:pt x="13134" y="13134"/>
                  </a:cubicBezTo>
                  <a:cubicBezTo>
                    <a:pt x="21544" y="4725"/>
                    <a:pt x="32950" y="0"/>
                    <a:pt x="44843" y="0"/>
                  </a:cubicBezTo>
                  <a:close/>
                </a:path>
              </a:pathLst>
            </a:custGeom>
            <a:solidFill>
              <a:srgbClr val="F4DDB8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57150"/>
              <a:ext cx="2318962" cy="8300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1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252680" y="6747552"/>
            <a:ext cx="7782639" cy="2611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The model learns from both the clinical context and</a:t>
            </a:r>
          </a:p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 recurring ASR errors.</a:t>
            </a:r>
          </a:p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We test whether noisy and clean+noisy training</a:t>
            </a:r>
          </a:p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 improve downstream ED decision prediction.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6137" y="510949"/>
            <a:ext cx="11029320" cy="3940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27"/>
              </a:lnSpc>
            </a:pPr>
            <a:r>
              <a:rPr lang="en-US" sz="9195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DATASET PREPROCESSING </a:t>
            </a:r>
          </a:p>
          <a:p>
            <a:pPr algn="l">
              <a:lnSpc>
                <a:spcPts val="2491"/>
              </a:lnSpc>
            </a:pPr>
            <a:endParaRPr lang="en-US" sz="9195">
              <a:solidFill>
                <a:srgbClr val="553D3D"/>
              </a:solidFill>
              <a:latin typeface="Handy Casual"/>
              <a:ea typeface="Handy Casual"/>
              <a:cs typeface="Handy Casual"/>
              <a:sym typeface="Handy Casual"/>
            </a:endParaRPr>
          </a:p>
          <a:p>
            <a:pPr algn="l">
              <a:lnSpc>
                <a:spcPts val="9599"/>
              </a:lnSpc>
            </a:pPr>
            <a:endParaRPr lang="en-US" sz="9195">
              <a:solidFill>
                <a:srgbClr val="553D3D"/>
              </a:solidFill>
              <a:latin typeface="Handy Casual"/>
              <a:ea typeface="Handy Casual"/>
              <a:cs typeface="Handy Casual"/>
              <a:sym typeface="Handy Casual"/>
            </a:endParaRPr>
          </a:p>
          <a:p>
            <a:pPr algn="l">
              <a:lnSpc>
                <a:spcPts val="9599"/>
              </a:lnSpc>
            </a:pPr>
            <a:endParaRPr lang="en-US" sz="9195">
              <a:solidFill>
                <a:srgbClr val="553D3D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sp>
        <p:nvSpPr>
          <p:cNvPr id="3" name="Freeform 3"/>
          <p:cNvSpPr/>
          <p:nvPr/>
        </p:nvSpPr>
        <p:spPr>
          <a:xfrm rot="8398432" flipH="1">
            <a:off x="3542005" y="5314605"/>
            <a:ext cx="11571907" cy="10099118"/>
          </a:xfrm>
          <a:custGeom>
            <a:avLst/>
            <a:gdLst/>
            <a:ahLst/>
            <a:cxnLst/>
            <a:rect l="l" t="t" r="r" b="b"/>
            <a:pathLst>
              <a:path w="11571907" h="10099118">
                <a:moveTo>
                  <a:pt x="11571907" y="0"/>
                </a:moveTo>
                <a:lnTo>
                  <a:pt x="0" y="0"/>
                </a:lnTo>
                <a:lnTo>
                  <a:pt x="0" y="10099118"/>
                </a:lnTo>
                <a:lnTo>
                  <a:pt x="11571907" y="10099118"/>
                </a:lnTo>
                <a:lnTo>
                  <a:pt x="11571907" y="0"/>
                </a:lnTo>
                <a:close/>
              </a:path>
            </a:pathLst>
          </a:custGeom>
          <a:blipFill>
            <a:blip>
              <a:alphaModFix amt="65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 rot="-5697878" flipH="1">
            <a:off x="-170001" y="7105405"/>
            <a:ext cx="3639601" cy="3315346"/>
          </a:xfrm>
          <a:custGeom>
            <a:avLst/>
            <a:gdLst/>
            <a:ahLst/>
            <a:cxnLst/>
            <a:rect l="l" t="t" r="r" b="b"/>
            <a:pathLst>
              <a:path w="3639601" h="3315346">
                <a:moveTo>
                  <a:pt x="3639601" y="0"/>
                </a:moveTo>
                <a:lnTo>
                  <a:pt x="0" y="0"/>
                </a:lnTo>
                <a:lnTo>
                  <a:pt x="0" y="3315346"/>
                </a:lnTo>
                <a:lnTo>
                  <a:pt x="3639601" y="3315346"/>
                </a:lnTo>
                <a:lnTo>
                  <a:pt x="363960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5" name="TextBox 5"/>
          <p:cNvSpPr txBox="1"/>
          <p:nvPr/>
        </p:nvSpPr>
        <p:spPr>
          <a:xfrm>
            <a:off x="183958" y="2209791"/>
            <a:ext cx="18288000" cy="4634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20"/>
              </a:lnSpc>
              <a:spcBef>
                <a:spcPct val="0"/>
              </a:spcBef>
            </a:pPr>
            <a:r>
              <a:rPr lang="en-US" sz="43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Source:</a:t>
            </a:r>
            <a:r>
              <a:rPr lang="en-US" sz="4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MIMIC-IV-Ext CDS task-specific files merged by stay_id.</a:t>
            </a:r>
          </a:p>
          <a:p>
            <a:pPr algn="l">
              <a:lnSpc>
                <a:spcPts val="6020"/>
              </a:lnSpc>
              <a:spcBef>
                <a:spcPct val="0"/>
              </a:spcBef>
            </a:pPr>
            <a:r>
              <a:rPr lang="en-US" sz="43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Files used:</a:t>
            </a:r>
            <a:r>
              <a:rPr lang="en-US" sz="4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triage_level.csv, diagnosis.csv, and specialty_referral.csv.</a:t>
            </a:r>
          </a:p>
          <a:p>
            <a:pPr algn="l">
              <a:lnSpc>
                <a:spcPts val="6020"/>
              </a:lnSpc>
              <a:spcBef>
                <a:spcPct val="0"/>
              </a:spcBef>
            </a:pPr>
            <a:r>
              <a:rPr lang="en-US" sz="43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Working subset:</a:t>
            </a:r>
            <a:r>
              <a:rPr lang="en-US" sz="4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2,139 complete cases with HPI, initial vitals, triage, diagnosis, and specialty referral.</a:t>
            </a:r>
          </a:p>
          <a:p>
            <a:pPr algn="l">
              <a:lnSpc>
                <a:spcPts val="6020"/>
              </a:lnSpc>
              <a:spcBef>
                <a:spcPct val="0"/>
              </a:spcBef>
            </a:pPr>
            <a:endParaRPr lang="en-US" sz="43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6020"/>
              </a:lnSpc>
              <a:spcBef>
                <a:spcPct val="0"/>
              </a:spcBef>
            </a:pPr>
            <a:endParaRPr lang="en-US" sz="43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9902436" y="6151941"/>
            <a:ext cx="7356864" cy="3296213"/>
            <a:chOff x="0" y="0"/>
            <a:chExt cx="1937610" cy="8681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37610" cy="868138"/>
            </a:xfrm>
            <a:custGeom>
              <a:avLst/>
              <a:gdLst/>
              <a:ahLst/>
              <a:cxnLst/>
              <a:rect l="l" t="t" r="r" b="b"/>
              <a:pathLst>
                <a:path w="1937610" h="868138">
                  <a:moveTo>
                    <a:pt x="53669" y="0"/>
                  </a:moveTo>
                  <a:lnTo>
                    <a:pt x="1883941" y="0"/>
                  </a:lnTo>
                  <a:cubicBezTo>
                    <a:pt x="1913582" y="0"/>
                    <a:pt x="1937610" y="24029"/>
                    <a:pt x="1937610" y="53669"/>
                  </a:cubicBezTo>
                  <a:lnTo>
                    <a:pt x="1937610" y="814469"/>
                  </a:lnTo>
                  <a:cubicBezTo>
                    <a:pt x="1937610" y="844110"/>
                    <a:pt x="1913582" y="868138"/>
                    <a:pt x="1883941" y="868138"/>
                  </a:cubicBezTo>
                  <a:lnTo>
                    <a:pt x="53669" y="868138"/>
                  </a:lnTo>
                  <a:cubicBezTo>
                    <a:pt x="39435" y="868138"/>
                    <a:pt x="25784" y="862484"/>
                    <a:pt x="15719" y="852419"/>
                  </a:cubicBezTo>
                  <a:cubicBezTo>
                    <a:pt x="5654" y="842354"/>
                    <a:pt x="0" y="828703"/>
                    <a:pt x="0" y="814469"/>
                  </a:cubicBezTo>
                  <a:lnTo>
                    <a:pt x="0" y="53669"/>
                  </a:lnTo>
                  <a:cubicBezTo>
                    <a:pt x="0" y="24029"/>
                    <a:pt x="24029" y="0"/>
                    <a:pt x="53669" y="0"/>
                  </a:cubicBezTo>
                  <a:close/>
                </a:path>
              </a:pathLst>
            </a:custGeom>
            <a:solidFill>
              <a:srgbClr val="9CD0B5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57150"/>
              <a:ext cx="1937610" cy="8109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599197" y="6734129"/>
            <a:ext cx="7963342" cy="2055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71"/>
              </a:lnSpc>
              <a:spcBef>
                <a:spcPct val="0"/>
              </a:spcBef>
            </a:pPr>
            <a:r>
              <a:rPr lang="en-US" sz="3908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 Parsed initial vitals from text into numeric variables and removed clinically implausible values.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28700" y="6200466"/>
            <a:ext cx="7550929" cy="3199163"/>
            <a:chOff x="0" y="0"/>
            <a:chExt cx="1988722" cy="8425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88722" cy="842578"/>
            </a:xfrm>
            <a:custGeom>
              <a:avLst/>
              <a:gdLst/>
              <a:ahLst/>
              <a:cxnLst/>
              <a:rect l="l" t="t" r="r" b="b"/>
              <a:pathLst>
                <a:path w="1988722" h="842578">
                  <a:moveTo>
                    <a:pt x="52290" y="0"/>
                  </a:moveTo>
                  <a:lnTo>
                    <a:pt x="1936432" y="0"/>
                  </a:lnTo>
                  <a:cubicBezTo>
                    <a:pt x="1965311" y="0"/>
                    <a:pt x="1988722" y="23411"/>
                    <a:pt x="1988722" y="52290"/>
                  </a:cubicBezTo>
                  <a:lnTo>
                    <a:pt x="1988722" y="790288"/>
                  </a:lnTo>
                  <a:cubicBezTo>
                    <a:pt x="1988722" y="819167"/>
                    <a:pt x="1965311" y="842578"/>
                    <a:pt x="1936432" y="842578"/>
                  </a:cubicBezTo>
                  <a:lnTo>
                    <a:pt x="52290" y="842578"/>
                  </a:lnTo>
                  <a:cubicBezTo>
                    <a:pt x="23411" y="842578"/>
                    <a:pt x="0" y="819167"/>
                    <a:pt x="0" y="790288"/>
                  </a:cubicBezTo>
                  <a:lnTo>
                    <a:pt x="0" y="52290"/>
                  </a:lnTo>
                  <a:cubicBezTo>
                    <a:pt x="0" y="23411"/>
                    <a:pt x="23411" y="0"/>
                    <a:pt x="52290" y="0"/>
                  </a:cubicBezTo>
                  <a:close/>
                </a:path>
              </a:pathLst>
            </a:custGeom>
            <a:solidFill>
              <a:srgbClr val="9CD0B5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1988722" cy="785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1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29112" y="6355422"/>
            <a:ext cx="6246607" cy="280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 Cleaned noisy diagnosis/specialty fields: 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specialties 591 → 63,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 diagnoses 1,886 → 1,797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7082" y="2753898"/>
            <a:ext cx="18000918" cy="7051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Created using rule-based weak labeling.</a:t>
            </a:r>
          </a:p>
          <a:p>
            <a:pPr algn="l">
              <a:lnSpc>
                <a:spcPts val="5459"/>
              </a:lnSpc>
              <a:spcBef>
                <a:spcPct val="0"/>
              </a:spcBef>
            </a:pPr>
            <a:r>
              <a:rPr lang="en-US" sz="3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Input signals for labeling: clinical narrative, triage level, and parsed vital signs.</a:t>
            </a:r>
          </a:p>
          <a:p>
            <a:pPr algn="l">
              <a:lnSpc>
                <a:spcPts val="5459"/>
              </a:lnSpc>
              <a:spcBef>
                <a:spcPct val="0"/>
              </a:spcBef>
            </a:pPr>
            <a:r>
              <a:rPr lang="en-US" sz="3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Rules identify clinical instability, isolation risk, trauma/high-risk injury patterns, and low-acuity presentations.</a:t>
            </a:r>
          </a:p>
          <a:p>
            <a:pPr algn="l">
              <a:lnSpc>
                <a:spcPts val="5459"/>
              </a:lnSpc>
              <a:spcBef>
                <a:spcPct val="0"/>
              </a:spcBef>
            </a:pPr>
            <a:r>
              <a:rPr lang="en-US" sz="3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Used as target only; excluded from the text-generation prompt.</a:t>
            </a:r>
          </a:p>
          <a:p>
            <a:pPr algn="l">
              <a:lnSpc>
                <a:spcPts val="5319"/>
              </a:lnSpc>
              <a:spcBef>
                <a:spcPct val="0"/>
              </a:spcBef>
            </a:pPr>
            <a:endParaRPr lang="en-US" sz="38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5319"/>
              </a:lnSpc>
              <a:spcBef>
                <a:spcPct val="0"/>
              </a:spcBef>
            </a:pPr>
            <a:endParaRPr lang="en-US" sz="38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4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 Final classes:</a:t>
            </a:r>
          </a:p>
          <a:p>
            <a:pPr algn="l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standard_ed_bed, monitored_bed, resuscitation_bay,</a:t>
            </a:r>
          </a:p>
          <a:p>
            <a:pPr algn="l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isolation_room, trauma_bay, triage_or_waiting_room</a:t>
            </a:r>
          </a:p>
        </p:txBody>
      </p:sp>
      <p:sp>
        <p:nvSpPr>
          <p:cNvPr id="3" name="Freeform 3"/>
          <p:cNvSpPr/>
          <p:nvPr/>
        </p:nvSpPr>
        <p:spPr>
          <a:xfrm rot="8398432" flipH="1">
            <a:off x="8347198" y="5443822"/>
            <a:ext cx="11571907" cy="10099118"/>
          </a:xfrm>
          <a:custGeom>
            <a:avLst/>
            <a:gdLst/>
            <a:ahLst/>
            <a:cxnLst/>
            <a:rect l="l" t="t" r="r" b="b"/>
            <a:pathLst>
              <a:path w="11571907" h="10099118">
                <a:moveTo>
                  <a:pt x="11571907" y="0"/>
                </a:moveTo>
                <a:lnTo>
                  <a:pt x="0" y="0"/>
                </a:lnTo>
                <a:lnTo>
                  <a:pt x="0" y="10099118"/>
                </a:lnTo>
                <a:lnTo>
                  <a:pt x="11571907" y="10099118"/>
                </a:lnTo>
                <a:lnTo>
                  <a:pt x="11571907" y="0"/>
                </a:lnTo>
                <a:close/>
              </a:path>
            </a:pathLst>
          </a:custGeom>
          <a:blipFill>
            <a:blip>
              <a:alphaModFix amt="3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4" name="Group 4"/>
          <p:cNvGrpSpPr/>
          <p:nvPr/>
        </p:nvGrpSpPr>
        <p:grpSpPr>
          <a:xfrm>
            <a:off x="121417" y="1503532"/>
            <a:ext cx="7517695" cy="1107491"/>
            <a:chOff x="-5827" y="0"/>
            <a:chExt cx="1979969" cy="29168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74142" cy="291685"/>
            </a:xfrm>
            <a:custGeom>
              <a:avLst/>
              <a:gdLst/>
              <a:ahLst/>
              <a:cxnLst/>
              <a:rect l="l" t="t" r="r" b="b"/>
              <a:pathLst>
                <a:path w="1974142" h="291685">
                  <a:moveTo>
                    <a:pt x="52676" y="0"/>
                  </a:moveTo>
                  <a:lnTo>
                    <a:pt x="1921466" y="0"/>
                  </a:lnTo>
                  <a:cubicBezTo>
                    <a:pt x="1950558" y="0"/>
                    <a:pt x="1974142" y="23584"/>
                    <a:pt x="1974142" y="52676"/>
                  </a:cubicBezTo>
                  <a:lnTo>
                    <a:pt x="1974142" y="239009"/>
                  </a:lnTo>
                  <a:cubicBezTo>
                    <a:pt x="1974142" y="252979"/>
                    <a:pt x="1968592" y="266378"/>
                    <a:pt x="1958714" y="276256"/>
                  </a:cubicBezTo>
                  <a:cubicBezTo>
                    <a:pt x="1948835" y="286135"/>
                    <a:pt x="1935437" y="291685"/>
                    <a:pt x="1921466" y="291685"/>
                  </a:cubicBezTo>
                  <a:lnTo>
                    <a:pt x="52676" y="291685"/>
                  </a:lnTo>
                  <a:cubicBezTo>
                    <a:pt x="23584" y="291685"/>
                    <a:pt x="0" y="268101"/>
                    <a:pt x="0" y="239009"/>
                  </a:cubicBezTo>
                  <a:lnTo>
                    <a:pt x="0" y="52676"/>
                  </a:lnTo>
                  <a:cubicBezTo>
                    <a:pt x="0" y="23584"/>
                    <a:pt x="23584" y="0"/>
                    <a:pt x="52676" y="0"/>
                  </a:cubicBezTo>
                  <a:close/>
                </a:path>
              </a:pathLst>
            </a:custGeom>
            <a:solidFill>
              <a:srgbClr val="95D1B3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-5827" y="68915"/>
              <a:ext cx="1974142" cy="1869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699"/>
                </a:lnSpc>
              </a:pPr>
              <a:r>
                <a:rPr lang="en-US" sz="4895" dirty="0">
                  <a:solidFill>
                    <a:srgbClr val="000000"/>
                  </a:solidFill>
                  <a:latin typeface="Handy Casual"/>
                  <a:ea typeface="Handy Casual"/>
                  <a:cs typeface="Handy Casual"/>
                  <a:sym typeface="Handy Casual"/>
                </a:rPr>
                <a:t>FIRST LABEL: ED CARE AREA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-1464346" y="0"/>
            <a:ext cx="7189116" cy="140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40"/>
              </a:lnSpc>
              <a:spcBef>
                <a:spcPct val="0"/>
              </a:spcBef>
            </a:pPr>
            <a:r>
              <a:rPr lang="en-US" sz="9200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Labeling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46722" y="1711006"/>
            <a:ext cx="14794556" cy="8114906"/>
          </a:xfrm>
          <a:custGeom>
            <a:avLst/>
            <a:gdLst/>
            <a:ahLst/>
            <a:cxnLst/>
            <a:rect l="l" t="t" r="r" b="b"/>
            <a:pathLst>
              <a:path w="14794556" h="8114906">
                <a:moveTo>
                  <a:pt x="0" y="0"/>
                </a:moveTo>
                <a:lnTo>
                  <a:pt x="14794556" y="0"/>
                </a:lnTo>
                <a:lnTo>
                  <a:pt x="14794556" y="8114906"/>
                </a:lnTo>
                <a:lnTo>
                  <a:pt x="0" y="8114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0" b="-250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TextBox 3"/>
          <p:cNvSpPr txBox="1"/>
          <p:nvPr/>
        </p:nvSpPr>
        <p:spPr>
          <a:xfrm>
            <a:off x="1028700" y="97731"/>
            <a:ext cx="15131818" cy="122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TARGET LABEL DISTRIBUTION AND CLASS IMBALANCE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520877" y="0"/>
            <a:ext cx="7189116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40"/>
              </a:lnSpc>
              <a:spcBef>
                <a:spcPct val="0"/>
              </a:spcBef>
            </a:pPr>
            <a:r>
              <a:rPr lang="en-US" sz="8200">
                <a:solidFill>
                  <a:srgbClr val="483C42"/>
                </a:solidFill>
                <a:latin typeface="Handy Casual"/>
                <a:ea typeface="Handy Casual"/>
                <a:cs typeface="Handy Casual"/>
                <a:sym typeface="Handy Casual"/>
              </a:rPr>
              <a:t>Labeling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3541" y="2498190"/>
            <a:ext cx="18144459" cy="818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Derived from the cleaned specialty field.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Original specialties were grouped into broader clinical consult labels.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63 original specialties were reduced to </a:t>
            </a:r>
            <a:r>
              <a:rPr lang="en-US" sz="3299" b="1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18 final consult classes.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Generic labels such as medicine_or_ed_consult and other_consult were used only when no specific consult label was available.</a:t>
            </a:r>
          </a:p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Used as target only; excluded from the text-generation prompt.</a:t>
            </a:r>
          </a:p>
          <a:p>
            <a:pPr algn="l">
              <a:lnSpc>
                <a:spcPts val="4899"/>
              </a:lnSpc>
              <a:spcBef>
                <a:spcPct val="0"/>
              </a:spcBef>
            </a:pPr>
            <a:endParaRPr lang="en-US" sz="34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Examples</a:t>
            </a: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orthopedics / hand surgery / podiatry → orthopedic_consult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ENT / ophthalmology / oral surgery / dentistry → ent_or_eye_oral_consult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endParaRPr lang="en-US" sz="32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*</a:t>
            </a:r>
            <a:r>
              <a:rPr lang="en-US" sz="3199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We intentionally prioritize ASR robustness over multi-label modeling in order to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keep the experimental question focused and interpretable.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endParaRPr lang="en-US" sz="3199" i="1">
              <a:solidFill>
                <a:srgbClr val="000000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43541" y="1388304"/>
            <a:ext cx="9248054" cy="1107491"/>
            <a:chOff x="0" y="630"/>
            <a:chExt cx="2435701" cy="291685"/>
          </a:xfrm>
        </p:grpSpPr>
        <p:sp>
          <p:nvSpPr>
            <p:cNvPr id="5" name="Freeform 5"/>
            <p:cNvSpPr/>
            <p:nvPr/>
          </p:nvSpPr>
          <p:spPr>
            <a:xfrm>
              <a:off x="0" y="630"/>
              <a:ext cx="2435701" cy="291685"/>
            </a:xfrm>
            <a:custGeom>
              <a:avLst/>
              <a:gdLst/>
              <a:ahLst/>
              <a:cxnLst/>
              <a:rect l="l" t="t" r="r" b="b"/>
              <a:pathLst>
                <a:path w="2435701" h="291685">
                  <a:moveTo>
                    <a:pt x="42694" y="0"/>
                  </a:moveTo>
                  <a:lnTo>
                    <a:pt x="2393007" y="0"/>
                  </a:lnTo>
                  <a:cubicBezTo>
                    <a:pt x="2416586" y="0"/>
                    <a:pt x="2435701" y="19115"/>
                    <a:pt x="2435701" y="42694"/>
                  </a:cubicBezTo>
                  <a:lnTo>
                    <a:pt x="2435701" y="248991"/>
                  </a:lnTo>
                  <a:cubicBezTo>
                    <a:pt x="2435701" y="260314"/>
                    <a:pt x="2431203" y="271173"/>
                    <a:pt x="2423196" y="279180"/>
                  </a:cubicBezTo>
                  <a:cubicBezTo>
                    <a:pt x="2415190" y="287187"/>
                    <a:pt x="2404330" y="291685"/>
                    <a:pt x="2393007" y="291685"/>
                  </a:cubicBezTo>
                  <a:lnTo>
                    <a:pt x="42694" y="291685"/>
                  </a:lnTo>
                  <a:cubicBezTo>
                    <a:pt x="19115" y="291685"/>
                    <a:pt x="0" y="272570"/>
                    <a:pt x="0" y="248991"/>
                  </a:cubicBezTo>
                  <a:lnTo>
                    <a:pt x="0" y="42694"/>
                  </a:lnTo>
                  <a:cubicBezTo>
                    <a:pt x="0" y="31371"/>
                    <a:pt x="4498" y="20512"/>
                    <a:pt x="12505" y="12505"/>
                  </a:cubicBezTo>
                  <a:cubicBezTo>
                    <a:pt x="20512" y="4498"/>
                    <a:pt x="31371" y="0"/>
                    <a:pt x="42694" y="0"/>
                  </a:cubicBezTo>
                  <a:close/>
                </a:path>
              </a:pathLst>
            </a:custGeom>
            <a:solidFill>
              <a:srgbClr val="95D1B3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85725"/>
              <a:ext cx="2435701" cy="2059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27"/>
                </a:lnSpc>
              </a:pPr>
              <a:r>
                <a:rPr lang="en-US" sz="4195" dirty="0">
                  <a:solidFill>
                    <a:srgbClr val="000000"/>
                  </a:solidFill>
                  <a:latin typeface="Handy Casual"/>
                  <a:ea typeface="Handy Casual"/>
                  <a:cs typeface="Handy Casual"/>
                  <a:sym typeface="Handy Casual"/>
                </a:rPr>
                <a:t>SECOND LABEL: PRIMARY SPECIALTY CONSULTATION</a:t>
              </a:r>
            </a:p>
          </p:txBody>
        </p:sp>
      </p:grpSp>
      <p:sp>
        <p:nvSpPr>
          <p:cNvPr id="7" name="Freeform 7"/>
          <p:cNvSpPr/>
          <p:nvPr/>
        </p:nvSpPr>
        <p:spPr>
          <a:xfrm rot="8398432" flipH="1">
            <a:off x="12936967" y="7214777"/>
            <a:ext cx="7627170" cy="6656439"/>
          </a:xfrm>
          <a:custGeom>
            <a:avLst/>
            <a:gdLst/>
            <a:ahLst/>
            <a:cxnLst/>
            <a:rect l="l" t="t" r="r" b="b"/>
            <a:pathLst>
              <a:path w="7627170" h="6656439">
                <a:moveTo>
                  <a:pt x="7627170" y="0"/>
                </a:moveTo>
                <a:lnTo>
                  <a:pt x="0" y="0"/>
                </a:lnTo>
                <a:lnTo>
                  <a:pt x="0" y="6656439"/>
                </a:lnTo>
                <a:lnTo>
                  <a:pt x="7627170" y="6656439"/>
                </a:lnTo>
                <a:lnTo>
                  <a:pt x="7627170" y="0"/>
                </a:lnTo>
                <a:close/>
              </a:path>
            </a:pathLst>
          </a:custGeom>
          <a:blipFill>
            <a:blip>
              <a:alphaModFix amt="3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107123"/>
            <a:ext cx="18288000" cy="8005935"/>
          </a:xfrm>
          <a:custGeom>
            <a:avLst/>
            <a:gdLst/>
            <a:ahLst/>
            <a:cxnLst/>
            <a:rect l="l" t="t" r="r" b="b"/>
            <a:pathLst>
              <a:path w="18288000" h="8005935">
                <a:moveTo>
                  <a:pt x="0" y="0"/>
                </a:moveTo>
                <a:lnTo>
                  <a:pt x="18288000" y="0"/>
                </a:lnTo>
                <a:lnTo>
                  <a:pt x="18288000" y="8005935"/>
                </a:lnTo>
                <a:lnTo>
                  <a:pt x="0" y="80059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2" t="-322" r="-2032" b="-706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TextBox 3"/>
          <p:cNvSpPr txBox="1"/>
          <p:nvPr/>
        </p:nvSpPr>
        <p:spPr>
          <a:xfrm>
            <a:off x="734912" y="31674"/>
            <a:ext cx="15131818" cy="1285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sz="7500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TARGET LABEL DISTRIBUTION AND CLASS IMBALANCE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17578" y="5143500"/>
            <a:ext cx="16141722" cy="4883906"/>
          </a:xfrm>
          <a:custGeom>
            <a:avLst/>
            <a:gdLst/>
            <a:ahLst/>
            <a:cxnLst/>
            <a:rect l="l" t="t" r="r" b="b"/>
            <a:pathLst>
              <a:path w="16141722" h="4883906">
                <a:moveTo>
                  <a:pt x="0" y="0"/>
                </a:moveTo>
                <a:lnTo>
                  <a:pt x="16141722" y="0"/>
                </a:lnTo>
                <a:lnTo>
                  <a:pt x="16141722" y="4883906"/>
                </a:lnTo>
                <a:lnTo>
                  <a:pt x="0" y="4883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TextBox 3"/>
          <p:cNvSpPr txBox="1"/>
          <p:nvPr/>
        </p:nvSpPr>
        <p:spPr>
          <a:xfrm>
            <a:off x="922377" y="116491"/>
            <a:ext cx="16527423" cy="1282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LEAKAGE-AWARE CASE SEED FOR REPORT GENERATION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-53161" y="1835104"/>
            <a:ext cx="16230600" cy="2613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7" lvl="1" indent="-388618" algn="l">
              <a:lnSpc>
                <a:spcPts val="5039"/>
              </a:lnSpc>
              <a:buFont typeface="Arial"/>
              <a:buChar char="•"/>
            </a:pPr>
            <a:r>
              <a:rPr lang="en-US" sz="35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Each case was converted into a structured seed containing HPI, patient information, and initial vital signs.</a:t>
            </a:r>
          </a:p>
          <a:p>
            <a:pPr marL="777237" lvl="1" indent="-388618" algn="l">
              <a:lnSpc>
                <a:spcPts val="5039"/>
              </a:lnSpc>
              <a:buFont typeface="Arial"/>
              <a:buChar char="•"/>
            </a:pPr>
            <a:r>
              <a:rPr lang="en-US" sz="35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To reduce leakage, the seed excluded target labels, specialty fields, diagnosis fields, and triage, since these were related to the target-label creation.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2707" y="1771641"/>
            <a:ext cx="7891293" cy="950844"/>
            <a:chOff x="0" y="0"/>
            <a:chExt cx="2078365" cy="2504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78365" cy="250428"/>
            </a:xfrm>
            <a:custGeom>
              <a:avLst/>
              <a:gdLst/>
              <a:ahLst/>
              <a:cxnLst/>
              <a:rect l="l" t="t" r="r" b="b"/>
              <a:pathLst>
                <a:path w="2078365" h="250428">
                  <a:moveTo>
                    <a:pt x="50035" y="0"/>
                  </a:moveTo>
                  <a:lnTo>
                    <a:pt x="2028331" y="0"/>
                  </a:lnTo>
                  <a:cubicBezTo>
                    <a:pt x="2041601" y="0"/>
                    <a:pt x="2054327" y="5271"/>
                    <a:pt x="2063711" y="14655"/>
                  </a:cubicBezTo>
                  <a:cubicBezTo>
                    <a:pt x="2073094" y="24038"/>
                    <a:pt x="2078365" y="36765"/>
                    <a:pt x="2078365" y="50035"/>
                  </a:cubicBezTo>
                  <a:lnTo>
                    <a:pt x="2078365" y="200393"/>
                  </a:lnTo>
                  <a:cubicBezTo>
                    <a:pt x="2078365" y="213663"/>
                    <a:pt x="2073094" y="226390"/>
                    <a:pt x="2063711" y="235773"/>
                  </a:cubicBezTo>
                  <a:cubicBezTo>
                    <a:pt x="2054327" y="245157"/>
                    <a:pt x="2041601" y="250428"/>
                    <a:pt x="2028331" y="250428"/>
                  </a:cubicBezTo>
                  <a:lnTo>
                    <a:pt x="50035" y="250428"/>
                  </a:lnTo>
                  <a:cubicBezTo>
                    <a:pt x="36765" y="250428"/>
                    <a:pt x="24038" y="245157"/>
                    <a:pt x="14655" y="235773"/>
                  </a:cubicBezTo>
                  <a:cubicBezTo>
                    <a:pt x="5271" y="226390"/>
                    <a:pt x="0" y="213663"/>
                    <a:pt x="0" y="200393"/>
                  </a:cubicBezTo>
                  <a:lnTo>
                    <a:pt x="0" y="50035"/>
                  </a:lnTo>
                  <a:cubicBezTo>
                    <a:pt x="0" y="36765"/>
                    <a:pt x="5271" y="24038"/>
                    <a:pt x="14655" y="14655"/>
                  </a:cubicBezTo>
                  <a:cubicBezTo>
                    <a:pt x="24038" y="5271"/>
                    <a:pt x="36765" y="0"/>
                    <a:pt x="50035" y="0"/>
                  </a:cubicBez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2078365" cy="193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1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734157" y="101591"/>
            <a:ext cx="10405229" cy="1262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19"/>
              </a:lnSpc>
              <a:spcBef>
                <a:spcPct val="0"/>
              </a:spcBef>
            </a:pPr>
            <a:r>
              <a:rPr lang="en-US" sz="7299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SYNTHETIC EMS REPORT GENERATION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1389" y="1788911"/>
            <a:ext cx="9445915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2,139 LABELED CLINICAL CASES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931653" y="2734040"/>
            <a:ext cx="533400" cy="712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↓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252707" y="3578722"/>
            <a:ext cx="7891293" cy="964639"/>
            <a:chOff x="0" y="0"/>
            <a:chExt cx="2078365" cy="25406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78365" cy="254061"/>
            </a:xfrm>
            <a:custGeom>
              <a:avLst/>
              <a:gdLst/>
              <a:ahLst/>
              <a:cxnLst/>
              <a:rect l="l" t="t" r="r" b="b"/>
              <a:pathLst>
                <a:path w="2078365" h="254061">
                  <a:moveTo>
                    <a:pt x="50035" y="0"/>
                  </a:moveTo>
                  <a:lnTo>
                    <a:pt x="2028331" y="0"/>
                  </a:lnTo>
                  <a:cubicBezTo>
                    <a:pt x="2041601" y="0"/>
                    <a:pt x="2054327" y="5271"/>
                    <a:pt x="2063711" y="14655"/>
                  </a:cubicBezTo>
                  <a:cubicBezTo>
                    <a:pt x="2073094" y="24038"/>
                    <a:pt x="2078365" y="36765"/>
                    <a:pt x="2078365" y="50035"/>
                  </a:cubicBezTo>
                  <a:lnTo>
                    <a:pt x="2078365" y="204027"/>
                  </a:lnTo>
                  <a:cubicBezTo>
                    <a:pt x="2078365" y="217297"/>
                    <a:pt x="2073094" y="230023"/>
                    <a:pt x="2063711" y="239407"/>
                  </a:cubicBezTo>
                  <a:cubicBezTo>
                    <a:pt x="2054327" y="248790"/>
                    <a:pt x="2041601" y="254061"/>
                    <a:pt x="2028331" y="254061"/>
                  </a:cubicBezTo>
                  <a:lnTo>
                    <a:pt x="50035" y="254061"/>
                  </a:lnTo>
                  <a:cubicBezTo>
                    <a:pt x="36765" y="254061"/>
                    <a:pt x="24038" y="248790"/>
                    <a:pt x="14655" y="239407"/>
                  </a:cubicBezTo>
                  <a:cubicBezTo>
                    <a:pt x="5271" y="230023"/>
                    <a:pt x="0" y="217297"/>
                    <a:pt x="0" y="204027"/>
                  </a:cubicBezTo>
                  <a:lnTo>
                    <a:pt x="0" y="50035"/>
                  </a:lnTo>
                  <a:cubicBezTo>
                    <a:pt x="0" y="36765"/>
                    <a:pt x="5271" y="24038"/>
                    <a:pt x="14655" y="14655"/>
                  </a:cubicBezTo>
                  <a:cubicBezTo>
                    <a:pt x="24038" y="5271"/>
                    <a:pt x="36765" y="0"/>
                    <a:pt x="50035" y="0"/>
                  </a:cubicBez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57150"/>
              <a:ext cx="2078365" cy="1969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1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52707" y="3593365"/>
            <a:ext cx="7891293" cy="880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LEAKAGE-AWARE CASE SEEDS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31653" y="4552887"/>
            <a:ext cx="533400" cy="712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↓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252707" y="5351081"/>
            <a:ext cx="7891293" cy="964639"/>
            <a:chOff x="0" y="0"/>
            <a:chExt cx="2078365" cy="25406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78365" cy="254061"/>
            </a:xfrm>
            <a:custGeom>
              <a:avLst/>
              <a:gdLst/>
              <a:ahLst/>
              <a:cxnLst/>
              <a:rect l="l" t="t" r="r" b="b"/>
              <a:pathLst>
                <a:path w="2078365" h="254061">
                  <a:moveTo>
                    <a:pt x="50035" y="0"/>
                  </a:moveTo>
                  <a:lnTo>
                    <a:pt x="2028331" y="0"/>
                  </a:lnTo>
                  <a:cubicBezTo>
                    <a:pt x="2041601" y="0"/>
                    <a:pt x="2054327" y="5271"/>
                    <a:pt x="2063711" y="14655"/>
                  </a:cubicBezTo>
                  <a:cubicBezTo>
                    <a:pt x="2073094" y="24038"/>
                    <a:pt x="2078365" y="36765"/>
                    <a:pt x="2078365" y="50035"/>
                  </a:cubicBezTo>
                  <a:lnTo>
                    <a:pt x="2078365" y="204027"/>
                  </a:lnTo>
                  <a:cubicBezTo>
                    <a:pt x="2078365" y="217297"/>
                    <a:pt x="2073094" y="230023"/>
                    <a:pt x="2063711" y="239407"/>
                  </a:cubicBezTo>
                  <a:cubicBezTo>
                    <a:pt x="2054327" y="248790"/>
                    <a:pt x="2041601" y="254061"/>
                    <a:pt x="2028331" y="254061"/>
                  </a:cubicBezTo>
                  <a:lnTo>
                    <a:pt x="50035" y="254061"/>
                  </a:lnTo>
                  <a:cubicBezTo>
                    <a:pt x="36765" y="254061"/>
                    <a:pt x="24038" y="248790"/>
                    <a:pt x="14655" y="239407"/>
                  </a:cubicBezTo>
                  <a:cubicBezTo>
                    <a:pt x="5271" y="230023"/>
                    <a:pt x="0" y="217297"/>
                    <a:pt x="0" y="204027"/>
                  </a:cubicBezTo>
                  <a:lnTo>
                    <a:pt x="0" y="50035"/>
                  </a:lnTo>
                  <a:cubicBezTo>
                    <a:pt x="0" y="36765"/>
                    <a:pt x="5271" y="24038"/>
                    <a:pt x="14655" y="14655"/>
                  </a:cubicBezTo>
                  <a:cubicBezTo>
                    <a:pt x="24038" y="5271"/>
                    <a:pt x="36765" y="0"/>
                    <a:pt x="50035" y="0"/>
                  </a:cubicBez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57150"/>
              <a:ext cx="2078365" cy="1969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1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252707" y="5332386"/>
            <a:ext cx="7891293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GPT-4.1-MINI TEXT GENERATION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52707" y="7199640"/>
            <a:ext cx="7891293" cy="964639"/>
            <a:chOff x="0" y="0"/>
            <a:chExt cx="2078365" cy="25406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78365" cy="254061"/>
            </a:xfrm>
            <a:custGeom>
              <a:avLst/>
              <a:gdLst/>
              <a:ahLst/>
              <a:cxnLst/>
              <a:rect l="l" t="t" r="r" b="b"/>
              <a:pathLst>
                <a:path w="2078365" h="254061">
                  <a:moveTo>
                    <a:pt x="50035" y="0"/>
                  </a:moveTo>
                  <a:lnTo>
                    <a:pt x="2028331" y="0"/>
                  </a:lnTo>
                  <a:cubicBezTo>
                    <a:pt x="2041601" y="0"/>
                    <a:pt x="2054327" y="5271"/>
                    <a:pt x="2063711" y="14655"/>
                  </a:cubicBezTo>
                  <a:cubicBezTo>
                    <a:pt x="2073094" y="24038"/>
                    <a:pt x="2078365" y="36765"/>
                    <a:pt x="2078365" y="50035"/>
                  </a:cubicBezTo>
                  <a:lnTo>
                    <a:pt x="2078365" y="204027"/>
                  </a:lnTo>
                  <a:cubicBezTo>
                    <a:pt x="2078365" y="217297"/>
                    <a:pt x="2073094" y="230023"/>
                    <a:pt x="2063711" y="239407"/>
                  </a:cubicBezTo>
                  <a:cubicBezTo>
                    <a:pt x="2054327" y="248790"/>
                    <a:pt x="2041601" y="254061"/>
                    <a:pt x="2028331" y="254061"/>
                  </a:cubicBezTo>
                  <a:lnTo>
                    <a:pt x="50035" y="254061"/>
                  </a:lnTo>
                  <a:cubicBezTo>
                    <a:pt x="36765" y="254061"/>
                    <a:pt x="24038" y="248790"/>
                    <a:pt x="14655" y="239407"/>
                  </a:cubicBezTo>
                  <a:cubicBezTo>
                    <a:pt x="5271" y="230023"/>
                    <a:pt x="0" y="217297"/>
                    <a:pt x="0" y="204027"/>
                  </a:cubicBezTo>
                  <a:lnTo>
                    <a:pt x="0" y="50035"/>
                  </a:lnTo>
                  <a:cubicBezTo>
                    <a:pt x="0" y="36765"/>
                    <a:pt x="5271" y="24038"/>
                    <a:pt x="14655" y="14655"/>
                  </a:cubicBezTo>
                  <a:cubicBezTo>
                    <a:pt x="24038" y="5271"/>
                    <a:pt x="36765" y="0"/>
                    <a:pt x="50035" y="0"/>
                  </a:cubicBez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57150"/>
              <a:ext cx="2078365" cy="1969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1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4931653" y="6401445"/>
            <a:ext cx="533400" cy="712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↓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52707" y="7218690"/>
            <a:ext cx="7891293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4 EMS REPORT VARIANTS PER CASE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974347" y="8221429"/>
            <a:ext cx="533400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↓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295400" y="8997686"/>
            <a:ext cx="7891293" cy="964639"/>
            <a:chOff x="0" y="0"/>
            <a:chExt cx="2078365" cy="25406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078365" cy="254061"/>
            </a:xfrm>
            <a:custGeom>
              <a:avLst/>
              <a:gdLst/>
              <a:ahLst/>
              <a:cxnLst/>
              <a:rect l="l" t="t" r="r" b="b"/>
              <a:pathLst>
                <a:path w="2078365" h="254061">
                  <a:moveTo>
                    <a:pt x="50035" y="0"/>
                  </a:moveTo>
                  <a:lnTo>
                    <a:pt x="2028331" y="0"/>
                  </a:lnTo>
                  <a:cubicBezTo>
                    <a:pt x="2041601" y="0"/>
                    <a:pt x="2054327" y="5271"/>
                    <a:pt x="2063711" y="14655"/>
                  </a:cubicBezTo>
                  <a:cubicBezTo>
                    <a:pt x="2073094" y="24038"/>
                    <a:pt x="2078365" y="36765"/>
                    <a:pt x="2078365" y="50035"/>
                  </a:cubicBezTo>
                  <a:lnTo>
                    <a:pt x="2078365" y="204027"/>
                  </a:lnTo>
                  <a:cubicBezTo>
                    <a:pt x="2078365" y="217297"/>
                    <a:pt x="2073094" y="230023"/>
                    <a:pt x="2063711" y="239407"/>
                  </a:cubicBezTo>
                  <a:cubicBezTo>
                    <a:pt x="2054327" y="248790"/>
                    <a:pt x="2041601" y="254061"/>
                    <a:pt x="2028331" y="254061"/>
                  </a:cubicBezTo>
                  <a:lnTo>
                    <a:pt x="50035" y="254061"/>
                  </a:lnTo>
                  <a:cubicBezTo>
                    <a:pt x="36765" y="254061"/>
                    <a:pt x="24038" y="248790"/>
                    <a:pt x="14655" y="239407"/>
                  </a:cubicBezTo>
                  <a:cubicBezTo>
                    <a:pt x="5271" y="230023"/>
                    <a:pt x="0" y="217297"/>
                    <a:pt x="0" y="204027"/>
                  </a:cubicBezTo>
                  <a:lnTo>
                    <a:pt x="0" y="50035"/>
                  </a:lnTo>
                  <a:cubicBezTo>
                    <a:pt x="0" y="36765"/>
                    <a:pt x="5271" y="24038"/>
                    <a:pt x="14655" y="14655"/>
                  </a:cubicBezTo>
                  <a:cubicBezTo>
                    <a:pt x="24038" y="5271"/>
                    <a:pt x="36765" y="0"/>
                    <a:pt x="50035" y="0"/>
                  </a:cubicBez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57150"/>
              <a:ext cx="2078365" cy="1969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1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2201550" y="9048199"/>
            <a:ext cx="5993606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8,556 SYNTHETIC EMS REPORTS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593468" y="2151813"/>
            <a:ext cx="4098965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 u="sng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4 VARIANTS PER CASE: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979962" y="3181466"/>
            <a:ext cx="7891293" cy="3614315"/>
            <a:chOff x="0" y="0"/>
            <a:chExt cx="2078365" cy="95191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078365" cy="951918"/>
            </a:xfrm>
            <a:custGeom>
              <a:avLst/>
              <a:gdLst/>
              <a:ahLst/>
              <a:cxnLst/>
              <a:rect l="l" t="t" r="r" b="b"/>
              <a:pathLst>
                <a:path w="2078365" h="951918">
                  <a:moveTo>
                    <a:pt x="50035" y="0"/>
                  </a:moveTo>
                  <a:lnTo>
                    <a:pt x="2028331" y="0"/>
                  </a:lnTo>
                  <a:cubicBezTo>
                    <a:pt x="2041601" y="0"/>
                    <a:pt x="2054327" y="5271"/>
                    <a:pt x="2063711" y="14655"/>
                  </a:cubicBezTo>
                  <a:cubicBezTo>
                    <a:pt x="2073094" y="24038"/>
                    <a:pt x="2078365" y="36765"/>
                    <a:pt x="2078365" y="50035"/>
                  </a:cubicBezTo>
                  <a:lnTo>
                    <a:pt x="2078365" y="901884"/>
                  </a:lnTo>
                  <a:cubicBezTo>
                    <a:pt x="2078365" y="915154"/>
                    <a:pt x="2073094" y="927880"/>
                    <a:pt x="2063711" y="937263"/>
                  </a:cubicBezTo>
                  <a:cubicBezTo>
                    <a:pt x="2054327" y="946647"/>
                    <a:pt x="2041601" y="951918"/>
                    <a:pt x="2028331" y="951918"/>
                  </a:cubicBezTo>
                  <a:lnTo>
                    <a:pt x="50035" y="951918"/>
                  </a:lnTo>
                  <a:cubicBezTo>
                    <a:pt x="36765" y="951918"/>
                    <a:pt x="24038" y="946647"/>
                    <a:pt x="14655" y="937263"/>
                  </a:cubicBezTo>
                  <a:cubicBezTo>
                    <a:pt x="5271" y="927880"/>
                    <a:pt x="0" y="915154"/>
                    <a:pt x="0" y="901884"/>
                  </a:cubicBezTo>
                  <a:lnTo>
                    <a:pt x="0" y="50035"/>
                  </a:lnTo>
                  <a:cubicBezTo>
                    <a:pt x="0" y="36765"/>
                    <a:pt x="5271" y="24038"/>
                    <a:pt x="14655" y="14655"/>
                  </a:cubicBezTo>
                  <a:cubicBezTo>
                    <a:pt x="24038" y="5271"/>
                    <a:pt x="36765" y="0"/>
                    <a:pt x="50035" y="0"/>
                  </a:cubicBezTo>
                  <a:close/>
                </a:path>
              </a:pathLst>
            </a:custGeom>
            <a:solidFill>
              <a:srgbClr val="D6E6F7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57150"/>
              <a:ext cx="2078365" cy="8947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1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0308883" y="3562283"/>
            <a:ext cx="7562372" cy="2766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50590" lvl="1" indent="-425295" algn="just">
              <a:lnSpc>
                <a:spcPts val="5515"/>
              </a:lnSpc>
              <a:buAutoNum type="arabicPeriod"/>
            </a:pPr>
            <a:r>
              <a:rPr lang="en-US" sz="393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professional_complete</a:t>
            </a:r>
          </a:p>
          <a:p>
            <a:pPr marL="850590" lvl="1" indent="-425295" algn="just">
              <a:lnSpc>
                <a:spcPts val="5515"/>
              </a:lnSpc>
              <a:buAutoNum type="arabicPeriod"/>
            </a:pPr>
            <a:r>
              <a:rPr lang="en-US" sz="393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brief_radio_missing_details</a:t>
            </a:r>
          </a:p>
          <a:p>
            <a:pPr marL="850590" lvl="1" indent="-425295" algn="just">
              <a:lnSpc>
                <a:spcPts val="5515"/>
              </a:lnSpc>
              <a:buAutoNum type="arabicPeriod"/>
            </a:pPr>
            <a:r>
              <a:rPr lang="en-US" sz="393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patient_reported_uncertain</a:t>
            </a:r>
          </a:p>
          <a:p>
            <a:pPr marL="850590" lvl="1" indent="-425295" algn="just">
              <a:lnSpc>
                <a:spcPts val="5515"/>
              </a:lnSpc>
              <a:buAutoNum type="arabicPeriod"/>
            </a:pPr>
            <a:r>
              <a:rPr lang="en-US" sz="393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distracted_or_disorganized_handoff</a:t>
            </a:r>
          </a:p>
        </p:txBody>
      </p:sp>
      <p:sp>
        <p:nvSpPr>
          <p:cNvPr id="32" name="Freeform 32"/>
          <p:cNvSpPr/>
          <p:nvPr/>
        </p:nvSpPr>
        <p:spPr>
          <a:xfrm>
            <a:off x="14571543" y="6998574"/>
            <a:ext cx="4603145" cy="4519451"/>
          </a:xfrm>
          <a:custGeom>
            <a:avLst/>
            <a:gdLst/>
            <a:ahLst/>
            <a:cxnLst/>
            <a:rect l="l" t="t" r="r" b="b"/>
            <a:pathLst>
              <a:path w="4603145" h="4519451">
                <a:moveTo>
                  <a:pt x="0" y="0"/>
                </a:moveTo>
                <a:lnTo>
                  <a:pt x="4603144" y="0"/>
                </a:lnTo>
                <a:lnTo>
                  <a:pt x="4603144" y="4519452"/>
                </a:lnTo>
                <a:lnTo>
                  <a:pt x="0" y="45194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614150" y="4267228"/>
            <a:ext cx="9200263" cy="4549948"/>
          </a:xfrm>
          <a:custGeom>
            <a:avLst/>
            <a:gdLst/>
            <a:ahLst/>
            <a:cxnLst/>
            <a:rect l="l" t="t" r="r" b="b"/>
            <a:pathLst>
              <a:path w="9200263" h="4549948">
                <a:moveTo>
                  <a:pt x="0" y="0"/>
                </a:moveTo>
                <a:lnTo>
                  <a:pt x="9200263" y="0"/>
                </a:lnTo>
                <a:lnTo>
                  <a:pt x="9200263" y="4549948"/>
                </a:lnTo>
                <a:lnTo>
                  <a:pt x="0" y="45499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388790" y="2156644"/>
            <a:ext cx="7187834" cy="7904229"/>
          </a:xfrm>
          <a:custGeom>
            <a:avLst/>
            <a:gdLst/>
            <a:ahLst/>
            <a:cxnLst/>
            <a:rect l="l" t="t" r="r" b="b"/>
            <a:pathLst>
              <a:path w="7187834" h="7904229">
                <a:moveTo>
                  <a:pt x="0" y="0"/>
                </a:moveTo>
                <a:lnTo>
                  <a:pt x="7187834" y="0"/>
                </a:lnTo>
                <a:lnTo>
                  <a:pt x="7187834" y="7904229"/>
                </a:lnTo>
                <a:lnTo>
                  <a:pt x="0" y="7904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he-IL"/>
          </a:p>
        </p:txBody>
      </p:sp>
      <p:sp>
        <p:nvSpPr>
          <p:cNvPr id="4" name="TextBox 4"/>
          <p:cNvSpPr txBox="1"/>
          <p:nvPr/>
        </p:nvSpPr>
        <p:spPr>
          <a:xfrm>
            <a:off x="117804" y="-180975"/>
            <a:ext cx="12221052" cy="155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en-US" sz="9000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FINAL DATASET LABEL DISTRIBUTION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0" y="1296920"/>
            <a:ext cx="18288000" cy="561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*The generated dataset preserves the original class imbalance, since each source case produced four report variants.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78003" y="2568990"/>
            <a:ext cx="15531994" cy="7221749"/>
          </a:xfrm>
          <a:custGeom>
            <a:avLst/>
            <a:gdLst/>
            <a:ahLst/>
            <a:cxnLst/>
            <a:rect l="l" t="t" r="r" b="b"/>
            <a:pathLst>
              <a:path w="15531994" h="7221749">
                <a:moveTo>
                  <a:pt x="0" y="0"/>
                </a:moveTo>
                <a:lnTo>
                  <a:pt x="15531994" y="0"/>
                </a:lnTo>
                <a:lnTo>
                  <a:pt x="15531994" y="7221749"/>
                </a:lnTo>
                <a:lnTo>
                  <a:pt x="0" y="72217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3" name="TextBox 3"/>
          <p:cNvSpPr txBox="1"/>
          <p:nvPr/>
        </p:nvSpPr>
        <p:spPr>
          <a:xfrm>
            <a:off x="1301948" y="366403"/>
            <a:ext cx="15395138" cy="111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  <a:spcBef>
                <a:spcPct val="0"/>
              </a:spcBef>
            </a:pPr>
            <a:r>
              <a:rPr lang="en-US" sz="6500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Example: Same Clinical Case, Different EMS Report Variants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85824" y="177758"/>
            <a:ext cx="12049032" cy="34969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59"/>
              </a:lnSpc>
            </a:pPr>
            <a:r>
              <a:rPr lang="en-US" sz="6899" dirty="0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POST-PROCESSING AND LEAKAGE REDUCTION</a:t>
            </a:r>
          </a:p>
          <a:p>
            <a:pPr algn="ctr">
              <a:lnSpc>
                <a:spcPts val="9100"/>
              </a:lnSpc>
            </a:pPr>
            <a:endParaRPr lang="en-US" sz="6899" dirty="0">
              <a:solidFill>
                <a:srgbClr val="553D3D"/>
              </a:solidFill>
              <a:latin typeface="Handy Casual"/>
              <a:ea typeface="Handy Casual"/>
              <a:cs typeface="Handy Casual"/>
              <a:sym typeface="Handy Casual"/>
            </a:endParaRPr>
          </a:p>
          <a:p>
            <a:pPr algn="ctr">
              <a:lnSpc>
                <a:spcPts val="9100"/>
              </a:lnSpc>
              <a:spcBef>
                <a:spcPct val="0"/>
              </a:spcBef>
            </a:pPr>
            <a:endParaRPr lang="en-US" sz="6899" dirty="0">
              <a:solidFill>
                <a:srgbClr val="553D3D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26127" y="1603661"/>
            <a:ext cx="18288000" cy="8335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  <a:spcBef>
                <a:spcPct val="0"/>
              </a:spcBef>
            </a:pPr>
            <a:r>
              <a:rPr lang="en-US" sz="360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After generation, reports were scanned for hospital-based or leakage-prone wording.</a:t>
            </a:r>
          </a:p>
          <a:p>
            <a:pPr algn="l">
              <a:lnSpc>
                <a:spcPts val="5043"/>
              </a:lnSpc>
              <a:spcBef>
                <a:spcPct val="0"/>
              </a:spcBef>
            </a:pPr>
            <a:endParaRPr lang="en-US" sz="3602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5043"/>
              </a:lnSpc>
              <a:spcBef>
                <a:spcPct val="0"/>
              </a:spcBef>
            </a:pPr>
            <a:endParaRPr lang="en-US" sz="3602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5043"/>
              </a:lnSpc>
              <a:spcBef>
                <a:spcPct val="0"/>
              </a:spcBef>
            </a:pPr>
            <a:r>
              <a:rPr lang="en-US" sz="360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Imaging/lab results</a:t>
            </a:r>
          </a:p>
          <a:p>
            <a:pPr algn="l">
              <a:lnSpc>
                <a:spcPts val="5043"/>
              </a:lnSpc>
              <a:spcBef>
                <a:spcPct val="0"/>
              </a:spcBef>
            </a:pPr>
            <a:r>
              <a:rPr lang="en-US" sz="360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Specialist consult wording</a:t>
            </a:r>
          </a:p>
          <a:p>
            <a:pPr algn="l">
              <a:lnSpc>
                <a:spcPts val="5043"/>
              </a:lnSpc>
              <a:spcBef>
                <a:spcPct val="0"/>
              </a:spcBef>
            </a:pPr>
            <a:r>
              <a:rPr lang="en-US" sz="360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Hospital workflow phrases</a:t>
            </a:r>
          </a:p>
          <a:p>
            <a:pPr algn="l">
              <a:lnSpc>
                <a:spcPts val="5043"/>
              </a:lnSpc>
              <a:spcBef>
                <a:spcPct val="0"/>
              </a:spcBef>
            </a:pPr>
            <a:endParaRPr lang="en-US" sz="3602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5043"/>
              </a:lnSpc>
              <a:spcBef>
                <a:spcPct val="0"/>
              </a:spcBef>
            </a:pPr>
            <a:endParaRPr lang="en-US" sz="3602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5043"/>
              </a:lnSpc>
              <a:spcBef>
                <a:spcPct val="0"/>
              </a:spcBef>
            </a:pPr>
            <a:r>
              <a:rPr lang="en-US" sz="360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Regex-based candidate detection → minimal LLM rewrite → second-pass check.</a:t>
            </a:r>
          </a:p>
          <a:p>
            <a:pPr algn="l">
              <a:lnSpc>
                <a:spcPts val="5043"/>
              </a:lnSpc>
              <a:spcBef>
                <a:spcPct val="0"/>
              </a:spcBef>
            </a:pPr>
            <a:endParaRPr lang="en-US" sz="3602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5043"/>
              </a:lnSpc>
              <a:spcBef>
                <a:spcPct val="0"/>
              </a:spcBef>
            </a:pPr>
            <a:endParaRPr lang="en-US" sz="3602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5043"/>
              </a:lnSpc>
              <a:spcBef>
                <a:spcPct val="0"/>
              </a:spcBef>
            </a:pPr>
            <a:r>
              <a:rPr lang="en-US" sz="360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Round 1 candidates: 461 reports (5.39%)</a:t>
            </a:r>
          </a:p>
          <a:p>
            <a:pPr algn="l">
              <a:lnSpc>
                <a:spcPts val="5043"/>
              </a:lnSpc>
              <a:spcBef>
                <a:spcPct val="0"/>
              </a:spcBef>
            </a:pPr>
            <a:r>
              <a:rPr lang="en-US" sz="360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Round 2 remaining candidates: 168 reports (1.96%)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26127" y="2595053"/>
            <a:ext cx="4283826" cy="920321"/>
            <a:chOff x="0" y="0"/>
            <a:chExt cx="1128250" cy="2423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28251" cy="242389"/>
            </a:xfrm>
            <a:custGeom>
              <a:avLst/>
              <a:gdLst/>
              <a:ahLst/>
              <a:cxnLst/>
              <a:rect l="l" t="t" r="r" b="b"/>
              <a:pathLst>
                <a:path w="1128251" h="242389">
                  <a:moveTo>
                    <a:pt x="92169" y="0"/>
                  </a:moveTo>
                  <a:lnTo>
                    <a:pt x="1036081" y="0"/>
                  </a:lnTo>
                  <a:cubicBezTo>
                    <a:pt x="1060526" y="0"/>
                    <a:pt x="1083970" y="9711"/>
                    <a:pt x="1101255" y="26996"/>
                  </a:cubicBezTo>
                  <a:cubicBezTo>
                    <a:pt x="1118540" y="44281"/>
                    <a:pt x="1128251" y="67725"/>
                    <a:pt x="1128251" y="92169"/>
                  </a:cubicBezTo>
                  <a:lnTo>
                    <a:pt x="1128251" y="150220"/>
                  </a:lnTo>
                  <a:cubicBezTo>
                    <a:pt x="1128251" y="174664"/>
                    <a:pt x="1118540" y="198108"/>
                    <a:pt x="1101255" y="215393"/>
                  </a:cubicBezTo>
                  <a:cubicBezTo>
                    <a:pt x="1083970" y="232678"/>
                    <a:pt x="1060526" y="242389"/>
                    <a:pt x="1036081" y="242389"/>
                  </a:cubicBezTo>
                  <a:lnTo>
                    <a:pt x="92169" y="242389"/>
                  </a:lnTo>
                  <a:cubicBezTo>
                    <a:pt x="67725" y="242389"/>
                    <a:pt x="44281" y="232678"/>
                    <a:pt x="26996" y="215393"/>
                  </a:cubicBezTo>
                  <a:cubicBezTo>
                    <a:pt x="9711" y="198108"/>
                    <a:pt x="0" y="174664"/>
                    <a:pt x="0" y="150220"/>
                  </a:cubicBezTo>
                  <a:lnTo>
                    <a:pt x="0" y="92169"/>
                  </a:lnTo>
                  <a:cubicBezTo>
                    <a:pt x="0" y="67725"/>
                    <a:pt x="9711" y="44281"/>
                    <a:pt x="26996" y="26996"/>
                  </a:cubicBezTo>
                  <a:cubicBezTo>
                    <a:pt x="44281" y="9711"/>
                    <a:pt x="67725" y="0"/>
                    <a:pt x="92169" y="0"/>
                  </a:cubicBezTo>
                  <a:close/>
                </a:path>
              </a:pathLst>
            </a:custGeom>
            <a:solidFill>
              <a:srgbClr val="95D1B3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128250" cy="2804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38300" y="2658339"/>
            <a:ext cx="3628900" cy="7091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sz="4400" dirty="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DETECTED PATTERNS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57506" y="5685910"/>
            <a:ext cx="3821032" cy="908008"/>
            <a:chOff x="0" y="0"/>
            <a:chExt cx="1006362" cy="23914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06362" cy="239146"/>
            </a:xfrm>
            <a:custGeom>
              <a:avLst/>
              <a:gdLst/>
              <a:ahLst/>
              <a:cxnLst/>
              <a:rect l="l" t="t" r="r" b="b"/>
              <a:pathLst>
                <a:path w="1006362" h="239146">
                  <a:moveTo>
                    <a:pt x="103333" y="0"/>
                  </a:moveTo>
                  <a:lnTo>
                    <a:pt x="903030" y="0"/>
                  </a:lnTo>
                  <a:cubicBezTo>
                    <a:pt x="960099" y="0"/>
                    <a:pt x="1006362" y="46264"/>
                    <a:pt x="1006362" y="103333"/>
                  </a:cubicBezTo>
                  <a:lnTo>
                    <a:pt x="1006362" y="135813"/>
                  </a:lnTo>
                  <a:cubicBezTo>
                    <a:pt x="1006362" y="163219"/>
                    <a:pt x="995476" y="189502"/>
                    <a:pt x="976097" y="208881"/>
                  </a:cubicBezTo>
                  <a:cubicBezTo>
                    <a:pt x="956718" y="228259"/>
                    <a:pt x="930435" y="239146"/>
                    <a:pt x="903030" y="239146"/>
                  </a:cubicBezTo>
                  <a:lnTo>
                    <a:pt x="103333" y="239146"/>
                  </a:lnTo>
                  <a:cubicBezTo>
                    <a:pt x="75927" y="239146"/>
                    <a:pt x="49644" y="228259"/>
                    <a:pt x="30265" y="208881"/>
                  </a:cubicBezTo>
                  <a:cubicBezTo>
                    <a:pt x="10887" y="189502"/>
                    <a:pt x="0" y="163219"/>
                    <a:pt x="0" y="135813"/>
                  </a:cubicBezTo>
                  <a:lnTo>
                    <a:pt x="0" y="103333"/>
                  </a:lnTo>
                  <a:cubicBezTo>
                    <a:pt x="0" y="75927"/>
                    <a:pt x="10887" y="49644"/>
                    <a:pt x="30265" y="30265"/>
                  </a:cubicBezTo>
                  <a:cubicBezTo>
                    <a:pt x="49644" y="10887"/>
                    <a:pt x="75927" y="0"/>
                    <a:pt x="103333" y="0"/>
                  </a:cubicBezTo>
                  <a:close/>
                </a:path>
              </a:pathLst>
            </a:custGeom>
            <a:solidFill>
              <a:srgbClr val="95D1B3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06362" cy="2772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5697001"/>
            <a:ext cx="1957123" cy="830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79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METHOD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26127" y="7621639"/>
            <a:ext cx="3752412" cy="920321"/>
            <a:chOff x="0" y="0"/>
            <a:chExt cx="988290" cy="24238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88290" cy="242389"/>
            </a:xfrm>
            <a:custGeom>
              <a:avLst/>
              <a:gdLst/>
              <a:ahLst/>
              <a:cxnLst/>
              <a:rect l="l" t="t" r="r" b="b"/>
              <a:pathLst>
                <a:path w="988290" h="242389">
                  <a:moveTo>
                    <a:pt x="105222" y="0"/>
                  </a:moveTo>
                  <a:lnTo>
                    <a:pt x="883067" y="0"/>
                  </a:lnTo>
                  <a:cubicBezTo>
                    <a:pt x="910974" y="0"/>
                    <a:pt x="937738" y="11086"/>
                    <a:pt x="957471" y="30819"/>
                  </a:cubicBezTo>
                  <a:cubicBezTo>
                    <a:pt x="977204" y="50552"/>
                    <a:pt x="988290" y="77316"/>
                    <a:pt x="988290" y="105222"/>
                  </a:cubicBezTo>
                  <a:lnTo>
                    <a:pt x="988290" y="137167"/>
                  </a:lnTo>
                  <a:cubicBezTo>
                    <a:pt x="988290" y="195279"/>
                    <a:pt x="941180" y="242389"/>
                    <a:pt x="883067" y="242389"/>
                  </a:cubicBezTo>
                  <a:lnTo>
                    <a:pt x="105222" y="242389"/>
                  </a:lnTo>
                  <a:cubicBezTo>
                    <a:pt x="47110" y="242389"/>
                    <a:pt x="0" y="195279"/>
                    <a:pt x="0" y="137167"/>
                  </a:cubicBezTo>
                  <a:lnTo>
                    <a:pt x="0" y="105222"/>
                  </a:lnTo>
                  <a:cubicBezTo>
                    <a:pt x="0" y="47110"/>
                    <a:pt x="47110" y="0"/>
                    <a:pt x="105222" y="0"/>
                  </a:cubicBezTo>
                  <a:close/>
                </a:path>
              </a:pathLst>
            </a:custGeom>
            <a:solidFill>
              <a:srgbClr val="95D1B3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988290" cy="2804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28700" y="7623647"/>
            <a:ext cx="1871398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RESULTS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925" y="4344840"/>
            <a:ext cx="17982150" cy="4223282"/>
          </a:xfrm>
          <a:custGeom>
            <a:avLst/>
            <a:gdLst/>
            <a:ahLst/>
            <a:cxnLst/>
            <a:rect l="l" t="t" r="r" b="b"/>
            <a:pathLst>
              <a:path w="17982150" h="4223282">
                <a:moveTo>
                  <a:pt x="0" y="0"/>
                </a:moveTo>
                <a:lnTo>
                  <a:pt x="17982150" y="0"/>
                </a:lnTo>
                <a:lnTo>
                  <a:pt x="17982150" y="4223281"/>
                </a:lnTo>
                <a:lnTo>
                  <a:pt x="0" y="42232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3" name="TextBox 3"/>
          <p:cNvSpPr txBox="1"/>
          <p:nvPr/>
        </p:nvSpPr>
        <p:spPr>
          <a:xfrm>
            <a:off x="3109244" y="241627"/>
            <a:ext cx="11342920" cy="3416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dirty="0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POST-PROCESSING AND LEAKAGE REDUCTION</a:t>
            </a:r>
          </a:p>
          <a:p>
            <a:pPr algn="ctr">
              <a:lnSpc>
                <a:spcPts val="9100"/>
              </a:lnSpc>
            </a:pPr>
            <a:endParaRPr lang="en-US" sz="6500" dirty="0">
              <a:solidFill>
                <a:srgbClr val="553D3D"/>
              </a:solidFill>
              <a:latin typeface="Handy Casual"/>
              <a:ea typeface="Handy Casual"/>
              <a:cs typeface="Handy Casual"/>
              <a:sym typeface="Handy Casual"/>
            </a:endParaRPr>
          </a:p>
          <a:p>
            <a:pPr algn="ctr">
              <a:lnSpc>
                <a:spcPts val="9100"/>
              </a:lnSpc>
              <a:spcBef>
                <a:spcPct val="0"/>
              </a:spcBef>
            </a:pPr>
            <a:endParaRPr lang="en-US" sz="6500" dirty="0">
              <a:solidFill>
                <a:srgbClr val="553D3D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924842" y="2316329"/>
            <a:ext cx="12253915" cy="654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89"/>
              </a:lnSpc>
              <a:spcBef>
                <a:spcPct val="0"/>
              </a:spcBef>
            </a:pPr>
            <a:r>
              <a:rPr lang="en-US" sz="384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The goal was to preserve clinical meaning while keeping the text EMS-style.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6127" y="1559289"/>
            <a:ext cx="4810316" cy="973180"/>
            <a:chOff x="0" y="0"/>
            <a:chExt cx="1266915" cy="2563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6915" cy="256311"/>
            </a:xfrm>
            <a:custGeom>
              <a:avLst/>
              <a:gdLst/>
              <a:ahLst/>
              <a:cxnLst/>
              <a:rect l="l" t="t" r="r" b="b"/>
              <a:pathLst>
                <a:path w="1266915" h="256311">
                  <a:moveTo>
                    <a:pt x="82081" y="0"/>
                  </a:moveTo>
                  <a:lnTo>
                    <a:pt x="1184833" y="0"/>
                  </a:lnTo>
                  <a:cubicBezTo>
                    <a:pt x="1230166" y="0"/>
                    <a:pt x="1266915" y="36749"/>
                    <a:pt x="1266915" y="82081"/>
                  </a:cubicBezTo>
                  <a:lnTo>
                    <a:pt x="1266915" y="174229"/>
                  </a:lnTo>
                  <a:cubicBezTo>
                    <a:pt x="1266915" y="219562"/>
                    <a:pt x="1230166" y="256311"/>
                    <a:pt x="1184833" y="256311"/>
                  </a:cubicBezTo>
                  <a:lnTo>
                    <a:pt x="82081" y="256311"/>
                  </a:lnTo>
                  <a:cubicBezTo>
                    <a:pt x="36749" y="256311"/>
                    <a:pt x="0" y="219562"/>
                    <a:pt x="0" y="174229"/>
                  </a:cubicBezTo>
                  <a:lnTo>
                    <a:pt x="0" y="82081"/>
                  </a:lnTo>
                  <a:cubicBezTo>
                    <a:pt x="0" y="36749"/>
                    <a:pt x="36749" y="0"/>
                    <a:pt x="82081" y="0"/>
                  </a:cubicBezTo>
                  <a:close/>
                </a:path>
              </a:pathLst>
            </a:custGeom>
            <a:solidFill>
              <a:srgbClr val="9CD0B5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66915" cy="294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281791" y="-84"/>
            <a:ext cx="9205609" cy="1122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dirty="0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TRAIN / VALIDATION / TEST SPLIT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6127" y="2733770"/>
            <a:ext cx="18061873" cy="3348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Group-based split by source_case_id: all 4 variants of the same clinical case were kept in the same split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Class coverage check: all target classes are represented in train, validation, and test.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*This prevents leakage between train, validation, and test. </a:t>
            </a:r>
            <a:r>
              <a:rPr lang="en-US" sz="3000" b="1" i="1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The same group-based split was preserved after ASR generation.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b="1" i="1">
              <a:solidFill>
                <a:srgbClr val="000000"/>
              </a:solidFill>
              <a:latin typeface="Calibri (MS) Bold Italics"/>
              <a:ea typeface="Calibri (MS) Bold Italics"/>
              <a:cs typeface="Calibri (MS) Bold Italics"/>
              <a:sym typeface="Calibri (MS) Bold Italics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b="1" i="1">
              <a:solidFill>
                <a:srgbClr val="000000"/>
              </a:solidFill>
              <a:latin typeface="Calibri (MS) Bold Italics"/>
              <a:ea typeface="Calibri (MS) Bold Italics"/>
              <a:cs typeface="Calibri (MS) Bold Italics"/>
              <a:sym typeface="Calibri (MS) Bold Italic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26127" y="5947601"/>
            <a:ext cx="8111329" cy="4339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13"/>
              </a:lnSpc>
            </a:pPr>
            <a:r>
              <a:rPr lang="en-US" sz="39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70% TRAIN:</a:t>
            </a:r>
          </a:p>
          <a:p>
            <a:pPr algn="l">
              <a:lnSpc>
                <a:spcPts val="5460"/>
              </a:lnSpc>
              <a:spcBef>
                <a:spcPct val="0"/>
              </a:spcBef>
            </a:pPr>
            <a:r>
              <a:rPr lang="en-US" sz="3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5,988 reports (1,497 source cases)</a:t>
            </a:r>
          </a:p>
          <a:p>
            <a:pPr algn="l">
              <a:lnSpc>
                <a:spcPts val="5460"/>
              </a:lnSpc>
              <a:spcBef>
                <a:spcPct val="0"/>
              </a:spcBef>
            </a:pPr>
            <a:r>
              <a:rPr lang="en-US" sz="39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15% VALIDATION</a:t>
            </a:r>
            <a:r>
              <a:rPr lang="en-US" sz="3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</a:t>
            </a:r>
          </a:p>
          <a:p>
            <a:pPr algn="l">
              <a:lnSpc>
                <a:spcPts val="5460"/>
              </a:lnSpc>
              <a:spcBef>
                <a:spcPct val="0"/>
              </a:spcBef>
            </a:pPr>
            <a:r>
              <a:rPr lang="en-US" sz="3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1,284 reports (321 source cases)</a:t>
            </a:r>
          </a:p>
          <a:p>
            <a:pPr algn="l">
              <a:lnSpc>
                <a:spcPts val="5460"/>
              </a:lnSpc>
              <a:spcBef>
                <a:spcPct val="0"/>
              </a:spcBef>
            </a:pPr>
            <a:r>
              <a:rPr lang="en-US" sz="39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15% TEST:</a:t>
            </a:r>
          </a:p>
          <a:p>
            <a:pPr algn="l">
              <a:lnSpc>
                <a:spcPts val="5460"/>
              </a:lnSpc>
              <a:spcBef>
                <a:spcPct val="0"/>
              </a:spcBef>
            </a:pPr>
            <a:r>
              <a:rPr lang="en-US" sz="3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1,284 reports (321 source cases)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51708" y="1572808"/>
            <a:ext cx="3030083" cy="7675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 dirty="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Split strategy: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26127" y="5109578"/>
            <a:ext cx="4810316" cy="973180"/>
            <a:chOff x="0" y="0"/>
            <a:chExt cx="1266915" cy="25631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66915" cy="256311"/>
            </a:xfrm>
            <a:custGeom>
              <a:avLst/>
              <a:gdLst/>
              <a:ahLst/>
              <a:cxnLst/>
              <a:rect l="l" t="t" r="r" b="b"/>
              <a:pathLst>
                <a:path w="1266915" h="256311">
                  <a:moveTo>
                    <a:pt x="82081" y="0"/>
                  </a:moveTo>
                  <a:lnTo>
                    <a:pt x="1184833" y="0"/>
                  </a:lnTo>
                  <a:cubicBezTo>
                    <a:pt x="1230166" y="0"/>
                    <a:pt x="1266915" y="36749"/>
                    <a:pt x="1266915" y="82081"/>
                  </a:cubicBezTo>
                  <a:lnTo>
                    <a:pt x="1266915" y="174229"/>
                  </a:lnTo>
                  <a:cubicBezTo>
                    <a:pt x="1266915" y="219562"/>
                    <a:pt x="1230166" y="256311"/>
                    <a:pt x="1184833" y="256311"/>
                  </a:cubicBezTo>
                  <a:lnTo>
                    <a:pt x="82081" y="256311"/>
                  </a:lnTo>
                  <a:cubicBezTo>
                    <a:pt x="36749" y="256311"/>
                    <a:pt x="0" y="219562"/>
                    <a:pt x="0" y="174229"/>
                  </a:cubicBezTo>
                  <a:lnTo>
                    <a:pt x="0" y="82081"/>
                  </a:lnTo>
                  <a:cubicBezTo>
                    <a:pt x="0" y="36749"/>
                    <a:pt x="36749" y="0"/>
                    <a:pt x="82081" y="0"/>
                  </a:cubicBezTo>
                  <a:close/>
                </a:path>
              </a:pathLst>
            </a:custGeom>
            <a:solidFill>
              <a:srgbClr val="9CD0B5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266915" cy="294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614372" y="5111980"/>
            <a:ext cx="203382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Final split:</a:t>
            </a:r>
          </a:p>
        </p:txBody>
      </p:sp>
      <p:sp>
        <p:nvSpPr>
          <p:cNvPr id="13" name="Freeform 13"/>
          <p:cNvSpPr/>
          <p:nvPr/>
        </p:nvSpPr>
        <p:spPr>
          <a:xfrm rot="-5697878" flipH="1">
            <a:off x="14659258" y="10385"/>
            <a:ext cx="3639601" cy="3315346"/>
          </a:xfrm>
          <a:custGeom>
            <a:avLst/>
            <a:gdLst/>
            <a:ahLst/>
            <a:cxnLst/>
            <a:rect l="l" t="t" r="r" b="b"/>
            <a:pathLst>
              <a:path w="3639601" h="3315346">
                <a:moveTo>
                  <a:pt x="3639602" y="0"/>
                </a:moveTo>
                <a:lnTo>
                  <a:pt x="0" y="0"/>
                </a:lnTo>
                <a:lnTo>
                  <a:pt x="0" y="3315346"/>
                </a:lnTo>
                <a:lnTo>
                  <a:pt x="3639602" y="3315346"/>
                </a:lnTo>
                <a:lnTo>
                  <a:pt x="3639602" y="0"/>
                </a:lnTo>
                <a:close/>
              </a:path>
            </a:pathLst>
          </a:custGeom>
          <a:blipFill>
            <a:blip>
              <a:alphaModFix amt="51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4" name="Freeform 14"/>
          <p:cNvSpPr/>
          <p:nvPr/>
        </p:nvSpPr>
        <p:spPr>
          <a:xfrm rot="8398432" flipH="1">
            <a:off x="11834599" y="4754554"/>
            <a:ext cx="7627170" cy="6656439"/>
          </a:xfrm>
          <a:custGeom>
            <a:avLst/>
            <a:gdLst/>
            <a:ahLst/>
            <a:cxnLst/>
            <a:rect l="l" t="t" r="r" b="b"/>
            <a:pathLst>
              <a:path w="7627170" h="6656439">
                <a:moveTo>
                  <a:pt x="7627170" y="0"/>
                </a:moveTo>
                <a:lnTo>
                  <a:pt x="0" y="0"/>
                </a:lnTo>
                <a:lnTo>
                  <a:pt x="0" y="6656439"/>
                </a:lnTo>
                <a:lnTo>
                  <a:pt x="7627170" y="6656439"/>
                </a:lnTo>
                <a:lnTo>
                  <a:pt x="7627170" y="0"/>
                </a:lnTo>
                <a:close/>
              </a:path>
            </a:pathLst>
          </a:custGeom>
          <a:blipFill>
            <a:blip>
              <a:alphaModFix amt="7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6255" y="1522412"/>
            <a:ext cx="9242949" cy="8616826"/>
            <a:chOff x="0" y="0"/>
            <a:chExt cx="2434357" cy="22694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4357" cy="2269452"/>
            </a:xfrm>
            <a:custGeom>
              <a:avLst/>
              <a:gdLst/>
              <a:ahLst/>
              <a:cxnLst/>
              <a:rect l="l" t="t" r="r" b="b"/>
              <a:pathLst>
                <a:path w="2434357" h="2269452">
                  <a:moveTo>
                    <a:pt x="83760" y="0"/>
                  </a:moveTo>
                  <a:lnTo>
                    <a:pt x="2350597" y="0"/>
                  </a:lnTo>
                  <a:cubicBezTo>
                    <a:pt x="2372811" y="0"/>
                    <a:pt x="2394116" y="8825"/>
                    <a:pt x="2409824" y="24533"/>
                  </a:cubicBezTo>
                  <a:cubicBezTo>
                    <a:pt x="2425532" y="40241"/>
                    <a:pt x="2434357" y="61546"/>
                    <a:pt x="2434357" y="83760"/>
                  </a:cubicBezTo>
                  <a:lnTo>
                    <a:pt x="2434357" y="2185692"/>
                  </a:lnTo>
                  <a:cubicBezTo>
                    <a:pt x="2434357" y="2207906"/>
                    <a:pt x="2425532" y="2229211"/>
                    <a:pt x="2409824" y="2244919"/>
                  </a:cubicBezTo>
                  <a:cubicBezTo>
                    <a:pt x="2394116" y="2260627"/>
                    <a:pt x="2372811" y="2269452"/>
                    <a:pt x="2350597" y="2269452"/>
                  </a:cubicBezTo>
                  <a:lnTo>
                    <a:pt x="83760" y="2269452"/>
                  </a:lnTo>
                  <a:cubicBezTo>
                    <a:pt x="61546" y="2269452"/>
                    <a:pt x="40241" y="2260627"/>
                    <a:pt x="24533" y="2244919"/>
                  </a:cubicBezTo>
                  <a:cubicBezTo>
                    <a:pt x="8825" y="2229211"/>
                    <a:pt x="0" y="2207906"/>
                    <a:pt x="0" y="2185692"/>
                  </a:cubicBezTo>
                  <a:lnTo>
                    <a:pt x="0" y="83760"/>
                  </a:lnTo>
                  <a:cubicBezTo>
                    <a:pt x="0" y="61546"/>
                    <a:pt x="8825" y="40241"/>
                    <a:pt x="24533" y="24533"/>
                  </a:cubicBezTo>
                  <a:cubicBezTo>
                    <a:pt x="40241" y="8825"/>
                    <a:pt x="61546" y="0"/>
                    <a:pt x="83760" y="0"/>
                  </a:cubicBezTo>
                  <a:close/>
                </a:path>
              </a:pathLst>
            </a:custGeom>
            <a:solidFill>
              <a:srgbClr val="6BA286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4357" cy="23075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02398" y="122173"/>
            <a:ext cx="6985792" cy="23704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  <a:spcBef>
                <a:spcPct val="0"/>
              </a:spcBef>
            </a:pPr>
            <a:r>
              <a:rPr lang="en-US" sz="6799" dirty="0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ASR ROBUSTNESS PIPELINE</a:t>
            </a:r>
          </a:p>
          <a:p>
            <a:pPr algn="ctr">
              <a:lnSpc>
                <a:spcPts val="9519"/>
              </a:lnSpc>
              <a:spcBef>
                <a:spcPct val="0"/>
              </a:spcBef>
            </a:pPr>
            <a:endParaRPr lang="en-US" sz="6799" dirty="0">
              <a:solidFill>
                <a:srgbClr val="553D3D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827664" y="1562987"/>
            <a:ext cx="1060133" cy="929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539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GOAL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92759" y="1702385"/>
            <a:ext cx="7460383" cy="10271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endParaRPr/>
          </a:p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Test whether training with noisy ASR transcripts improves model robustness.</a:t>
            </a:r>
          </a:p>
          <a:p>
            <a:pPr algn="l">
              <a:lnSpc>
                <a:spcPts val="5039"/>
              </a:lnSpc>
              <a:spcBef>
                <a:spcPct val="0"/>
              </a:spcBef>
            </a:pPr>
            <a:endParaRPr lang="en-US" sz="35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Training strategies:</a:t>
            </a: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Clean text only</a:t>
            </a: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Noisy ASR text only</a:t>
            </a: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Clean + noisy ASR text</a:t>
            </a:r>
          </a:p>
          <a:p>
            <a:pPr algn="l">
              <a:lnSpc>
                <a:spcPts val="5039"/>
              </a:lnSpc>
            </a:pPr>
            <a:endParaRPr lang="en-US" sz="35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5039"/>
              </a:lnSpc>
            </a:pPr>
            <a:r>
              <a:rPr lang="en-US" sz="35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Evaluation: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original source-case split was preserved, and the same noisy test set was used for all comparisons.</a:t>
            </a:r>
          </a:p>
          <a:p>
            <a:pPr algn="l">
              <a:lnSpc>
                <a:spcPts val="5039"/>
              </a:lnSpc>
            </a:pPr>
            <a:endParaRPr lang="en-US" sz="35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5039"/>
              </a:lnSpc>
            </a:pPr>
            <a:endParaRPr lang="en-US" sz="35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5039"/>
              </a:lnSpc>
            </a:pPr>
            <a:endParaRPr lang="en-US" sz="35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2049616" y="1504663"/>
            <a:ext cx="5251078" cy="854922"/>
            <a:chOff x="0" y="0"/>
            <a:chExt cx="1538172" cy="25042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38172" cy="250428"/>
            </a:xfrm>
            <a:custGeom>
              <a:avLst/>
              <a:gdLst/>
              <a:ahLst/>
              <a:cxnLst/>
              <a:rect l="l" t="t" r="r" b="b"/>
              <a:pathLst>
                <a:path w="1538172" h="250428">
                  <a:moveTo>
                    <a:pt x="75192" y="0"/>
                  </a:moveTo>
                  <a:lnTo>
                    <a:pt x="1462980" y="0"/>
                  </a:lnTo>
                  <a:cubicBezTo>
                    <a:pt x="1504507" y="0"/>
                    <a:pt x="1538172" y="33665"/>
                    <a:pt x="1538172" y="75192"/>
                  </a:cubicBezTo>
                  <a:lnTo>
                    <a:pt x="1538172" y="175236"/>
                  </a:lnTo>
                  <a:cubicBezTo>
                    <a:pt x="1538172" y="216764"/>
                    <a:pt x="1504507" y="250428"/>
                    <a:pt x="1462980" y="250428"/>
                  </a:cubicBezTo>
                  <a:lnTo>
                    <a:pt x="75192" y="250428"/>
                  </a:lnTo>
                  <a:cubicBezTo>
                    <a:pt x="33665" y="250428"/>
                    <a:pt x="0" y="216764"/>
                    <a:pt x="0" y="175236"/>
                  </a:cubicBezTo>
                  <a:lnTo>
                    <a:pt x="0" y="75192"/>
                  </a:lnTo>
                  <a:cubicBezTo>
                    <a:pt x="0" y="33665"/>
                    <a:pt x="33665" y="0"/>
                    <a:pt x="75192" y="0"/>
                  </a:cubicBezTo>
                  <a:close/>
                </a:path>
              </a:pathLst>
            </a:custGeom>
            <a:solidFill>
              <a:srgbClr val="6BA286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57150"/>
              <a:ext cx="1538172" cy="193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1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049616" y="220731"/>
            <a:ext cx="5251078" cy="854922"/>
            <a:chOff x="0" y="0"/>
            <a:chExt cx="1538172" cy="25042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38172" cy="250428"/>
            </a:xfrm>
            <a:custGeom>
              <a:avLst/>
              <a:gdLst/>
              <a:ahLst/>
              <a:cxnLst/>
              <a:rect l="l" t="t" r="r" b="b"/>
              <a:pathLst>
                <a:path w="1538172" h="250428">
                  <a:moveTo>
                    <a:pt x="75192" y="0"/>
                  </a:moveTo>
                  <a:lnTo>
                    <a:pt x="1462980" y="0"/>
                  </a:lnTo>
                  <a:cubicBezTo>
                    <a:pt x="1504507" y="0"/>
                    <a:pt x="1538172" y="33665"/>
                    <a:pt x="1538172" y="75192"/>
                  </a:cubicBezTo>
                  <a:lnTo>
                    <a:pt x="1538172" y="175236"/>
                  </a:lnTo>
                  <a:cubicBezTo>
                    <a:pt x="1538172" y="216764"/>
                    <a:pt x="1504507" y="250428"/>
                    <a:pt x="1462980" y="250428"/>
                  </a:cubicBezTo>
                  <a:lnTo>
                    <a:pt x="75192" y="250428"/>
                  </a:lnTo>
                  <a:cubicBezTo>
                    <a:pt x="33665" y="250428"/>
                    <a:pt x="0" y="216764"/>
                    <a:pt x="0" y="175236"/>
                  </a:cubicBezTo>
                  <a:lnTo>
                    <a:pt x="0" y="75192"/>
                  </a:lnTo>
                  <a:cubicBezTo>
                    <a:pt x="0" y="33665"/>
                    <a:pt x="33665" y="0"/>
                    <a:pt x="75192" y="0"/>
                  </a:cubicBezTo>
                  <a:close/>
                </a:path>
              </a:pathLst>
            </a:custGeom>
            <a:solidFill>
              <a:srgbClr val="6BA286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57150"/>
              <a:ext cx="1538172" cy="193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1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110529" y="2737895"/>
            <a:ext cx="5251078" cy="854922"/>
            <a:chOff x="0" y="0"/>
            <a:chExt cx="1538172" cy="25042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38172" cy="250428"/>
            </a:xfrm>
            <a:custGeom>
              <a:avLst/>
              <a:gdLst/>
              <a:ahLst/>
              <a:cxnLst/>
              <a:rect l="l" t="t" r="r" b="b"/>
              <a:pathLst>
                <a:path w="1538172" h="250428">
                  <a:moveTo>
                    <a:pt x="75192" y="0"/>
                  </a:moveTo>
                  <a:lnTo>
                    <a:pt x="1462980" y="0"/>
                  </a:lnTo>
                  <a:cubicBezTo>
                    <a:pt x="1504507" y="0"/>
                    <a:pt x="1538172" y="33665"/>
                    <a:pt x="1538172" y="75192"/>
                  </a:cubicBezTo>
                  <a:lnTo>
                    <a:pt x="1538172" y="175236"/>
                  </a:lnTo>
                  <a:cubicBezTo>
                    <a:pt x="1538172" y="216764"/>
                    <a:pt x="1504507" y="250428"/>
                    <a:pt x="1462980" y="250428"/>
                  </a:cubicBezTo>
                  <a:lnTo>
                    <a:pt x="75192" y="250428"/>
                  </a:lnTo>
                  <a:cubicBezTo>
                    <a:pt x="33665" y="250428"/>
                    <a:pt x="0" y="216764"/>
                    <a:pt x="0" y="175236"/>
                  </a:cubicBezTo>
                  <a:lnTo>
                    <a:pt x="0" y="75192"/>
                  </a:lnTo>
                  <a:cubicBezTo>
                    <a:pt x="0" y="33665"/>
                    <a:pt x="33665" y="0"/>
                    <a:pt x="75192" y="0"/>
                  </a:cubicBezTo>
                  <a:close/>
                </a:path>
              </a:pathLst>
            </a:custGeom>
            <a:solidFill>
              <a:srgbClr val="6BA286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57150"/>
              <a:ext cx="1538172" cy="193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1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3180444" y="265048"/>
            <a:ext cx="2989421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32"/>
              </a:lnSpc>
              <a:spcBef>
                <a:spcPct val="0"/>
              </a:spcBef>
            </a:pPr>
            <a:r>
              <a:rPr lang="en-US" sz="411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Clean EMS reports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573411" y="1512887"/>
            <a:ext cx="4593593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6"/>
              </a:lnSpc>
              <a:spcBef>
                <a:spcPct val="0"/>
              </a:spcBef>
            </a:pPr>
            <a:r>
              <a:rPr lang="en-US" sz="2697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TTS conversion</a:t>
            </a:r>
          </a:p>
          <a:p>
            <a:pPr algn="ctr">
              <a:lnSpc>
                <a:spcPts val="3236"/>
              </a:lnSpc>
              <a:spcBef>
                <a:spcPct val="0"/>
              </a:spcBef>
            </a:pPr>
            <a:r>
              <a:rPr lang="en-US" sz="2697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(edge-TTS, male voice, speed ×1.3)</a:t>
            </a:r>
          </a:p>
          <a:p>
            <a:pPr algn="ctr">
              <a:lnSpc>
                <a:spcPts val="3236"/>
              </a:lnSpc>
              <a:spcBef>
                <a:spcPct val="0"/>
              </a:spcBef>
            </a:pPr>
            <a:endParaRPr lang="en-US" sz="2697">
              <a:solidFill>
                <a:srgbClr val="000000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12049616" y="6753915"/>
            <a:ext cx="5251078" cy="854922"/>
            <a:chOff x="0" y="0"/>
            <a:chExt cx="1538172" cy="25042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538172" cy="250428"/>
            </a:xfrm>
            <a:custGeom>
              <a:avLst/>
              <a:gdLst/>
              <a:ahLst/>
              <a:cxnLst/>
              <a:rect l="l" t="t" r="r" b="b"/>
              <a:pathLst>
                <a:path w="1538172" h="250428">
                  <a:moveTo>
                    <a:pt x="75192" y="0"/>
                  </a:moveTo>
                  <a:lnTo>
                    <a:pt x="1462980" y="0"/>
                  </a:lnTo>
                  <a:cubicBezTo>
                    <a:pt x="1504507" y="0"/>
                    <a:pt x="1538172" y="33665"/>
                    <a:pt x="1538172" y="75192"/>
                  </a:cubicBezTo>
                  <a:lnTo>
                    <a:pt x="1538172" y="175236"/>
                  </a:lnTo>
                  <a:cubicBezTo>
                    <a:pt x="1538172" y="216764"/>
                    <a:pt x="1504507" y="250428"/>
                    <a:pt x="1462980" y="250428"/>
                  </a:cubicBezTo>
                  <a:lnTo>
                    <a:pt x="75192" y="250428"/>
                  </a:lnTo>
                  <a:cubicBezTo>
                    <a:pt x="33665" y="250428"/>
                    <a:pt x="0" y="216764"/>
                    <a:pt x="0" y="175236"/>
                  </a:cubicBezTo>
                  <a:lnTo>
                    <a:pt x="0" y="75192"/>
                  </a:lnTo>
                  <a:cubicBezTo>
                    <a:pt x="0" y="33665"/>
                    <a:pt x="33665" y="0"/>
                    <a:pt x="75192" y="0"/>
                  </a:cubicBezTo>
                  <a:close/>
                </a:path>
              </a:pathLst>
            </a:custGeom>
            <a:solidFill>
              <a:srgbClr val="6BA286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57150"/>
              <a:ext cx="1538172" cy="193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1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3722893" y="2801292"/>
            <a:ext cx="1942624" cy="712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94"/>
              </a:lnSpc>
              <a:spcBef>
                <a:spcPct val="0"/>
              </a:spcBef>
            </a:pPr>
            <a:r>
              <a:rPr lang="en-US" sz="421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Clean audio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2049616" y="4052249"/>
            <a:ext cx="5251078" cy="854922"/>
            <a:chOff x="0" y="0"/>
            <a:chExt cx="1538172" cy="25042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538172" cy="250428"/>
            </a:xfrm>
            <a:custGeom>
              <a:avLst/>
              <a:gdLst/>
              <a:ahLst/>
              <a:cxnLst/>
              <a:rect l="l" t="t" r="r" b="b"/>
              <a:pathLst>
                <a:path w="1538172" h="250428">
                  <a:moveTo>
                    <a:pt x="75192" y="0"/>
                  </a:moveTo>
                  <a:lnTo>
                    <a:pt x="1462980" y="0"/>
                  </a:lnTo>
                  <a:cubicBezTo>
                    <a:pt x="1504507" y="0"/>
                    <a:pt x="1538172" y="33665"/>
                    <a:pt x="1538172" y="75192"/>
                  </a:cubicBezTo>
                  <a:lnTo>
                    <a:pt x="1538172" y="175236"/>
                  </a:lnTo>
                  <a:cubicBezTo>
                    <a:pt x="1538172" y="216764"/>
                    <a:pt x="1504507" y="250428"/>
                    <a:pt x="1462980" y="250428"/>
                  </a:cubicBezTo>
                  <a:lnTo>
                    <a:pt x="75192" y="250428"/>
                  </a:lnTo>
                  <a:cubicBezTo>
                    <a:pt x="33665" y="250428"/>
                    <a:pt x="0" y="216764"/>
                    <a:pt x="0" y="175236"/>
                  </a:cubicBezTo>
                  <a:lnTo>
                    <a:pt x="0" y="75192"/>
                  </a:lnTo>
                  <a:cubicBezTo>
                    <a:pt x="0" y="33665"/>
                    <a:pt x="33665" y="0"/>
                    <a:pt x="75192" y="0"/>
                  </a:cubicBezTo>
                  <a:close/>
                </a:path>
              </a:pathLst>
            </a:custGeom>
            <a:solidFill>
              <a:srgbClr val="6BA286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57150"/>
              <a:ext cx="1538172" cy="193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1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2110529" y="3907142"/>
            <a:ext cx="5448283" cy="1536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6"/>
              </a:lnSpc>
              <a:spcBef>
                <a:spcPct val="0"/>
              </a:spcBef>
            </a:pPr>
            <a:r>
              <a:rPr lang="en-US" sz="2897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Ambulance noise injection</a:t>
            </a:r>
          </a:p>
          <a:p>
            <a:pPr algn="ctr">
              <a:lnSpc>
                <a:spcPts val="4056"/>
              </a:lnSpc>
              <a:spcBef>
                <a:spcPct val="0"/>
              </a:spcBef>
            </a:pPr>
            <a:r>
              <a:rPr lang="en-US" sz="2897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(siren + white noise)</a:t>
            </a:r>
          </a:p>
          <a:p>
            <a:pPr algn="ctr">
              <a:lnSpc>
                <a:spcPts val="4056"/>
              </a:lnSpc>
              <a:spcBef>
                <a:spcPct val="0"/>
              </a:spcBef>
            </a:pPr>
            <a:endParaRPr lang="en-US" sz="2897">
              <a:solidFill>
                <a:srgbClr val="000000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grpSp>
        <p:nvGrpSpPr>
          <p:cNvPr id="27" name="Group 27"/>
          <p:cNvGrpSpPr/>
          <p:nvPr/>
        </p:nvGrpSpPr>
        <p:grpSpPr>
          <a:xfrm>
            <a:off x="12049616" y="5414626"/>
            <a:ext cx="5251078" cy="854922"/>
            <a:chOff x="0" y="0"/>
            <a:chExt cx="1538172" cy="25042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538172" cy="250428"/>
            </a:xfrm>
            <a:custGeom>
              <a:avLst/>
              <a:gdLst/>
              <a:ahLst/>
              <a:cxnLst/>
              <a:rect l="l" t="t" r="r" b="b"/>
              <a:pathLst>
                <a:path w="1538172" h="250428">
                  <a:moveTo>
                    <a:pt x="75192" y="0"/>
                  </a:moveTo>
                  <a:lnTo>
                    <a:pt x="1462980" y="0"/>
                  </a:lnTo>
                  <a:cubicBezTo>
                    <a:pt x="1504507" y="0"/>
                    <a:pt x="1538172" y="33665"/>
                    <a:pt x="1538172" y="75192"/>
                  </a:cubicBezTo>
                  <a:lnTo>
                    <a:pt x="1538172" y="175236"/>
                  </a:lnTo>
                  <a:cubicBezTo>
                    <a:pt x="1538172" y="216764"/>
                    <a:pt x="1504507" y="250428"/>
                    <a:pt x="1462980" y="250428"/>
                  </a:cubicBezTo>
                  <a:lnTo>
                    <a:pt x="75192" y="250428"/>
                  </a:lnTo>
                  <a:cubicBezTo>
                    <a:pt x="33665" y="250428"/>
                    <a:pt x="0" y="216764"/>
                    <a:pt x="0" y="175236"/>
                  </a:cubicBezTo>
                  <a:lnTo>
                    <a:pt x="0" y="75192"/>
                  </a:lnTo>
                  <a:cubicBezTo>
                    <a:pt x="0" y="33665"/>
                    <a:pt x="33665" y="0"/>
                    <a:pt x="75192" y="0"/>
                  </a:cubicBezTo>
                  <a:close/>
                </a:path>
              </a:pathLst>
            </a:custGeom>
            <a:solidFill>
              <a:srgbClr val="6BA286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57150"/>
              <a:ext cx="1538172" cy="193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1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1852410" y="5461204"/>
            <a:ext cx="5645488" cy="623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6"/>
              </a:lnSpc>
              <a:spcBef>
                <a:spcPct val="0"/>
              </a:spcBef>
            </a:pPr>
            <a:r>
              <a:rPr lang="en-US" sz="3597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Noisy audio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704836" y="6838265"/>
            <a:ext cx="5645488" cy="623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6"/>
              </a:lnSpc>
              <a:spcBef>
                <a:spcPct val="0"/>
              </a:spcBef>
            </a:pPr>
            <a:r>
              <a:rPr lang="en-US" sz="3597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Whisper ASR transcription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2049616" y="8048878"/>
            <a:ext cx="5251078" cy="854922"/>
            <a:chOff x="0" y="0"/>
            <a:chExt cx="1538172" cy="25042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538172" cy="250428"/>
            </a:xfrm>
            <a:custGeom>
              <a:avLst/>
              <a:gdLst/>
              <a:ahLst/>
              <a:cxnLst/>
              <a:rect l="l" t="t" r="r" b="b"/>
              <a:pathLst>
                <a:path w="1538172" h="250428">
                  <a:moveTo>
                    <a:pt x="75192" y="0"/>
                  </a:moveTo>
                  <a:lnTo>
                    <a:pt x="1462980" y="0"/>
                  </a:lnTo>
                  <a:cubicBezTo>
                    <a:pt x="1504507" y="0"/>
                    <a:pt x="1538172" y="33665"/>
                    <a:pt x="1538172" y="75192"/>
                  </a:cubicBezTo>
                  <a:lnTo>
                    <a:pt x="1538172" y="175236"/>
                  </a:lnTo>
                  <a:cubicBezTo>
                    <a:pt x="1538172" y="216764"/>
                    <a:pt x="1504507" y="250428"/>
                    <a:pt x="1462980" y="250428"/>
                  </a:cubicBezTo>
                  <a:lnTo>
                    <a:pt x="75192" y="250428"/>
                  </a:lnTo>
                  <a:cubicBezTo>
                    <a:pt x="33665" y="250428"/>
                    <a:pt x="0" y="216764"/>
                    <a:pt x="0" y="175236"/>
                  </a:cubicBezTo>
                  <a:lnTo>
                    <a:pt x="0" y="75192"/>
                  </a:lnTo>
                  <a:cubicBezTo>
                    <a:pt x="0" y="33665"/>
                    <a:pt x="33665" y="0"/>
                    <a:pt x="75192" y="0"/>
                  </a:cubicBezTo>
                  <a:close/>
                </a:path>
              </a:pathLst>
            </a:custGeom>
            <a:solidFill>
              <a:srgbClr val="6BA286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57150"/>
              <a:ext cx="1538172" cy="193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1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049616" y="9284316"/>
            <a:ext cx="5251078" cy="854922"/>
            <a:chOff x="0" y="0"/>
            <a:chExt cx="1538172" cy="25042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538172" cy="250428"/>
            </a:xfrm>
            <a:custGeom>
              <a:avLst/>
              <a:gdLst/>
              <a:ahLst/>
              <a:cxnLst/>
              <a:rect l="l" t="t" r="r" b="b"/>
              <a:pathLst>
                <a:path w="1538172" h="250428">
                  <a:moveTo>
                    <a:pt x="75192" y="0"/>
                  </a:moveTo>
                  <a:lnTo>
                    <a:pt x="1462980" y="0"/>
                  </a:lnTo>
                  <a:cubicBezTo>
                    <a:pt x="1504507" y="0"/>
                    <a:pt x="1538172" y="33665"/>
                    <a:pt x="1538172" y="75192"/>
                  </a:cubicBezTo>
                  <a:lnTo>
                    <a:pt x="1538172" y="175236"/>
                  </a:lnTo>
                  <a:cubicBezTo>
                    <a:pt x="1538172" y="216764"/>
                    <a:pt x="1504507" y="250428"/>
                    <a:pt x="1462980" y="250428"/>
                  </a:cubicBezTo>
                  <a:lnTo>
                    <a:pt x="75192" y="250428"/>
                  </a:lnTo>
                  <a:cubicBezTo>
                    <a:pt x="33665" y="250428"/>
                    <a:pt x="0" y="216764"/>
                    <a:pt x="0" y="175236"/>
                  </a:cubicBezTo>
                  <a:lnTo>
                    <a:pt x="0" y="75192"/>
                  </a:lnTo>
                  <a:cubicBezTo>
                    <a:pt x="0" y="33665"/>
                    <a:pt x="33665" y="0"/>
                    <a:pt x="75192" y="0"/>
                  </a:cubicBezTo>
                  <a:close/>
                </a:path>
              </a:pathLst>
            </a:custGeom>
            <a:solidFill>
              <a:srgbClr val="6BA286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57150"/>
              <a:ext cx="1538172" cy="193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91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1871460" y="8110663"/>
            <a:ext cx="5645488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8"/>
              </a:lnSpc>
              <a:spcBef>
                <a:spcPct val="0"/>
              </a:spcBef>
            </a:pPr>
            <a:r>
              <a:rPr lang="en-US" sz="3965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Noisy ASR transcripts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537638" y="9388744"/>
            <a:ext cx="4396859" cy="202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38"/>
              </a:lnSpc>
              <a:spcBef>
                <a:spcPct val="0"/>
              </a:spcBef>
            </a:pPr>
            <a:r>
              <a:rPr lang="en-US" sz="3365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Training and evaluation datasets</a:t>
            </a:r>
          </a:p>
          <a:p>
            <a:pPr algn="ctr">
              <a:lnSpc>
                <a:spcPts val="4038"/>
              </a:lnSpc>
              <a:spcBef>
                <a:spcPct val="0"/>
              </a:spcBef>
            </a:pPr>
            <a:endParaRPr lang="en-US" sz="3365">
              <a:solidFill>
                <a:srgbClr val="000000"/>
              </a:solidFill>
              <a:latin typeface="Handy Casual"/>
              <a:ea typeface="Handy Casual"/>
              <a:cs typeface="Handy Casual"/>
              <a:sym typeface="Handy Casual"/>
            </a:endParaRPr>
          </a:p>
          <a:p>
            <a:pPr algn="ctr">
              <a:lnSpc>
                <a:spcPts val="4038"/>
              </a:lnSpc>
              <a:spcBef>
                <a:spcPct val="0"/>
              </a:spcBef>
            </a:pPr>
            <a:endParaRPr lang="en-US" sz="3365">
              <a:solidFill>
                <a:srgbClr val="000000"/>
              </a:solidFill>
              <a:latin typeface="Handy Casual"/>
              <a:ea typeface="Handy Casual"/>
              <a:cs typeface="Handy Casual"/>
              <a:sym typeface="Handy Casual"/>
            </a:endParaRPr>
          </a:p>
          <a:p>
            <a:pPr algn="ctr">
              <a:lnSpc>
                <a:spcPts val="4038"/>
              </a:lnSpc>
              <a:spcBef>
                <a:spcPct val="0"/>
              </a:spcBef>
            </a:pPr>
            <a:endParaRPr lang="en-US" sz="3365">
              <a:solidFill>
                <a:srgbClr val="000000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sp>
        <p:nvSpPr>
          <p:cNvPr id="40" name="AutoShape 40"/>
          <p:cNvSpPr/>
          <p:nvPr/>
        </p:nvSpPr>
        <p:spPr>
          <a:xfrm>
            <a:off x="14675155" y="1046098"/>
            <a:ext cx="0" cy="476314"/>
          </a:xfrm>
          <a:prstGeom prst="line">
            <a:avLst/>
          </a:prstGeom>
          <a:ln w="1143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he-IL"/>
          </a:p>
        </p:txBody>
      </p:sp>
      <p:sp>
        <p:nvSpPr>
          <p:cNvPr id="41" name="AutoShape 41"/>
          <p:cNvSpPr/>
          <p:nvPr/>
        </p:nvSpPr>
        <p:spPr>
          <a:xfrm>
            <a:off x="14675155" y="2321854"/>
            <a:ext cx="0" cy="476314"/>
          </a:xfrm>
          <a:prstGeom prst="line">
            <a:avLst/>
          </a:prstGeom>
          <a:ln w="1143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he-IL"/>
          </a:p>
        </p:txBody>
      </p:sp>
      <p:sp>
        <p:nvSpPr>
          <p:cNvPr id="42" name="AutoShape 42"/>
          <p:cNvSpPr/>
          <p:nvPr/>
        </p:nvSpPr>
        <p:spPr>
          <a:xfrm>
            <a:off x="14694205" y="3592817"/>
            <a:ext cx="0" cy="476314"/>
          </a:xfrm>
          <a:prstGeom prst="line">
            <a:avLst/>
          </a:prstGeom>
          <a:ln w="1143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he-IL"/>
          </a:p>
        </p:txBody>
      </p:sp>
      <p:sp>
        <p:nvSpPr>
          <p:cNvPr id="43" name="AutoShape 43"/>
          <p:cNvSpPr/>
          <p:nvPr/>
        </p:nvSpPr>
        <p:spPr>
          <a:xfrm>
            <a:off x="14678918" y="4907171"/>
            <a:ext cx="0" cy="476314"/>
          </a:xfrm>
          <a:prstGeom prst="line">
            <a:avLst/>
          </a:prstGeom>
          <a:ln w="1143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he-IL"/>
          </a:p>
        </p:txBody>
      </p:sp>
      <p:sp>
        <p:nvSpPr>
          <p:cNvPr id="44" name="AutoShape 44"/>
          <p:cNvSpPr/>
          <p:nvPr/>
        </p:nvSpPr>
        <p:spPr>
          <a:xfrm>
            <a:off x="14675155" y="6238126"/>
            <a:ext cx="0" cy="476314"/>
          </a:xfrm>
          <a:prstGeom prst="line">
            <a:avLst/>
          </a:prstGeom>
          <a:ln w="1143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he-IL"/>
          </a:p>
        </p:txBody>
      </p:sp>
      <p:sp>
        <p:nvSpPr>
          <p:cNvPr id="45" name="AutoShape 45"/>
          <p:cNvSpPr/>
          <p:nvPr/>
        </p:nvSpPr>
        <p:spPr>
          <a:xfrm>
            <a:off x="14675155" y="7567674"/>
            <a:ext cx="0" cy="476314"/>
          </a:xfrm>
          <a:prstGeom prst="line">
            <a:avLst/>
          </a:prstGeom>
          <a:ln w="1143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he-IL"/>
          </a:p>
        </p:txBody>
      </p:sp>
      <p:sp>
        <p:nvSpPr>
          <p:cNvPr id="46" name="AutoShape 46"/>
          <p:cNvSpPr/>
          <p:nvPr/>
        </p:nvSpPr>
        <p:spPr>
          <a:xfrm>
            <a:off x="14675155" y="8883855"/>
            <a:ext cx="0" cy="476314"/>
          </a:xfrm>
          <a:prstGeom prst="line">
            <a:avLst/>
          </a:prstGeom>
          <a:ln w="1143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he-IL"/>
          </a:p>
        </p:txBody>
      </p:sp>
      <p:sp>
        <p:nvSpPr>
          <p:cNvPr id="47" name="TextBox 47"/>
          <p:cNvSpPr txBox="1"/>
          <p:nvPr/>
        </p:nvSpPr>
        <p:spPr>
          <a:xfrm>
            <a:off x="7798191" y="503173"/>
            <a:ext cx="2644815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8"/>
              </a:lnSpc>
              <a:spcBef>
                <a:spcPct val="0"/>
              </a:spcBef>
            </a:pPr>
            <a:r>
              <a:rPr lang="en-US" sz="2465" u="sng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  <a:hlinkClick r:id="rId2" tooltip="https://drive.google.com/file/d/1jg_v28-YC5nWC8-0Iucoiau6JXERLKBA/view?usp=sharing"/>
              </a:rPr>
              <a:t>Example of audio after adding noise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0382" y="4499809"/>
            <a:ext cx="17630037" cy="5600393"/>
          </a:xfrm>
          <a:custGeom>
            <a:avLst/>
            <a:gdLst/>
            <a:ahLst/>
            <a:cxnLst/>
            <a:rect l="l" t="t" r="r" b="b"/>
            <a:pathLst>
              <a:path w="17630037" h="5600393">
                <a:moveTo>
                  <a:pt x="0" y="0"/>
                </a:moveTo>
                <a:lnTo>
                  <a:pt x="17630038" y="0"/>
                </a:lnTo>
                <a:lnTo>
                  <a:pt x="17630038" y="5600393"/>
                </a:lnTo>
                <a:lnTo>
                  <a:pt x="0" y="5600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3" name="Group 3"/>
          <p:cNvGrpSpPr/>
          <p:nvPr/>
        </p:nvGrpSpPr>
        <p:grpSpPr>
          <a:xfrm>
            <a:off x="15575624" y="1393574"/>
            <a:ext cx="2585296" cy="2721196"/>
            <a:chOff x="0" y="0"/>
            <a:chExt cx="680901" cy="7166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80901" cy="716694"/>
            </a:xfrm>
            <a:custGeom>
              <a:avLst/>
              <a:gdLst/>
              <a:ahLst/>
              <a:cxnLst/>
              <a:rect l="l" t="t" r="r" b="b"/>
              <a:pathLst>
                <a:path w="680901" h="716694">
                  <a:moveTo>
                    <a:pt x="152724" y="0"/>
                  </a:moveTo>
                  <a:lnTo>
                    <a:pt x="528176" y="0"/>
                  </a:lnTo>
                  <a:cubicBezTo>
                    <a:pt x="568682" y="0"/>
                    <a:pt x="607528" y="16091"/>
                    <a:pt x="636169" y="44732"/>
                  </a:cubicBezTo>
                  <a:cubicBezTo>
                    <a:pt x="664810" y="73373"/>
                    <a:pt x="680901" y="112219"/>
                    <a:pt x="680901" y="152724"/>
                  </a:cubicBezTo>
                  <a:lnTo>
                    <a:pt x="680901" y="563969"/>
                  </a:lnTo>
                  <a:cubicBezTo>
                    <a:pt x="680901" y="648317"/>
                    <a:pt x="612524" y="716694"/>
                    <a:pt x="528176" y="716694"/>
                  </a:cubicBezTo>
                  <a:lnTo>
                    <a:pt x="152724" y="716694"/>
                  </a:lnTo>
                  <a:cubicBezTo>
                    <a:pt x="112219" y="716694"/>
                    <a:pt x="73373" y="700603"/>
                    <a:pt x="44732" y="671962"/>
                  </a:cubicBezTo>
                  <a:cubicBezTo>
                    <a:pt x="16091" y="643320"/>
                    <a:pt x="0" y="604474"/>
                    <a:pt x="0" y="563969"/>
                  </a:cubicBezTo>
                  <a:lnTo>
                    <a:pt x="0" y="152724"/>
                  </a:lnTo>
                  <a:cubicBezTo>
                    <a:pt x="0" y="112219"/>
                    <a:pt x="16091" y="73373"/>
                    <a:pt x="44732" y="44732"/>
                  </a:cubicBezTo>
                  <a:cubicBezTo>
                    <a:pt x="73373" y="16091"/>
                    <a:pt x="112219" y="0"/>
                    <a:pt x="152724" y="0"/>
                  </a:cubicBezTo>
                  <a:close/>
                </a:path>
              </a:pathLst>
            </a:custGeom>
            <a:solidFill>
              <a:srgbClr val="D7BAA2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80901" cy="7547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002974" y="412499"/>
            <a:ext cx="13391674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79"/>
              </a:lnSpc>
              <a:spcBef>
                <a:spcPct val="0"/>
              </a:spcBef>
            </a:pPr>
            <a:r>
              <a:rPr lang="en-US" sz="6399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ASR Error Example: Clean Report vs Noisy Transcript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40336" y="1876395"/>
            <a:ext cx="13254313" cy="223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2"/>
              </a:lnSpc>
              <a:spcBef>
                <a:spcPct val="0"/>
              </a:spcBef>
            </a:pPr>
            <a:r>
              <a:rPr lang="en-US" sz="3001" b="1">
                <a:solidFill>
                  <a:srgbClr val="FF313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Mean WER: 0.443 ≈ 44%</a:t>
            </a:r>
          </a:p>
          <a:p>
            <a:pPr algn="ctr">
              <a:lnSpc>
                <a:spcPts val="3362"/>
              </a:lnSpc>
              <a:spcBef>
                <a:spcPct val="0"/>
              </a:spcBef>
            </a:pPr>
            <a:r>
              <a:rPr lang="en-US" sz="2801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WER measures the word-level difference between the clean EMS report and the ASR transcript.</a:t>
            </a:r>
          </a:p>
          <a:p>
            <a:pPr algn="ctr">
              <a:lnSpc>
                <a:spcPts val="3482"/>
              </a:lnSpc>
              <a:spcBef>
                <a:spcPct val="0"/>
              </a:spcBef>
            </a:pPr>
            <a:endParaRPr lang="en-US" sz="2801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ctr">
              <a:lnSpc>
                <a:spcPts val="3482"/>
              </a:lnSpc>
              <a:spcBef>
                <a:spcPct val="0"/>
              </a:spcBef>
            </a:pPr>
            <a:endParaRPr lang="en-US" sz="2801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5673786" y="1495395"/>
            <a:ext cx="2334101" cy="2533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38"/>
              </a:lnSpc>
              <a:spcBef>
                <a:spcPct val="0"/>
              </a:spcBef>
            </a:pPr>
            <a:r>
              <a:rPr lang="en-US" sz="3365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noise dataset:</a:t>
            </a:r>
          </a:p>
          <a:p>
            <a:pPr algn="ctr">
              <a:lnSpc>
                <a:spcPts val="4038"/>
              </a:lnSpc>
              <a:spcBef>
                <a:spcPct val="0"/>
              </a:spcBef>
            </a:pPr>
            <a:r>
              <a:rPr lang="en-US" sz="3365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Average WER:</a:t>
            </a:r>
          </a:p>
          <a:p>
            <a:pPr algn="ctr">
              <a:lnSpc>
                <a:spcPts val="4038"/>
              </a:lnSpc>
              <a:spcBef>
                <a:spcPct val="0"/>
              </a:spcBef>
            </a:pPr>
            <a:r>
              <a:rPr lang="en-US" sz="3365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Train: 44.3%</a:t>
            </a:r>
          </a:p>
          <a:p>
            <a:pPr algn="ctr">
              <a:lnSpc>
                <a:spcPts val="4038"/>
              </a:lnSpc>
              <a:spcBef>
                <a:spcPct val="0"/>
              </a:spcBef>
            </a:pPr>
            <a:r>
              <a:rPr lang="en-US" sz="3365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Validation: 43.9%</a:t>
            </a:r>
          </a:p>
          <a:p>
            <a:pPr algn="ctr">
              <a:lnSpc>
                <a:spcPts val="4038"/>
              </a:lnSpc>
              <a:spcBef>
                <a:spcPct val="0"/>
              </a:spcBef>
            </a:pPr>
            <a:r>
              <a:rPr lang="en-US" sz="3365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Test: 44.8%</a:t>
            </a:r>
          </a:p>
        </p:txBody>
      </p:sp>
      <p:sp>
        <p:nvSpPr>
          <p:cNvPr id="9" name="AutoShape 9"/>
          <p:cNvSpPr/>
          <p:nvPr/>
        </p:nvSpPr>
        <p:spPr>
          <a:xfrm>
            <a:off x="9880959" y="8255385"/>
            <a:ext cx="2708567" cy="0"/>
          </a:xfrm>
          <a:prstGeom prst="line">
            <a:avLst/>
          </a:prstGeom>
          <a:ln w="38100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sp>
        <p:nvSpPr>
          <p:cNvPr id="10" name="AutoShape 10"/>
          <p:cNvSpPr/>
          <p:nvPr/>
        </p:nvSpPr>
        <p:spPr>
          <a:xfrm>
            <a:off x="577406" y="8960839"/>
            <a:ext cx="2063481" cy="0"/>
          </a:xfrm>
          <a:prstGeom prst="line">
            <a:avLst/>
          </a:prstGeom>
          <a:ln w="38100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sp>
        <p:nvSpPr>
          <p:cNvPr id="11" name="AutoShape 11"/>
          <p:cNvSpPr/>
          <p:nvPr/>
        </p:nvSpPr>
        <p:spPr>
          <a:xfrm flipV="1">
            <a:off x="9382594" y="8960839"/>
            <a:ext cx="2155525" cy="9525"/>
          </a:xfrm>
          <a:prstGeom prst="line">
            <a:avLst/>
          </a:prstGeom>
          <a:ln w="38100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sp>
        <p:nvSpPr>
          <p:cNvPr id="12" name="AutoShape 12"/>
          <p:cNvSpPr/>
          <p:nvPr/>
        </p:nvSpPr>
        <p:spPr>
          <a:xfrm>
            <a:off x="577406" y="9724581"/>
            <a:ext cx="2708567" cy="0"/>
          </a:xfrm>
          <a:prstGeom prst="line">
            <a:avLst/>
          </a:prstGeom>
          <a:ln w="38100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sp>
        <p:nvSpPr>
          <p:cNvPr id="13" name="AutoShape 13"/>
          <p:cNvSpPr/>
          <p:nvPr/>
        </p:nvSpPr>
        <p:spPr>
          <a:xfrm flipV="1">
            <a:off x="13749166" y="9277348"/>
            <a:ext cx="1326075" cy="19050"/>
          </a:xfrm>
          <a:prstGeom prst="line">
            <a:avLst/>
          </a:prstGeom>
          <a:ln w="38100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38536" y="6849127"/>
            <a:ext cx="7366386" cy="3086100"/>
            <a:chOff x="0" y="0"/>
            <a:chExt cx="194011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40118" cy="812800"/>
            </a:xfrm>
            <a:custGeom>
              <a:avLst/>
              <a:gdLst/>
              <a:ahLst/>
              <a:cxnLst/>
              <a:rect l="l" t="t" r="r" b="b"/>
              <a:pathLst>
                <a:path w="1940118" h="812800">
                  <a:moveTo>
                    <a:pt x="53600" y="0"/>
                  </a:moveTo>
                  <a:lnTo>
                    <a:pt x="1886518" y="0"/>
                  </a:lnTo>
                  <a:cubicBezTo>
                    <a:pt x="1916121" y="0"/>
                    <a:pt x="1940118" y="23998"/>
                    <a:pt x="1940118" y="53600"/>
                  </a:cubicBezTo>
                  <a:lnTo>
                    <a:pt x="1940118" y="759200"/>
                  </a:lnTo>
                  <a:cubicBezTo>
                    <a:pt x="1940118" y="773416"/>
                    <a:pt x="1934471" y="787049"/>
                    <a:pt x="1924419" y="797101"/>
                  </a:cubicBezTo>
                  <a:cubicBezTo>
                    <a:pt x="1914367" y="807153"/>
                    <a:pt x="1900734" y="812800"/>
                    <a:pt x="1886518" y="812800"/>
                  </a:cubicBezTo>
                  <a:lnTo>
                    <a:pt x="53600" y="812800"/>
                  </a:lnTo>
                  <a:cubicBezTo>
                    <a:pt x="39384" y="812800"/>
                    <a:pt x="25751" y="807153"/>
                    <a:pt x="15699" y="797101"/>
                  </a:cubicBezTo>
                  <a:cubicBezTo>
                    <a:pt x="5647" y="787049"/>
                    <a:pt x="0" y="773416"/>
                    <a:pt x="0" y="759200"/>
                  </a:cubicBezTo>
                  <a:lnTo>
                    <a:pt x="0" y="53600"/>
                  </a:lnTo>
                  <a:cubicBezTo>
                    <a:pt x="0" y="39384"/>
                    <a:pt x="5647" y="25751"/>
                    <a:pt x="15699" y="15699"/>
                  </a:cubicBezTo>
                  <a:cubicBezTo>
                    <a:pt x="25751" y="5647"/>
                    <a:pt x="39384" y="0"/>
                    <a:pt x="53600" y="0"/>
                  </a:cubicBezTo>
                  <a:close/>
                </a:path>
              </a:pathLst>
            </a:custGeom>
            <a:solidFill>
              <a:srgbClr val="D7BAA2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94011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572113" y="-171450"/>
            <a:ext cx="11143774" cy="2894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19"/>
              </a:lnSpc>
              <a:spcBef>
                <a:spcPct val="0"/>
              </a:spcBef>
            </a:pPr>
            <a:r>
              <a:rPr lang="en-US" sz="8299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MODELS AND TRAINING STRATEGIES</a:t>
            </a:r>
          </a:p>
          <a:p>
            <a:pPr algn="ctr">
              <a:lnSpc>
                <a:spcPts val="11619"/>
              </a:lnSpc>
              <a:spcBef>
                <a:spcPct val="0"/>
              </a:spcBef>
            </a:pPr>
            <a:endParaRPr lang="en-US" sz="8299">
              <a:solidFill>
                <a:srgbClr val="553D3D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22533" y="1974534"/>
            <a:ext cx="1816298" cy="804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0"/>
              </a:lnSpc>
              <a:spcBef>
                <a:spcPct val="0"/>
              </a:spcBef>
            </a:pPr>
            <a:r>
              <a:rPr lang="en-US" sz="470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DistilBERT: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45298" y="1217296"/>
            <a:ext cx="3997405" cy="788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u="sng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EXPERIMENTAL STAGES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71077" y="7182502"/>
            <a:ext cx="5053608" cy="314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Train clean → Test noisy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Train noisy → Test noisy</a:t>
            </a:r>
          </a:p>
          <a:p>
            <a:pPr algn="just">
              <a:lnSpc>
                <a:spcPts val="4900"/>
              </a:lnSpc>
            </a:pPr>
            <a:endParaRPr lang="en-US" sz="35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just">
              <a:lnSpc>
                <a:spcPts val="4900"/>
              </a:lnSpc>
            </a:pPr>
            <a:endParaRPr lang="en-US" sz="35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just">
              <a:lnSpc>
                <a:spcPts val="4900"/>
              </a:lnSpc>
            </a:pPr>
            <a:endParaRPr lang="en-US" sz="35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324876" y="3026728"/>
            <a:ext cx="8513230" cy="2994886"/>
            <a:chOff x="0" y="0"/>
            <a:chExt cx="2242168" cy="78877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42168" cy="788777"/>
            </a:xfrm>
            <a:custGeom>
              <a:avLst/>
              <a:gdLst/>
              <a:ahLst/>
              <a:cxnLst/>
              <a:rect l="l" t="t" r="r" b="b"/>
              <a:pathLst>
                <a:path w="2242168" h="788777">
                  <a:moveTo>
                    <a:pt x="46379" y="0"/>
                  </a:moveTo>
                  <a:lnTo>
                    <a:pt x="2195788" y="0"/>
                  </a:lnTo>
                  <a:cubicBezTo>
                    <a:pt x="2208089" y="0"/>
                    <a:pt x="2219886" y="4886"/>
                    <a:pt x="2228583" y="13584"/>
                  </a:cubicBezTo>
                  <a:cubicBezTo>
                    <a:pt x="2237281" y="22282"/>
                    <a:pt x="2242168" y="34079"/>
                    <a:pt x="2242168" y="46379"/>
                  </a:cubicBezTo>
                  <a:lnTo>
                    <a:pt x="2242168" y="742397"/>
                  </a:lnTo>
                  <a:cubicBezTo>
                    <a:pt x="2242168" y="768012"/>
                    <a:pt x="2221403" y="788777"/>
                    <a:pt x="2195788" y="788777"/>
                  </a:cubicBezTo>
                  <a:lnTo>
                    <a:pt x="46379" y="788777"/>
                  </a:lnTo>
                  <a:cubicBezTo>
                    <a:pt x="34079" y="788777"/>
                    <a:pt x="22282" y="783890"/>
                    <a:pt x="13584" y="775192"/>
                  </a:cubicBezTo>
                  <a:cubicBezTo>
                    <a:pt x="4886" y="766494"/>
                    <a:pt x="0" y="754698"/>
                    <a:pt x="0" y="742397"/>
                  </a:cubicBezTo>
                  <a:lnTo>
                    <a:pt x="0" y="46379"/>
                  </a:lnTo>
                  <a:cubicBezTo>
                    <a:pt x="0" y="34079"/>
                    <a:pt x="4886" y="22282"/>
                    <a:pt x="13584" y="13584"/>
                  </a:cubicBezTo>
                  <a:cubicBezTo>
                    <a:pt x="22282" y="4886"/>
                    <a:pt x="34079" y="0"/>
                    <a:pt x="46379" y="0"/>
                  </a:cubicBezTo>
                  <a:close/>
                </a:path>
              </a:pathLst>
            </a:custGeom>
            <a:solidFill>
              <a:srgbClr val="D7BAA2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242168" cy="826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76378" y="3080402"/>
            <a:ext cx="8207336" cy="376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General-purpose language model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Smaller and faster baseline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Included to test whether a general model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maybe less sensitive to ASR errors</a:t>
            </a:r>
          </a:p>
          <a:p>
            <a:pPr algn="l">
              <a:lnSpc>
                <a:spcPts val="4900"/>
              </a:lnSpc>
            </a:pPr>
            <a:endParaRPr lang="en-US" sz="35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4900"/>
              </a:lnSpc>
            </a:pPr>
            <a:endParaRPr lang="en-US" sz="35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08553" y="6368115"/>
            <a:ext cx="2763560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39"/>
              </a:lnSpc>
              <a:spcBef>
                <a:spcPct val="0"/>
              </a:spcBef>
            </a:pPr>
            <a:r>
              <a:rPr lang="en-US" sz="469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BioClinicalBERT: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376378" y="7265629"/>
            <a:ext cx="7765198" cy="2538847"/>
            <a:chOff x="0" y="0"/>
            <a:chExt cx="2045155" cy="66866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45155" cy="668667"/>
            </a:xfrm>
            <a:custGeom>
              <a:avLst/>
              <a:gdLst/>
              <a:ahLst/>
              <a:cxnLst/>
              <a:rect l="l" t="t" r="r" b="b"/>
              <a:pathLst>
                <a:path w="2045155" h="668667">
                  <a:moveTo>
                    <a:pt x="50847" y="0"/>
                  </a:moveTo>
                  <a:lnTo>
                    <a:pt x="1994308" y="0"/>
                  </a:lnTo>
                  <a:cubicBezTo>
                    <a:pt x="2007793" y="0"/>
                    <a:pt x="2020726" y="5357"/>
                    <a:pt x="2030262" y="14893"/>
                  </a:cubicBezTo>
                  <a:cubicBezTo>
                    <a:pt x="2039798" y="24428"/>
                    <a:pt x="2045155" y="37362"/>
                    <a:pt x="2045155" y="50847"/>
                  </a:cubicBezTo>
                  <a:lnTo>
                    <a:pt x="2045155" y="617820"/>
                  </a:lnTo>
                  <a:cubicBezTo>
                    <a:pt x="2045155" y="645902"/>
                    <a:pt x="2022390" y="668667"/>
                    <a:pt x="1994308" y="668667"/>
                  </a:cubicBezTo>
                  <a:lnTo>
                    <a:pt x="50847" y="668667"/>
                  </a:lnTo>
                  <a:cubicBezTo>
                    <a:pt x="37362" y="668667"/>
                    <a:pt x="24428" y="663310"/>
                    <a:pt x="14893" y="653775"/>
                  </a:cubicBezTo>
                  <a:cubicBezTo>
                    <a:pt x="5357" y="644239"/>
                    <a:pt x="0" y="631306"/>
                    <a:pt x="0" y="617820"/>
                  </a:cubicBezTo>
                  <a:lnTo>
                    <a:pt x="0" y="50847"/>
                  </a:lnTo>
                  <a:cubicBezTo>
                    <a:pt x="0" y="22765"/>
                    <a:pt x="22765" y="0"/>
                    <a:pt x="50847" y="0"/>
                  </a:cubicBezTo>
                  <a:close/>
                </a:path>
              </a:pathLst>
            </a:custGeom>
            <a:solidFill>
              <a:srgbClr val="D7BAA2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045155" cy="706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30770" y="7705725"/>
            <a:ext cx="7384137" cy="155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8"/>
              </a:lnSpc>
              <a:spcBef>
                <a:spcPct val="0"/>
              </a:spcBef>
            </a:pPr>
            <a:r>
              <a:rPr lang="en-US" sz="326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Pre-trained on biomedical and clinical text</a:t>
            </a:r>
          </a:p>
          <a:p>
            <a:pPr algn="just">
              <a:lnSpc>
                <a:spcPts val="3918"/>
              </a:lnSpc>
              <a:spcBef>
                <a:spcPct val="0"/>
              </a:spcBef>
            </a:pPr>
            <a:r>
              <a:rPr lang="en-US" sz="326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Better suited to medical terminology</a:t>
            </a:r>
          </a:p>
          <a:p>
            <a:pPr algn="just">
              <a:lnSpc>
                <a:spcPts val="3918"/>
              </a:lnSpc>
              <a:spcBef>
                <a:spcPct val="0"/>
              </a:spcBef>
            </a:pPr>
            <a:r>
              <a:rPr lang="en-US" sz="326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Used as the main domain-specific model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26560" y="8724900"/>
            <a:ext cx="5645587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8"/>
              </a:lnSpc>
              <a:spcBef>
                <a:spcPct val="0"/>
              </a:spcBef>
            </a:pPr>
            <a:r>
              <a:rPr lang="en-US" sz="3065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*Clean + noisy training → Noisy test</a:t>
            </a:r>
          </a:p>
          <a:p>
            <a:pPr algn="ctr">
              <a:lnSpc>
                <a:spcPts val="3678"/>
              </a:lnSpc>
              <a:spcBef>
                <a:spcPct val="0"/>
              </a:spcBef>
            </a:pPr>
            <a:r>
              <a:rPr lang="en-US" sz="3065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(BioClinicalBERT only)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338536" y="3026728"/>
            <a:ext cx="7366386" cy="3086100"/>
            <a:chOff x="0" y="0"/>
            <a:chExt cx="1940118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940118" cy="812800"/>
            </a:xfrm>
            <a:custGeom>
              <a:avLst/>
              <a:gdLst/>
              <a:ahLst/>
              <a:cxnLst/>
              <a:rect l="l" t="t" r="r" b="b"/>
              <a:pathLst>
                <a:path w="1940118" h="812800">
                  <a:moveTo>
                    <a:pt x="53600" y="0"/>
                  </a:moveTo>
                  <a:lnTo>
                    <a:pt x="1886518" y="0"/>
                  </a:lnTo>
                  <a:cubicBezTo>
                    <a:pt x="1916121" y="0"/>
                    <a:pt x="1940118" y="23998"/>
                    <a:pt x="1940118" y="53600"/>
                  </a:cubicBezTo>
                  <a:lnTo>
                    <a:pt x="1940118" y="759200"/>
                  </a:lnTo>
                  <a:cubicBezTo>
                    <a:pt x="1940118" y="773416"/>
                    <a:pt x="1934471" y="787049"/>
                    <a:pt x="1924419" y="797101"/>
                  </a:cubicBezTo>
                  <a:cubicBezTo>
                    <a:pt x="1914367" y="807153"/>
                    <a:pt x="1900734" y="812800"/>
                    <a:pt x="1886518" y="812800"/>
                  </a:cubicBezTo>
                  <a:lnTo>
                    <a:pt x="53600" y="812800"/>
                  </a:lnTo>
                  <a:cubicBezTo>
                    <a:pt x="39384" y="812800"/>
                    <a:pt x="25751" y="807153"/>
                    <a:pt x="15699" y="797101"/>
                  </a:cubicBezTo>
                  <a:cubicBezTo>
                    <a:pt x="5647" y="787049"/>
                    <a:pt x="0" y="773416"/>
                    <a:pt x="0" y="759200"/>
                  </a:cubicBezTo>
                  <a:lnTo>
                    <a:pt x="0" y="53600"/>
                  </a:lnTo>
                  <a:cubicBezTo>
                    <a:pt x="0" y="39384"/>
                    <a:pt x="5647" y="25751"/>
                    <a:pt x="15699" y="15699"/>
                  </a:cubicBezTo>
                  <a:cubicBezTo>
                    <a:pt x="25751" y="5647"/>
                    <a:pt x="39384" y="0"/>
                    <a:pt x="53600" y="0"/>
                  </a:cubicBezTo>
                  <a:close/>
                </a:path>
              </a:pathLst>
            </a:custGeom>
            <a:solidFill>
              <a:srgbClr val="D7BAA2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94011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472656" y="3483928"/>
            <a:ext cx="6699647" cy="217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8166" lvl="1" indent="-374083" algn="l">
              <a:lnSpc>
                <a:spcPts val="4158"/>
              </a:lnSpc>
              <a:buFont typeface="Arial"/>
              <a:buChar char="•"/>
            </a:pPr>
            <a:r>
              <a:rPr lang="en-US" sz="346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Train on clean text</a:t>
            </a:r>
          </a:p>
          <a:p>
            <a:pPr marL="748166" lvl="1" indent="-374083" algn="l">
              <a:lnSpc>
                <a:spcPts val="4158"/>
              </a:lnSpc>
              <a:buFont typeface="Arial"/>
              <a:buChar char="•"/>
            </a:pPr>
            <a:r>
              <a:rPr lang="en-US" sz="346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Test on clean text</a:t>
            </a:r>
          </a:p>
          <a:p>
            <a:pPr marL="748166" lvl="1" indent="-374083" algn="l">
              <a:lnSpc>
                <a:spcPts val="4158"/>
              </a:lnSpc>
              <a:buFont typeface="Arial"/>
              <a:buChar char="•"/>
            </a:pPr>
            <a:r>
              <a:rPr lang="en-US" sz="346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Establish the best baseline model</a:t>
            </a:r>
          </a:p>
          <a:p>
            <a:pPr marL="748166" lvl="1" indent="-374083" algn="l">
              <a:lnSpc>
                <a:spcPts val="4158"/>
              </a:lnSpc>
              <a:buFont typeface="Arial"/>
              <a:buChar char="•"/>
            </a:pPr>
            <a:r>
              <a:rPr lang="en-US" sz="346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for each target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014907" y="2424431"/>
            <a:ext cx="11143774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8"/>
              </a:lnSpc>
              <a:spcBef>
                <a:spcPct val="0"/>
              </a:spcBef>
            </a:pPr>
            <a:r>
              <a:rPr lang="en-US" sz="3565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Stage 1 – Clean Baseline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077732" y="6230002"/>
            <a:ext cx="5381468" cy="5050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78"/>
              </a:lnSpc>
              <a:spcBef>
                <a:spcPct val="0"/>
              </a:spcBef>
            </a:pPr>
            <a:r>
              <a:rPr lang="en-US" sz="3565" dirty="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Stage 2 – ASR Robustness Evaluation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44958" y="1069309"/>
            <a:ext cx="5745831" cy="987429"/>
            <a:chOff x="0" y="0"/>
            <a:chExt cx="1513305" cy="2600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13305" cy="260064"/>
            </a:xfrm>
            <a:custGeom>
              <a:avLst/>
              <a:gdLst/>
              <a:ahLst/>
              <a:cxnLst/>
              <a:rect l="l" t="t" r="r" b="b"/>
              <a:pathLst>
                <a:path w="1513305" h="260064">
                  <a:moveTo>
                    <a:pt x="68717" y="0"/>
                  </a:moveTo>
                  <a:lnTo>
                    <a:pt x="1444588" y="0"/>
                  </a:lnTo>
                  <a:cubicBezTo>
                    <a:pt x="1482539" y="0"/>
                    <a:pt x="1513305" y="30766"/>
                    <a:pt x="1513305" y="68717"/>
                  </a:cubicBezTo>
                  <a:lnTo>
                    <a:pt x="1513305" y="191346"/>
                  </a:lnTo>
                  <a:cubicBezTo>
                    <a:pt x="1513305" y="229298"/>
                    <a:pt x="1482539" y="260064"/>
                    <a:pt x="1444588" y="260064"/>
                  </a:cubicBezTo>
                  <a:lnTo>
                    <a:pt x="68717" y="260064"/>
                  </a:lnTo>
                  <a:cubicBezTo>
                    <a:pt x="30766" y="260064"/>
                    <a:pt x="0" y="229298"/>
                    <a:pt x="0" y="191346"/>
                  </a:cubicBezTo>
                  <a:lnTo>
                    <a:pt x="0" y="68717"/>
                  </a:lnTo>
                  <a:cubicBezTo>
                    <a:pt x="0" y="30766"/>
                    <a:pt x="30766" y="0"/>
                    <a:pt x="68717" y="0"/>
                  </a:cubicBezTo>
                  <a:close/>
                </a:path>
              </a:pathLst>
            </a:custGeom>
            <a:solidFill>
              <a:srgbClr val="F0C19C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513305" cy="298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530149" y="-76200"/>
            <a:ext cx="9227701" cy="208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BEST BASELINE MODELS ON CLEAN TEXT</a:t>
            </a:r>
          </a:p>
          <a:p>
            <a:pPr algn="ctr">
              <a:lnSpc>
                <a:spcPts val="8399"/>
              </a:lnSpc>
              <a:spcBef>
                <a:spcPct val="0"/>
              </a:spcBef>
            </a:pPr>
            <a:endParaRPr lang="en-US" sz="5999">
              <a:solidFill>
                <a:srgbClr val="553D3D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323341" y="1117875"/>
            <a:ext cx="5189064" cy="2580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sz="489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Optimization experiments</a:t>
            </a:r>
          </a:p>
          <a:p>
            <a:pPr algn="ctr">
              <a:lnSpc>
                <a:spcPts val="6859"/>
              </a:lnSpc>
              <a:spcBef>
                <a:spcPct val="0"/>
              </a:spcBef>
            </a:pPr>
            <a:endParaRPr lang="en-US" sz="4899">
              <a:solidFill>
                <a:srgbClr val="000000"/>
              </a:solidFill>
              <a:latin typeface="Handy Casual"/>
              <a:ea typeface="Handy Casual"/>
              <a:cs typeface="Handy Casual"/>
              <a:sym typeface="Handy Casual"/>
            </a:endParaRPr>
          </a:p>
          <a:p>
            <a:pPr algn="ctr">
              <a:lnSpc>
                <a:spcPts val="6859"/>
              </a:lnSpc>
              <a:spcBef>
                <a:spcPct val="0"/>
              </a:spcBef>
            </a:pPr>
            <a:endParaRPr lang="en-US" sz="4899">
              <a:solidFill>
                <a:srgbClr val="000000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75036" y="2403433"/>
            <a:ext cx="16482545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42"/>
              </a:lnSpc>
              <a:spcBef>
                <a:spcPct val="0"/>
              </a:spcBef>
            </a:pPr>
            <a:r>
              <a:rPr lang="en-US" sz="3201" i="1" dirty="0" err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DistilBERT</a:t>
            </a:r>
            <a:r>
              <a:rPr lang="en-US" sz="3201" i="1" dirty="0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vs. </a:t>
            </a:r>
            <a:r>
              <a:rPr lang="en-US" sz="3201" i="1" dirty="0" err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BioClinicalBERT</a:t>
            </a:r>
            <a:r>
              <a:rPr lang="en-US" sz="3201" i="1" dirty="0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| Full fine-tuning vs. partial freezing | Weighted vs. unweighted loss |</a:t>
            </a:r>
          </a:p>
          <a:p>
            <a:pPr algn="ctr">
              <a:lnSpc>
                <a:spcPts val="3842"/>
              </a:lnSpc>
              <a:spcBef>
                <a:spcPct val="0"/>
              </a:spcBef>
            </a:pPr>
            <a:r>
              <a:rPr lang="en-US" sz="3201" i="1" dirty="0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3 vs. 5 epochs | Learning rate: 2e-5 vs. 1e-5 | Max length: 128 vs. 192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75036" y="3835977"/>
            <a:ext cx="7809913" cy="6223609"/>
            <a:chOff x="0" y="0"/>
            <a:chExt cx="2126871" cy="16391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26871" cy="1639140"/>
            </a:xfrm>
            <a:custGeom>
              <a:avLst/>
              <a:gdLst/>
              <a:ahLst/>
              <a:cxnLst/>
              <a:rect l="l" t="t" r="r" b="b"/>
              <a:pathLst>
                <a:path w="2126871" h="1639140">
                  <a:moveTo>
                    <a:pt x="48894" y="0"/>
                  </a:moveTo>
                  <a:lnTo>
                    <a:pt x="2077977" y="0"/>
                  </a:lnTo>
                  <a:cubicBezTo>
                    <a:pt x="2090945" y="0"/>
                    <a:pt x="2103381" y="5151"/>
                    <a:pt x="2112550" y="14321"/>
                  </a:cubicBezTo>
                  <a:cubicBezTo>
                    <a:pt x="2121720" y="23490"/>
                    <a:pt x="2126871" y="35926"/>
                    <a:pt x="2126871" y="48894"/>
                  </a:cubicBezTo>
                  <a:lnTo>
                    <a:pt x="2126871" y="1590246"/>
                  </a:lnTo>
                  <a:cubicBezTo>
                    <a:pt x="2126871" y="1617249"/>
                    <a:pt x="2104981" y="1639140"/>
                    <a:pt x="2077977" y="1639140"/>
                  </a:cubicBezTo>
                  <a:lnTo>
                    <a:pt x="48894" y="1639140"/>
                  </a:lnTo>
                  <a:cubicBezTo>
                    <a:pt x="35926" y="1639140"/>
                    <a:pt x="23490" y="1633988"/>
                    <a:pt x="14321" y="1624819"/>
                  </a:cubicBezTo>
                  <a:cubicBezTo>
                    <a:pt x="5151" y="1615650"/>
                    <a:pt x="0" y="1603213"/>
                    <a:pt x="0" y="1590246"/>
                  </a:cubicBezTo>
                  <a:lnTo>
                    <a:pt x="0" y="48894"/>
                  </a:lnTo>
                  <a:cubicBezTo>
                    <a:pt x="0" y="35926"/>
                    <a:pt x="5151" y="23490"/>
                    <a:pt x="14321" y="14321"/>
                  </a:cubicBezTo>
                  <a:cubicBezTo>
                    <a:pt x="23490" y="5151"/>
                    <a:pt x="35926" y="0"/>
                    <a:pt x="48894" y="0"/>
                  </a:cubicBezTo>
                  <a:close/>
                </a:path>
              </a:pathLst>
            </a:custGeom>
            <a:solidFill>
              <a:srgbClr val="F4DDB8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126871" cy="16772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78165" y="3957698"/>
            <a:ext cx="7606784" cy="5619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6"/>
              </a:lnSpc>
              <a:spcBef>
                <a:spcPct val="0"/>
              </a:spcBef>
            </a:pPr>
            <a:r>
              <a:rPr lang="en-US" sz="3313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 ED Care Area</a:t>
            </a:r>
          </a:p>
          <a:p>
            <a:pPr algn="l">
              <a:lnSpc>
                <a:spcPts val="3976"/>
              </a:lnSpc>
              <a:spcBef>
                <a:spcPct val="0"/>
              </a:spcBef>
            </a:pPr>
            <a:r>
              <a:rPr lang="en-US" sz="3313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Best model</a:t>
            </a:r>
            <a:r>
              <a:rPr lang="en-US" sz="3313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</a:t>
            </a:r>
            <a:r>
              <a:rPr lang="en-US" sz="3313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BioClinicalBERT</a:t>
            </a:r>
            <a:endParaRPr lang="en-US" sz="3313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715386" lvl="1" indent="-357693" algn="l">
              <a:lnSpc>
                <a:spcPts val="3976"/>
              </a:lnSpc>
              <a:buFont typeface="Arial"/>
              <a:buChar char="•"/>
            </a:pPr>
            <a:r>
              <a:rPr lang="en-US" sz="3313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Partial fine-tuning: last 8 layers trainable</a:t>
            </a:r>
          </a:p>
          <a:p>
            <a:pPr marL="715386" lvl="1" indent="-357693" algn="l">
              <a:lnSpc>
                <a:spcPts val="3976"/>
              </a:lnSpc>
              <a:buFont typeface="Arial"/>
              <a:buChar char="•"/>
            </a:pPr>
            <a:r>
              <a:rPr lang="en-US" sz="3313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Max length: 128</a:t>
            </a:r>
          </a:p>
          <a:p>
            <a:pPr marL="715386" lvl="1" indent="-357693" algn="l">
              <a:lnSpc>
                <a:spcPts val="3976"/>
              </a:lnSpc>
              <a:buFont typeface="Arial"/>
              <a:buChar char="•"/>
            </a:pPr>
            <a:r>
              <a:rPr lang="en-US" sz="3313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 epochs</a:t>
            </a:r>
          </a:p>
          <a:p>
            <a:pPr marL="715386" lvl="1" indent="-357693" algn="l">
              <a:lnSpc>
                <a:spcPts val="3976"/>
              </a:lnSpc>
              <a:buFont typeface="Arial"/>
              <a:buChar char="•"/>
            </a:pPr>
            <a:r>
              <a:rPr lang="en-US" sz="3313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Learning rate: 2e-5</a:t>
            </a:r>
          </a:p>
          <a:p>
            <a:pPr marL="715386" lvl="1" indent="-357693" algn="l">
              <a:lnSpc>
                <a:spcPts val="3976"/>
              </a:lnSpc>
              <a:buFont typeface="Arial"/>
              <a:buChar char="•"/>
            </a:pPr>
            <a:r>
              <a:rPr lang="en-US" sz="3313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 class weights</a:t>
            </a:r>
          </a:p>
          <a:p>
            <a:pPr algn="l">
              <a:lnSpc>
                <a:spcPts val="3976"/>
              </a:lnSpc>
              <a:spcBef>
                <a:spcPct val="0"/>
              </a:spcBef>
            </a:pPr>
            <a:r>
              <a:rPr lang="en-US" sz="3313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Clean test results</a:t>
            </a:r>
          </a:p>
          <a:p>
            <a:pPr algn="l">
              <a:lnSpc>
                <a:spcPts val="3976"/>
              </a:lnSpc>
              <a:spcBef>
                <a:spcPct val="0"/>
              </a:spcBef>
            </a:pPr>
            <a:r>
              <a:rPr lang="en-US" sz="3313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Accuracy: 67.1%</a:t>
            </a:r>
          </a:p>
          <a:p>
            <a:pPr algn="l">
              <a:lnSpc>
                <a:spcPts val="3976"/>
              </a:lnSpc>
              <a:spcBef>
                <a:spcPct val="0"/>
              </a:spcBef>
            </a:pPr>
            <a:r>
              <a:rPr lang="en-US" sz="3313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Macro F1: 0.319</a:t>
            </a:r>
          </a:p>
          <a:p>
            <a:pPr algn="l">
              <a:lnSpc>
                <a:spcPts val="3976"/>
              </a:lnSpc>
              <a:spcBef>
                <a:spcPct val="0"/>
              </a:spcBef>
            </a:pPr>
            <a:r>
              <a:rPr lang="en-US" sz="3313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Weighted F1: 0.652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405050" y="3835977"/>
            <a:ext cx="8075463" cy="6223609"/>
            <a:chOff x="0" y="0"/>
            <a:chExt cx="2126871" cy="16391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26871" cy="1639140"/>
            </a:xfrm>
            <a:custGeom>
              <a:avLst/>
              <a:gdLst/>
              <a:ahLst/>
              <a:cxnLst/>
              <a:rect l="l" t="t" r="r" b="b"/>
              <a:pathLst>
                <a:path w="2126871" h="1639140">
                  <a:moveTo>
                    <a:pt x="48894" y="0"/>
                  </a:moveTo>
                  <a:lnTo>
                    <a:pt x="2077977" y="0"/>
                  </a:lnTo>
                  <a:cubicBezTo>
                    <a:pt x="2090945" y="0"/>
                    <a:pt x="2103381" y="5151"/>
                    <a:pt x="2112550" y="14321"/>
                  </a:cubicBezTo>
                  <a:cubicBezTo>
                    <a:pt x="2121720" y="23490"/>
                    <a:pt x="2126871" y="35926"/>
                    <a:pt x="2126871" y="48894"/>
                  </a:cubicBezTo>
                  <a:lnTo>
                    <a:pt x="2126871" y="1590246"/>
                  </a:lnTo>
                  <a:cubicBezTo>
                    <a:pt x="2126871" y="1617249"/>
                    <a:pt x="2104981" y="1639140"/>
                    <a:pt x="2077977" y="1639140"/>
                  </a:cubicBezTo>
                  <a:lnTo>
                    <a:pt x="48894" y="1639140"/>
                  </a:lnTo>
                  <a:cubicBezTo>
                    <a:pt x="35926" y="1639140"/>
                    <a:pt x="23490" y="1633988"/>
                    <a:pt x="14321" y="1624819"/>
                  </a:cubicBezTo>
                  <a:cubicBezTo>
                    <a:pt x="5151" y="1615650"/>
                    <a:pt x="0" y="1603213"/>
                    <a:pt x="0" y="1590246"/>
                  </a:cubicBezTo>
                  <a:lnTo>
                    <a:pt x="0" y="48894"/>
                  </a:lnTo>
                  <a:cubicBezTo>
                    <a:pt x="0" y="35926"/>
                    <a:pt x="5151" y="23490"/>
                    <a:pt x="14321" y="14321"/>
                  </a:cubicBezTo>
                  <a:cubicBezTo>
                    <a:pt x="23490" y="5151"/>
                    <a:pt x="35926" y="0"/>
                    <a:pt x="48894" y="0"/>
                  </a:cubicBezTo>
                  <a:close/>
                </a:path>
              </a:pathLst>
            </a:custGeom>
            <a:solidFill>
              <a:srgbClr val="F4DDB8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126871" cy="16772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829801" y="4052182"/>
            <a:ext cx="6102878" cy="5724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7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2.Primary Specialty Consultation</a:t>
            </a:r>
          </a:p>
          <a:p>
            <a:pPr algn="ctr">
              <a:lnSpc>
                <a:spcPts val="407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Best model:</a:t>
            </a:r>
            <a:r>
              <a:rPr lang="en-US" sz="3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BioClinicalBERT</a:t>
            </a:r>
            <a:endParaRPr lang="en-US" sz="339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734059" lvl="1" indent="-367030" algn="l">
              <a:lnSpc>
                <a:spcPts val="407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Full fine-tuning</a:t>
            </a:r>
          </a:p>
          <a:p>
            <a:pPr marL="734059" lvl="1" indent="-367030" algn="l">
              <a:lnSpc>
                <a:spcPts val="407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Max length: 192</a:t>
            </a:r>
          </a:p>
          <a:p>
            <a:pPr marL="734059" lvl="1" indent="-367030" algn="l">
              <a:lnSpc>
                <a:spcPts val="407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 epochs</a:t>
            </a:r>
          </a:p>
          <a:p>
            <a:pPr marL="734059" lvl="1" indent="-367030" algn="l">
              <a:lnSpc>
                <a:spcPts val="407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Learning rate: 2e-5</a:t>
            </a:r>
          </a:p>
          <a:p>
            <a:pPr marL="734059" lvl="1" indent="-367030" algn="l">
              <a:lnSpc>
                <a:spcPts val="407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 class weights</a:t>
            </a:r>
          </a:p>
          <a:p>
            <a:pPr algn="l">
              <a:lnSpc>
                <a:spcPts val="407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Clean test results</a:t>
            </a:r>
          </a:p>
          <a:p>
            <a:pPr algn="l">
              <a:lnSpc>
                <a:spcPts val="407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Accuracy: 65.7%</a:t>
            </a:r>
          </a:p>
          <a:p>
            <a:pPr algn="l">
              <a:lnSpc>
                <a:spcPts val="407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Macro F1: 0.506</a:t>
            </a:r>
          </a:p>
          <a:p>
            <a:pPr algn="l">
              <a:lnSpc>
                <a:spcPts val="407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Weighted F1: 0.640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81976" y="405615"/>
            <a:ext cx="11600823" cy="30530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20"/>
              </a:lnSpc>
              <a:spcBef>
                <a:spcPct val="0"/>
              </a:spcBef>
            </a:pPr>
            <a:r>
              <a:rPr lang="en-US" sz="5800" dirty="0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BEST DISTILBERT BASELINE MODELS ON CLEAN TEXT</a:t>
            </a:r>
          </a:p>
          <a:p>
            <a:pPr algn="ctr">
              <a:lnSpc>
                <a:spcPts val="8120"/>
              </a:lnSpc>
              <a:spcBef>
                <a:spcPct val="0"/>
              </a:spcBef>
            </a:pPr>
            <a:endParaRPr lang="en-US" sz="5800" dirty="0">
              <a:solidFill>
                <a:srgbClr val="553D3D"/>
              </a:solidFill>
              <a:latin typeface="Handy Casual"/>
              <a:ea typeface="Handy Casual"/>
              <a:cs typeface="Handy Casual"/>
              <a:sym typeface="Handy Casual"/>
            </a:endParaRPr>
          </a:p>
          <a:p>
            <a:pPr algn="ctr">
              <a:lnSpc>
                <a:spcPts val="8120"/>
              </a:lnSpc>
              <a:spcBef>
                <a:spcPct val="0"/>
              </a:spcBef>
            </a:pPr>
            <a:endParaRPr lang="en-US" sz="5800" dirty="0">
              <a:solidFill>
                <a:srgbClr val="553D3D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854722" y="1876909"/>
            <a:ext cx="16126302" cy="1363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Selected configuration</a:t>
            </a:r>
          </a:p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Full fine-tuning | No class weights | 3 epochs | Learning rate: 2e-5 | Max length: 128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8700" y="4236620"/>
            <a:ext cx="7110317" cy="5422323"/>
            <a:chOff x="0" y="0"/>
            <a:chExt cx="1872676" cy="142810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72676" cy="1428101"/>
            </a:xfrm>
            <a:custGeom>
              <a:avLst/>
              <a:gdLst/>
              <a:ahLst/>
              <a:cxnLst/>
              <a:rect l="l" t="t" r="r" b="b"/>
              <a:pathLst>
                <a:path w="1872676" h="1428101">
                  <a:moveTo>
                    <a:pt x="55530" y="0"/>
                  </a:moveTo>
                  <a:lnTo>
                    <a:pt x="1817146" y="0"/>
                  </a:lnTo>
                  <a:cubicBezTo>
                    <a:pt x="1831873" y="0"/>
                    <a:pt x="1845998" y="5850"/>
                    <a:pt x="1856412" y="16264"/>
                  </a:cubicBezTo>
                  <a:cubicBezTo>
                    <a:pt x="1866826" y="26678"/>
                    <a:pt x="1872676" y="40803"/>
                    <a:pt x="1872676" y="55530"/>
                  </a:cubicBezTo>
                  <a:lnTo>
                    <a:pt x="1872676" y="1372571"/>
                  </a:lnTo>
                  <a:cubicBezTo>
                    <a:pt x="1872676" y="1387299"/>
                    <a:pt x="1866826" y="1401423"/>
                    <a:pt x="1856412" y="1411837"/>
                  </a:cubicBezTo>
                  <a:cubicBezTo>
                    <a:pt x="1845998" y="1422251"/>
                    <a:pt x="1831873" y="1428101"/>
                    <a:pt x="1817146" y="1428101"/>
                  </a:cubicBezTo>
                  <a:lnTo>
                    <a:pt x="55530" y="1428101"/>
                  </a:lnTo>
                  <a:cubicBezTo>
                    <a:pt x="40803" y="1428101"/>
                    <a:pt x="26678" y="1422251"/>
                    <a:pt x="16264" y="1411837"/>
                  </a:cubicBezTo>
                  <a:cubicBezTo>
                    <a:pt x="5850" y="1401423"/>
                    <a:pt x="0" y="1387299"/>
                    <a:pt x="0" y="1372571"/>
                  </a:cubicBezTo>
                  <a:lnTo>
                    <a:pt x="0" y="55530"/>
                  </a:lnTo>
                  <a:cubicBezTo>
                    <a:pt x="0" y="40803"/>
                    <a:pt x="5850" y="26678"/>
                    <a:pt x="16264" y="16264"/>
                  </a:cubicBezTo>
                  <a:cubicBezTo>
                    <a:pt x="26678" y="5850"/>
                    <a:pt x="40803" y="0"/>
                    <a:pt x="55530" y="0"/>
                  </a:cubicBezTo>
                  <a:close/>
                </a:path>
              </a:pathLst>
            </a:custGeom>
            <a:solidFill>
              <a:srgbClr val="F4DDB8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872676" cy="1466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510706" y="4565539"/>
            <a:ext cx="6146304" cy="4692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67"/>
              </a:lnSpc>
              <a:spcBef>
                <a:spcPct val="0"/>
              </a:spcBef>
            </a:pPr>
            <a:r>
              <a:rPr lang="en-US" sz="3762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ED Care Area</a:t>
            </a:r>
          </a:p>
          <a:p>
            <a:pPr algn="ctr">
              <a:lnSpc>
                <a:spcPts val="5267"/>
              </a:lnSpc>
              <a:spcBef>
                <a:spcPct val="0"/>
              </a:spcBef>
            </a:pPr>
            <a:endParaRPr lang="en-US" sz="3762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ctr">
              <a:lnSpc>
                <a:spcPts val="5267"/>
              </a:lnSpc>
              <a:spcBef>
                <a:spcPct val="0"/>
              </a:spcBef>
            </a:pPr>
            <a:r>
              <a:rPr lang="en-US" sz="376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Clean test results:</a:t>
            </a:r>
          </a:p>
          <a:p>
            <a:pPr algn="ctr">
              <a:lnSpc>
                <a:spcPts val="5267"/>
              </a:lnSpc>
              <a:spcBef>
                <a:spcPct val="0"/>
              </a:spcBef>
            </a:pPr>
            <a:endParaRPr lang="en-US" sz="3762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ctr">
              <a:lnSpc>
                <a:spcPts val="5267"/>
              </a:lnSpc>
              <a:spcBef>
                <a:spcPct val="0"/>
              </a:spcBef>
            </a:pPr>
            <a:r>
              <a:rPr lang="en-US" sz="376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Accuracy: 66.5%</a:t>
            </a:r>
          </a:p>
          <a:p>
            <a:pPr algn="ctr">
              <a:lnSpc>
                <a:spcPts val="5267"/>
              </a:lnSpc>
              <a:spcBef>
                <a:spcPct val="0"/>
              </a:spcBef>
            </a:pPr>
            <a:r>
              <a:rPr lang="en-US" sz="376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Macro F1: 28.0%</a:t>
            </a:r>
          </a:p>
          <a:p>
            <a:pPr algn="ctr">
              <a:lnSpc>
                <a:spcPts val="5267"/>
              </a:lnSpc>
              <a:spcBef>
                <a:spcPct val="0"/>
              </a:spcBef>
            </a:pPr>
            <a:r>
              <a:rPr lang="en-US" sz="376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Weighted F1: 63.8%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435295" y="4236620"/>
            <a:ext cx="7110317" cy="5422323"/>
            <a:chOff x="0" y="0"/>
            <a:chExt cx="1872676" cy="142810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72676" cy="1428101"/>
            </a:xfrm>
            <a:custGeom>
              <a:avLst/>
              <a:gdLst/>
              <a:ahLst/>
              <a:cxnLst/>
              <a:rect l="l" t="t" r="r" b="b"/>
              <a:pathLst>
                <a:path w="1872676" h="1428101">
                  <a:moveTo>
                    <a:pt x="55530" y="0"/>
                  </a:moveTo>
                  <a:lnTo>
                    <a:pt x="1817146" y="0"/>
                  </a:lnTo>
                  <a:cubicBezTo>
                    <a:pt x="1831873" y="0"/>
                    <a:pt x="1845998" y="5850"/>
                    <a:pt x="1856412" y="16264"/>
                  </a:cubicBezTo>
                  <a:cubicBezTo>
                    <a:pt x="1866826" y="26678"/>
                    <a:pt x="1872676" y="40803"/>
                    <a:pt x="1872676" y="55530"/>
                  </a:cubicBezTo>
                  <a:lnTo>
                    <a:pt x="1872676" y="1372571"/>
                  </a:lnTo>
                  <a:cubicBezTo>
                    <a:pt x="1872676" y="1387299"/>
                    <a:pt x="1866826" y="1401423"/>
                    <a:pt x="1856412" y="1411837"/>
                  </a:cubicBezTo>
                  <a:cubicBezTo>
                    <a:pt x="1845998" y="1422251"/>
                    <a:pt x="1831873" y="1428101"/>
                    <a:pt x="1817146" y="1428101"/>
                  </a:cubicBezTo>
                  <a:lnTo>
                    <a:pt x="55530" y="1428101"/>
                  </a:lnTo>
                  <a:cubicBezTo>
                    <a:pt x="40803" y="1428101"/>
                    <a:pt x="26678" y="1422251"/>
                    <a:pt x="16264" y="1411837"/>
                  </a:cubicBezTo>
                  <a:cubicBezTo>
                    <a:pt x="5850" y="1401423"/>
                    <a:pt x="0" y="1387299"/>
                    <a:pt x="0" y="1372571"/>
                  </a:cubicBezTo>
                  <a:lnTo>
                    <a:pt x="0" y="55530"/>
                  </a:lnTo>
                  <a:cubicBezTo>
                    <a:pt x="0" y="40803"/>
                    <a:pt x="5850" y="26678"/>
                    <a:pt x="16264" y="16264"/>
                  </a:cubicBezTo>
                  <a:cubicBezTo>
                    <a:pt x="26678" y="5850"/>
                    <a:pt x="40803" y="0"/>
                    <a:pt x="55530" y="0"/>
                  </a:cubicBezTo>
                  <a:close/>
                </a:path>
              </a:pathLst>
            </a:custGeom>
            <a:solidFill>
              <a:srgbClr val="F4DDB8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872676" cy="1466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978171" y="4556014"/>
            <a:ext cx="6024566" cy="4760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5"/>
              </a:lnSpc>
              <a:spcBef>
                <a:spcPct val="0"/>
              </a:spcBef>
            </a:pPr>
            <a:r>
              <a:rPr lang="en-US" sz="3725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Primary Specialty Consultation</a:t>
            </a:r>
          </a:p>
          <a:p>
            <a:pPr algn="ctr">
              <a:lnSpc>
                <a:spcPts val="5215"/>
              </a:lnSpc>
              <a:spcBef>
                <a:spcPct val="0"/>
              </a:spcBef>
            </a:pPr>
            <a:endParaRPr lang="en-US" sz="3725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ctr">
              <a:lnSpc>
                <a:spcPts val="5336"/>
              </a:lnSpc>
              <a:spcBef>
                <a:spcPct val="0"/>
              </a:spcBef>
            </a:pPr>
            <a:r>
              <a:rPr lang="en-US" sz="38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Clean test results:</a:t>
            </a:r>
          </a:p>
          <a:p>
            <a:pPr algn="ctr">
              <a:lnSpc>
                <a:spcPts val="5336"/>
              </a:lnSpc>
              <a:spcBef>
                <a:spcPct val="0"/>
              </a:spcBef>
            </a:pPr>
            <a:endParaRPr lang="en-US" sz="3811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ctr">
              <a:lnSpc>
                <a:spcPts val="5336"/>
              </a:lnSpc>
              <a:spcBef>
                <a:spcPct val="0"/>
              </a:spcBef>
            </a:pPr>
            <a:r>
              <a:rPr lang="en-US" sz="38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Accuracy: 60.7%</a:t>
            </a:r>
          </a:p>
          <a:p>
            <a:pPr algn="ctr">
              <a:lnSpc>
                <a:spcPts val="5336"/>
              </a:lnSpc>
              <a:spcBef>
                <a:spcPct val="0"/>
              </a:spcBef>
            </a:pPr>
            <a:r>
              <a:rPr lang="en-US" sz="38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Macro F1: 34.4%</a:t>
            </a:r>
          </a:p>
          <a:p>
            <a:pPr algn="ctr">
              <a:lnSpc>
                <a:spcPts val="5336"/>
              </a:lnSpc>
              <a:spcBef>
                <a:spcPct val="0"/>
              </a:spcBef>
            </a:pPr>
            <a:r>
              <a:rPr lang="en-US" sz="38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Weighted F1: 57.6%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60376" y="1199009"/>
          <a:ext cx="17967250" cy="8925149"/>
        </p:xfrm>
        <a:graphic>
          <a:graphicData uri="http://schemas.openxmlformats.org/drawingml/2006/table">
            <a:tbl>
              <a:tblPr/>
              <a:tblGrid>
                <a:gridCol w="3593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3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3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3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93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65889">
                <a:tc>
                  <a:txBody>
                    <a:bodyPr/>
                    <a:lstStyle/>
                    <a:p>
                      <a:pPr algn="ctr">
                        <a:lnSpc>
                          <a:spcPts val="6439"/>
                        </a:lnSpc>
                        <a:defRPr/>
                      </a:pPr>
                      <a:r>
                        <a:rPr lang="en-US" sz="4599">
                          <a:solidFill>
                            <a:srgbClr val="000000"/>
                          </a:solidFill>
                          <a:latin typeface="Handy Casual"/>
                          <a:ea typeface="Handy Casual"/>
                          <a:cs typeface="Handy Casual"/>
                          <a:sym typeface="Handy Casual"/>
                        </a:rPr>
                        <a:t>Model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439"/>
                        </a:lnSpc>
                        <a:defRPr/>
                      </a:pPr>
                      <a:r>
                        <a:rPr lang="en-US" sz="4599">
                          <a:solidFill>
                            <a:srgbClr val="000000"/>
                          </a:solidFill>
                          <a:latin typeface="Handy Casual"/>
                          <a:ea typeface="Handy Casual"/>
                          <a:cs typeface="Handy Casual"/>
                          <a:sym typeface="Handy Casual"/>
                        </a:rPr>
                        <a:t>Target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600"/>
                        </a:lnSpc>
                        <a:defRPr/>
                      </a:pPr>
                      <a:r>
                        <a:rPr lang="en-US" sz="4000">
                          <a:solidFill>
                            <a:srgbClr val="000000"/>
                          </a:solidFill>
                          <a:latin typeface="Handy Casual"/>
                          <a:ea typeface="Handy Casual"/>
                          <a:cs typeface="Handy Casual"/>
                          <a:sym typeface="Handy Casual"/>
                        </a:rPr>
                        <a:t>Clean Test                Macro F1    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60"/>
                        </a:lnSpc>
                        <a:defRPr/>
                      </a:pPr>
                      <a:r>
                        <a:rPr lang="en-US" sz="3900">
                          <a:solidFill>
                            <a:srgbClr val="000000"/>
                          </a:solidFill>
                          <a:latin typeface="Handy Casual"/>
                          <a:ea typeface="Handy Casual"/>
                          <a:cs typeface="Handy Casual"/>
                          <a:sym typeface="Handy Casual"/>
                        </a:rPr>
                        <a:t>Noisy Test                     Macro F1  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320"/>
                        </a:lnSpc>
                        <a:defRPr/>
                      </a:pPr>
                      <a:r>
                        <a:rPr lang="en-US" sz="3800">
                          <a:solidFill>
                            <a:srgbClr val="000000"/>
                          </a:solidFill>
                          <a:latin typeface="Handy Casual"/>
                          <a:ea typeface="Handy Casual"/>
                          <a:cs typeface="Handy Casual"/>
                          <a:sym typeface="Handy Casual"/>
                        </a:rPr>
                        <a:t>Relative Change in Macro F1 (%)</a:t>
                      </a:r>
                      <a:endParaRPr lang="en-US" sz="1100"/>
                    </a:p>
                    <a:p>
                      <a:pPr algn="ctr">
                        <a:lnSpc>
                          <a:spcPts val="5320"/>
                        </a:lnSpc>
                      </a:pP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4815"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Handyman"/>
                          <a:ea typeface="Handyman"/>
                          <a:cs typeface="Handyman"/>
                          <a:sym typeface="Handyman"/>
                        </a:rPr>
                        <a:t>DistilBERT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ED care area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28.00%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23.87%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FF313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−14.75%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4815"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Handyman"/>
                          <a:ea typeface="Handyman"/>
                          <a:cs typeface="Handyman"/>
                          <a:sym typeface="Handyman"/>
                        </a:rPr>
                        <a:t>BioClinicalBERT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ED care area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31.86%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22.55%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FF313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−29.22%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4815"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Handyman"/>
                          <a:ea typeface="Handyman"/>
                          <a:cs typeface="Handyman"/>
                          <a:sym typeface="Handyman"/>
                        </a:rPr>
                        <a:t>DistilBERT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Specialty consultation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34.40%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22.45%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FF313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−34.74%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4815"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Handyman"/>
                          <a:ea typeface="Handyman"/>
                          <a:cs typeface="Handyman"/>
                          <a:sym typeface="Handyman"/>
                        </a:rPr>
                        <a:t>BioClinicalBERT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Specialty consultation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50.60%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27.74%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FF313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−45.18%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3797824" y="41271"/>
            <a:ext cx="10692353" cy="987429"/>
            <a:chOff x="0" y="0"/>
            <a:chExt cx="2816093" cy="2600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16093" cy="260064"/>
            </a:xfrm>
            <a:custGeom>
              <a:avLst/>
              <a:gdLst/>
              <a:ahLst/>
              <a:cxnLst/>
              <a:rect l="l" t="t" r="r" b="b"/>
              <a:pathLst>
                <a:path w="2816093" h="260064">
                  <a:moveTo>
                    <a:pt x="36927" y="0"/>
                  </a:moveTo>
                  <a:lnTo>
                    <a:pt x="2779166" y="0"/>
                  </a:lnTo>
                  <a:cubicBezTo>
                    <a:pt x="2799560" y="0"/>
                    <a:pt x="2816093" y="16533"/>
                    <a:pt x="2816093" y="36927"/>
                  </a:cubicBezTo>
                  <a:lnTo>
                    <a:pt x="2816093" y="223137"/>
                  </a:lnTo>
                  <a:cubicBezTo>
                    <a:pt x="2816093" y="243531"/>
                    <a:pt x="2799560" y="260064"/>
                    <a:pt x="2779166" y="260064"/>
                  </a:cubicBezTo>
                  <a:lnTo>
                    <a:pt x="36927" y="260064"/>
                  </a:lnTo>
                  <a:cubicBezTo>
                    <a:pt x="27133" y="260064"/>
                    <a:pt x="17741" y="256173"/>
                    <a:pt x="10816" y="249248"/>
                  </a:cubicBezTo>
                  <a:cubicBezTo>
                    <a:pt x="3891" y="242323"/>
                    <a:pt x="0" y="232930"/>
                    <a:pt x="0" y="223137"/>
                  </a:cubicBezTo>
                  <a:lnTo>
                    <a:pt x="0" y="36927"/>
                  </a:lnTo>
                  <a:cubicBezTo>
                    <a:pt x="0" y="16533"/>
                    <a:pt x="16533" y="0"/>
                    <a:pt x="36927" y="0"/>
                  </a:cubicBezTo>
                  <a:close/>
                </a:path>
              </a:pathLst>
            </a:custGeom>
            <a:solidFill>
              <a:srgbClr val="D7BAA2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816093" cy="298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023950" y="-41277"/>
            <a:ext cx="15515846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95397" lvl="1" indent="-647698" algn="l">
              <a:lnSpc>
                <a:spcPts val="8399"/>
              </a:lnSpc>
              <a:spcBef>
                <a:spcPct val="0"/>
              </a:spcBef>
              <a:buAutoNum type="arabicPeriod"/>
            </a:pPr>
            <a:r>
              <a:rPr lang="en-US" sz="599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CLEAN TRAINING → NOISY TEST</a:t>
            </a:r>
          </a:p>
        </p:txBody>
      </p:sp>
      <p:sp>
        <p:nvSpPr>
          <p:cNvPr id="7" name="Freeform 7"/>
          <p:cNvSpPr/>
          <p:nvPr/>
        </p:nvSpPr>
        <p:spPr>
          <a:xfrm flipH="1">
            <a:off x="0" y="-110280"/>
            <a:ext cx="1814085" cy="2277961"/>
          </a:xfrm>
          <a:custGeom>
            <a:avLst/>
            <a:gdLst/>
            <a:ahLst/>
            <a:cxnLst/>
            <a:rect l="l" t="t" r="r" b="b"/>
            <a:pathLst>
              <a:path w="1814085" h="2277961">
                <a:moveTo>
                  <a:pt x="1814085" y="0"/>
                </a:moveTo>
                <a:lnTo>
                  <a:pt x="0" y="0"/>
                </a:lnTo>
                <a:lnTo>
                  <a:pt x="0" y="2277960"/>
                </a:lnTo>
                <a:lnTo>
                  <a:pt x="1814085" y="2277960"/>
                </a:lnTo>
                <a:lnTo>
                  <a:pt x="1814085" y="0"/>
                </a:lnTo>
                <a:close/>
              </a:path>
            </a:pathLst>
          </a:custGeom>
          <a:blipFill>
            <a:blip>
              <a:alphaModFix amt="31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41292" y="317105"/>
            <a:ext cx="10437960" cy="987429"/>
            <a:chOff x="0" y="0"/>
            <a:chExt cx="2749092" cy="2600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49092" cy="260064"/>
            </a:xfrm>
            <a:custGeom>
              <a:avLst/>
              <a:gdLst/>
              <a:ahLst/>
              <a:cxnLst/>
              <a:rect l="l" t="t" r="r" b="b"/>
              <a:pathLst>
                <a:path w="2749092" h="260064">
                  <a:moveTo>
                    <a:pt x="37827" y="0"/>
                  </a:moveTo>
                  <a:lnTo>
                    <a:pt x="2711265" y="0"/>
                  </a:lnTo>
                  <a:cubicBezTo>
                    <a:pt x="2721298" y="0"/>
                    <a:pt x="2730919" y="3985"/>
                    <a:pt x="2738013" y="11079"/>
                  </a:cubicBezTo>
                  <a:cubicBezTo>
                    <a:pt x="2745107" y="18173"/>
                    <a:pt x="2749092" y="27795"/>
                    <a:pt x="2749092" y="37827"/>
                  </a:cubicBezTo>
                  <a:lnTo>
                    <a:pt x="2749092" y="222237"/>
                  </a:lnTo>
                  <a:cubicBezTo>
                    <a:pt x="2749092" y="243128"/>
                    <a:pt x="2732157" y="260064"/>
                    <a:pt x="2711265" y="260064"/>
                  </a:cubicBezTo>
                  <a:lnTo>
                    <a:pt x="37827" y="260064"/>
                  </a:lnTo>
                  <a:cubicBezTo>
                    <a:pt x="27795" y="260064"/>
                    <a:pt x="18173" y="256078"/>
                    <a:pt x="11079" y="248984"/>
                  </a:cubicBezTo>
                  <a:cubicBezTo>
                    <a:pt x="3985" y="241890"/>
                    <a:pt x="0" y="232269"/>
                    <a:pt x="0" y="222237"/>
                  </a:cubicBezTo>
                  <a:lnTo>
                    <a:pt x="0" y="37827"/>
                  </a:lnTo>
                  <a:cubicBezTo>
                    <a:pt x="0" y="27795"/>
                    <a:pt x="3985" y="18173"/>
                    <a:pt x="11079" y="11079"/>
                  </a:cubicBezTo>
                  <a:cubicBezTo>
                    <a:pt x="18173" y="3985"/>
                    <a:pt x="27795" y="0"/>
                    <a:pt x="37827" y="0"/>
                  </a:cubicBezTo>
                  <a:close/>
                </a:path>
              </a:pathLst>
            </a:custGeom>
            <a:solidFill>
              <a:srgbClr val="D7BAA2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49092" cy="298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023950" y="234557"/>
            <a:ext cx="15515846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95397" lvl="1" indent="-647698" algn="l">
              <a:lnSpc>
                <a:spcPts val="8399"/>
              </a:lnSpc>
              <a:spcBef>
                <a:spcPct val="0"/>
              </a:spcBef>
              <a:buAutoNum type="arabicPeriod"/>
            </a:pPr>
            <a:r>
              <a:rPr lang="en-US" sz="5999" dirty="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CLEAN TRAINING → NOISY TEST</a:t>
            </a:r>
          </a:p>
        </p:txBody>
      </p:sp>
      <p:sp>
        <p:nvSpPr>
          <p:cNvPr id="6" name="Freeform 6"/>
          <p:cNvSpPr/>
          <p:nvPr/>
        </p:nvSpPr>
        <p:spPr>
          <a:xfrm flipH="1">
            <a:off x="16352257" y="-328160"/>
            <a:ext cx="1814085" cy="2277961"/>
          </a:xfrm>
          <a:custGeom>
            <a:avLst/>
            <a:gdLst/>
            <a:ahLst/>
            <a:cxnLst/>
            <a:rect l="l" t="t" r="r" b="b"/>
            <a:pathLst>
              <a:path w="1814085" h="2277961">
                <a:moveTo>
                  <a:pt x="1814086" y="0"/>
                </a:moveTo>
                <a:lnTo>
                  <a:pt x="0" y="0"/>
                </a:lnTo>
                <a:lnTo>
                  <a:pt x="0" y="2277960"/>
                </a:lnTo>
                <a:lnTo>
                  <a:pt x="1814086" y="2277960"/>
                </a:lnTo>
                <a:lnTo>
                  <a:pt x="1814086" y="0"/>
                </a:lnTo>
                <a:close/>
              </a:path>
            </a:pathLst>
          </a:custGeom>
          <a:blipFill>
            <a:blip>
              <a:alphaModFix amt="31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288223" y="1734595"/>
          <a:ext cx="17711555" cy="8148637"/>
        </p:xfrm>
        <a:graphic>
          <a:graphicData uri="http://schemas.openxmlformats.org/drawingml/2006/table">
            <a:tbl>
              <a:tblPr/>
              <a:tblGrid>
                <a:gridCol w="35423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23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23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423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423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58461">
                <a:tc>
                  <a:txBody>
                    <a:bodyPr/>
                    <a:lstStyle/>
                    <a:p>
                      <a:pPr algn="ctr">
                        <a:lnSpc>
                          <a:spcPts val="6159"/>
                        </a:lnSpc>
                        <a:defRPr/>
                      </a:pPr>
                      <a:r>
                        <a:rPr lang="en-US" sz="4399">
                          <a:solidFill>
                            <a:srgbClr val="000000"/>
                          </a:solidFill>
                          <a:latin typeface="Handy Casual"/>
                          <a:ea typeface="Handy Casual"/>
                          <a:cs typeface="Handy Casual"/>
                          <a:sym typeface="Handy Casual"/>
                        </a:rPr>
                        <a:t>Model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159"/>
                        </a:lnSpc>
                        <a:defRPr/>
                      </a:pPr>
                      <a:r>
                        <a:rPr lang="en-US" sz="4399">
                          <a:solidFill>
                            <a:srgbClr val="000000"/>
                          </a:solidFill>
                          <a:latin typeface="Handy Casual"/>
                          <a:ea typeface="Handy Casual"/>
                          <a:cs typeface="Handy Casual"/>
                          <a:sym typeface="Handy Casual"/>
                        </a:rPr>
                        <a:t>Target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739"/>
                        </a:lnSpc>
                        <a:defRPr/>
                      </a:pPr>
                      <a:r>
                        <a:rPr lang="en-US" sz="4099">
                          <a:solidFill>
                            <a:srgbClr val="000000"/>
                          </a:solidFill>
                          <a:latin typeface="Handy Casual"/>
                          <a:ea typeface="Handy Casual"/>
                          <a:cs typeface="Handy Casual"/>
                          <a:sym typeface="Handy Casual"/>
                        </a:rPr>
                        <a:t>Clean Test Accuracy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739"/>
                        </a:lnSpc>
                        <a:defRPr/>
                      </a:pPr>
                      <a:r>
                        <a:rPr lang="en-US" sz="4099">
                          <a:solidFill>
                            <a:srgbClr val="000000"/>
                          </a:solidFill>
                          <a:latin typeface="Handy Casual"/>
                          <a:ea typeface="Handy Casual"/>
                          <a:cs typeface="Handy Casual"/>
                          <a:sym typeface="Handy Casual"/>
                        </a:rPr>
                        <a:t>Noisy Test Accuracy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19"/>
                        </a:lnSpc>
                        <a:defRPr/>
                      </a:pPr>
                      <a:r>
                        <a:rPr lang="en-US" sz="4299">
                          <a:solidFill>
                            <a:srgbClr val="000000"/>
                          </a:solidFill>
                          <a:latin typeface="Handy Casual"/>
                          <a:ea typeface="Handy Casual"/>
                          <a:cs typeface="Handy Casual"/>
                          <a:sym typeface="Handy Casual"/>
                        </a:rPr>
                        <a:t>Change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6627"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Handyman"/>
                          <a:ea typeface="Handyman"/>
                          <a:cs typeface="Handyman"/>
                          <a:sym typeface="Handyman"/>
                        </a:rPr>
                        <a:t>DistilBERT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ED care area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66.50%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55.90%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FF313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−10.6 pp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6627"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Handyman"/>
                          <a:ea typeface="Handyman"/>
                          <a:cs typeface="Handyman"/>
                          <a:sym typeface="Handyman"/>
                        </a:rPr>
                        <a:t>BioClinicalBERT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ED care area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67.10%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59.00%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FF313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−8.0 pp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58461"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Handyman"/>
                          <a:ea typeface="Handyman"/>
                          <a:cs typeface="Handyman"/>
                          <a:sym typeface="Handyman"/>
                        </a:rPr>
                        <a:t>DistilBERT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Specialty consultation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60.70%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40.80%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FF313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−19.9 pp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58461"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Handyman"/>
                          <a:ea typeface="Handyman"/>
                          <a:cs typeface="Handyman"/>
                          <a:sym typeface="Handyman"/>
                        </a:rPr>
                        <a:t>BioClinicalBERT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Specialty consultation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65.70%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39.30%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FF313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−26.4 pp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023950" y="317105"/>
            <a:ext cx="11116341" cy="987429"/>
            <a:chOff x="0" y="0"/>
            <a:chExt cx="2927760" cy="2600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27760" cy="260064"/>
            </a:xfrm>
            <a:custGeom>
              <a:avLst/>
              <a:gdLst/>
              <a:ahLst/>
              <a:cxnLst/>
              <a:rect l="l" t="t" r="r" b="b"/>
              <a:pathLst>
                <a:path w="2927760" h="260064">
                  <a:moveTo>
                    <a:pt x="35519" y="0"/>
                  </a:moveTo>
                  <a:lnTo>
                    <a:pt x="2892242" y="0"/>
                  </a:lnTo>
                  <a:cubicBezTo>
                    <a:pt x="2901662" y="0"/>
                    <a:pt x="2910696" y="3742"/>
                    <a:pt x="2917357" y="10403"/>
                  </a:cubicBezTo>
                  <a:cubicBezTo>
                    <a:pt x="2924018" y="17064"/>
                    <a:pt x="2927760" y="26099"/>
                    <a:pt x="2927760" y="35519"/>
                  </a:cubicBezTo>
                  <a:lnTo>
                    <a:pt x="2927760" y="224545"/>
                  </a:lnTo>
                  <a:cubicBezTo>
                    <a:pt x="2927760" y="244161"/>
                    <a:pt x="2911858" y="260064"/>
                    <a:pt x="2892242" y="260064"/>
                  </a:cubicBezTo>
                  <a:lnTo>
                    <a:pt x="35519" y="260064"/>
                  </a:lnTo>
                  <a:cubicBezTo>
                    <a:pt x="15902" y="260064"/>
                    <a:pt x="0" y="244161"/>
                    <a:pt x="0" y="224545"/>
                  </a:cubicBezTo>
                  <a:lnTo>
                    <a:pt x="0" y="35519"/>
                  </a:lnTo>
                  <a:cubicBezTo>
                    <a:pt x="0" y="15902"/>
                    <a:pt x="15902" y="0"/>
                    <a:pt x="35519" y="0"/>
                  </a:cubicBezTo>
                  <a:close/>
                </a:path>
              </a:pathLst>
            </a:custGeom>
            <a:solidFill>
              <a:srgbClr val="D7BAA2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927760" cy="298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023950" y="234557"/>
            <a:ext cx="15515846" cy="208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9" lvl="1" algn="l">
              <a:lnSpc>
                <a:spcPts val="8399"/>
              </a:lnSpc>
            </a:pPr>
            <a:r>
              <a:rPr lang="en-US" sz="5999" dirty="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2.TRAIN NOISY ASR → TEST NOISY ASR</a:t>
            </a:r>
          </a:p>
          <a:p>
            <a:pPr algn="l">
              <a:lnSpc>
                <a:spcPts val="8399"/>
              </a:lnSpc>
              <a:spcBef>
                <a:spcPct val="0"/>
              </a:spcBef>
            </a:pPr>
            <a:endParaRPr lang="en-US" sz="5999" dirty="0">
              <a:solidFill>
                <a:srgbClr val="000000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65284" y="9455852"/>
            <a:ext cx="17725941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22"/>
              </a:lnSpc>
              <a:spcBef>
                <a:spcPct val="0"/>
              </a:spcBef>
            </a:pPr>
            <a:r>
              <a:rPr lang="en-US" sz="3101" i="1" dirty="0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Noisy training improved </a:t>
            </a:r>
            <a:r>
              <a:rPr lang="en-US" sz="3101" i="1" dirty="0" err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BioClinicalBERT</a:t>
            </a:r>
            <a:r>
              <a:rPr lang="en-US" sz="3101" i="1" dirty="0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in both targets, but did not improve </a:t>
            </a:r>
            <a:r>
              <a:rPr lang="en-US" sz="3101" i="1" dirty="0" err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DistilBERT</a:t>
            </a:r>
            <a:r>
              <a:rPr lang="en-US" sz="3101" i="1" dirty="0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according to Macro F1.</a:t>
            </a:r>
          </a:p>
        </p:txBody>
      </p:sp>
      <p:sp>
        <p:nvSpPr>
          <p:cNvPr id="7" name="Freeform 7"/>
          <p:cNvSpPr/>
          <p:nvPr/>
        </p:nvSpPr>
        <p:spPr>
          <a:xfrm flipH="1">
            <a:off x="0" y="165554"/>
            <a:ext cx="1814085" cy="2277961"/>
          </a:xfrm>
          <a:custGeom>
            <a:avLst/>
            <a:gdLst/>
            <a:ahLst/>
            <a:cxnLst/>
            <a:rect l="l" t="t" r="r" b="b"/>
            <a:pathLst>
              <a:path w="1814085" h="2277961">
                <a:moveTo>
                  <a:pt x="1814085" y="0"/>
                </a:moveTo>
                <a:lnTo>
                  <a:pt x="0" y="0"/>
                </a:lnTo>
                <a:lnTo>
                  <a:pt x="0" y="2277961"/>
                </a:lnTo>
                <a:lnTo>
                  <a:pt x="1814085" y="2277961"/>
                </a:lnTo>
                <a:lnTo>
                  <a:pt x="1814085" y="0"/>
                </a:lnTo>
                <a:close/>
              </a:path>
            </a:pathLst>
          </a:custGeom>
          <a:blipFill>
            <a:blip>
              <a:alphaModFix amt="31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196775" y="1692075"/>
          <a:ext cx="17894450" cy="7546058"/>
        </p:xfrm>
        <a:graphic>
          <a:graphicData uri="http://schemas.openxmlformats.org/drawingml/2006/table">
            <a:tbl>
              <a:tblPr/>
              <a:tblGrid>
                <a:gridCol w="3578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8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88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788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788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46614">
                <a:tc>
                  <a:txBody>
                    <a:bodyPr/>
                    <a:lstStyle/>
                    <a:p>
                      <a:pPr algn="ctr">
                        <a:lnSpc>
                          <a:spcPts val="6160"/>
                        </a:lnSpc>
                        <a:defRPr/>
                      </a:pPr>
                      <a:r>
                        <a:rPr lang="en-US" sz="4400">
                          <a:solidFill>
                            <a:srgbClr val="000000"/>
                          </a:solidFill>
                          <a:latin typeface="Handy Casual"/>
                          <a:ea typeface="Handy Casual"/>
                          <a:cs typeface="Handy Casual"/>
                          <a:sym typeface="Handy Casual"/>
                        </a:rPr>
                        <a:t>Model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160"/>
                        </a:lnSpc>
                        <a:defRPr/>
                      </a:pPr>
                      <a:r>
                        <a:rPr lang="en-US" sz="4400">
                          <a:solidFill>
                            <a:srgbClr val="000000"/>
                          </a:solidFill>
                          <a:latin typeface="Handy Casual"/>
                          <a:ea typeface="Handy Casual"/>
                          <a:cs typeface="Handy Casual"/>
                          <a:sym typeface="Handy Casual"/>
                        </a:rPr>
                        <a:t>Target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59"/>
                        </a:lnSpc>
                        <a:defRPr/>
                      </a:pPr>
                      <a:r>
                        <a:rPr lang="en-US" sz="3900">
                          <a:solidFill>
                            <a:srgbClr val="000000"/>
                          </a:solidFill>
                          <a:latin typeface="Handy Casual"/>
                          <a:ea typeface="Handy Casual"/>
                          <a:cs typeface="Handy Casual"/>
                          <a:sym typeface="Handy Casual"/>
                        </a:rPr>
                        <a:t>Clean → Noisy Macro F1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60"/>
                        </a:lnSpc>
                        <a:defRPr/>
                      </a:pPr>
                      <a:r>
                        <a:rPr lang="en-US" sz="3900">
                          <a:solidFill>
                            <a:srgbClr val="000000"/>
                          </a:solidFill>
                          <a:latin typeface="Handy Casual"/>
                          <a:ea typeface="Handy Casual"/>
                          <a:cs typeface="Handy Casual"/>
                          <a:sym typeface="Handy Casual"/>
                        </a:rPr>
                        <a:t> Noisy → Noisy            Macro F1  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320"/>
                        </a:lnSpc>
                        <a:defRPr/>
                      </a:pPr>
                      <a:r>
                        <a:rPr lang="en-US" sz="3800">
                          <a:solidFill>
                            <a:srgbClr val="000000"/>
                          </a:solidFill>
                          <a:latin typeface="Handy Casual"/>
                          <a:ea typeface="Handy Casual"/>
                          <a:cs typeface="Handy Casual"/>
                          <a:sym typeface="Handy Casual"/>
                        </a:rPr>
                        <a:t>Relative Change in Macro F1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4861">
                <a:tc>
                  <a:txBody>
                    <a:bodyPr/>
                    <a:lstStyle/>
                    <a:p>
                      <a:pPr algn="ctr">
                        <a:lnSpc>
                          <a:spcPts val="4760"/>
                        </a:lnSpc>
                        <a:defRPr/>
                      </a:pPr>
                      <a:r>
                        <a:rPr lang="en-US" sz="3400">
                          <a:solidFill>
                            <a:srgbClr val="000000"/>
                          </a:solidFill>
                          <a:latin typeface="Handyman"/>
                          <a:ea typeface="Handyman"/>
                          <a:cs typeface="Handyman"/>
                          <a:sym typeface="Handyman"/>
                        </a:rPr>
                        <a:t>BioClinicalBERT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3920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ED care area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20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22.55%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27.64%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620"/>
                        </a:lnSpc>
                        <a:defRPr/>
                      </a:pPr>
                      <a:r>
                        <a:rPr lang="en-US" sz="3300" b="1">
                          <a:solidFill>
                            <a:srgbClr val="6BA286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22.57%+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4861">
                <a:tc>
                  <a:txBody>
                    <a:bodyPr/>
                    <a:lstStyle/>
                    <a:p>
                      <a:pPr algn="ctr">
                        <a:lnSpc>
                          <a:spcPts val="4760"/>
                        </a:lnSpc>
                        <a:defRPr/>
                      </a:pPr>
                      <a:r>
                        <a:rPr lang="en-US" sz="3400">
                          <a:solidFill>
                            <a:srgbClr val="000000"/>
                          </a:solidFill>
                          <a:latin typeface="Handyman"/>
                          <a:ea typeface="Handyman"/>
                          <a:cs typeface="Handyman"/>
                          <a:sym typeface="Handyman"/>
                        </a:rPr>
                        <a:t>DistilBERT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ts val="3920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ED care area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20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23.87%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20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21.98%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620"/>
                        </a:lnSpc>
                        <a:defRPr/>
                      </a:pPr>
                      <a:r>
                        <a:rPr lang="en-US" sz="3300" b="1">
                          <a:solidFill>
                            <a:srgbClr val="FF313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-7.92%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4861">
                <a:tc>
                  <a:txBody>
                    <a:bodyPr/>
                    <a:lstStyle/>
                    <a:p>
                      <a:pPr algn="ctr">
                        <a:lnSpc>
                          <a:spcPts val="4760"/>
                        </a:lnSpc>
                        <a:defRPr/>
                      </a:pPr>
                      <a:r>
                        <a:rPr lang="en-US" sz="3400">
                          <a:solidFill>
                            <a:srgbClr val="000000"/>
                          </a:solidFill>
                          <a:latin typeface="Handyman"/>
                          <a:ea typeface="Handyman"/>
                          <a:cs typeface="Handyman"/>
                          <a:sym typeface="Handyman"/>
                        </a:rPr>
                        <a:t>BioClinicalBERT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3920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Specialty consultation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20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27.74%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31.21%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620"/>
                        </a:lnSpc>
                        <a:defRPr/>
                      </a:pPr>
                      <a:r>
                        <a:rPr lang="en-US" sz="3300" b="1">
                          <a:solidFill>
                            <a:srgbClr val="6BA286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12.51%+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4861">
                <a:tc>
                  <a:txBody>
                    <a:bodyPr/>
                    <a:lstStyle/>
                    <a:p>
                      <a:pPr algn="ctr">
                        <a:lnSpc>
                          <a:spcPts val="4760"/>
                        </a:lnSpc>
                        <a:defRPr/>
                      </a:pPr>
                      <a:r>
                        <a:rPr lang="en-US" sz="3400">
                          <a:solidFill>
                            <a:srgbClr val="000000"/>
                          </a:solidFill>
                          <a:latin typeface="Handyman"/>
                          <a:ea typeface="Handyman"/>
                          <a:cs typeface="Handyman"/>
                          <a:sym typeface="Handyman"/>
                        </a:rPr>
                        <a:t>DistilBERT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ts val="3920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Specialty consultation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20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22.45%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20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19.82%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60"/>
                        </a:lnSpc>
                        <a:defRPr/>
                      </a:pPr>
                      <a:r>
                        <a:rPr lang="en-US" sz="3400" b="1">
                          <a:solidFill>
                            <a:srgbClr val="FF313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-11.71%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023950" y="317105"/>
            <a:ext cx="11116341" cy="987429"/>
            <a:chOff x="0" y="0"/>
            <a:chExt cx="2927760" cy="2600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27760" cy="260064"/>
            </a:xfrm>
            <a:custGeom>
              <a:avLst/>
              <a:gdLst/>
              <a:ahLst/>
              <a:cxnLst/>
              <a:rect l="l" t="t" r="r" b="b"/>
              <a:pathLst>
                <a:path w="2927760" h="260064">
                  <a:moveTo>
                    <a:pt x="35519" y="0"/>
                  </a:moveTo>
                  <a:lnTo>
                    <a:pt x="2892242" y="0"/>
                  </a:lnTo>
                  <a:cubicBezTo>
                    <a:pt x="2901662" y="0"/>
                    <a:pt x="2910696" y="3742"/>
                    <a:pt x="2917357" y="10403"/>
                  </a:cubicBezTo>
                  <a:cubicBezTo>
                    <a:pt x="2924018" y="17064"/>
                    <a:pt x="2927760" y="26099"/>
                    <a:pt x="2927760" y="35519"/>
                  </a:cubicBezTo>
                  <a:lnTo>
                    <a:pt x="2927760" y="224545"/>
                  </a:lnTo>
                  <a:cubicBezTo>
                    <a:pt x="2927760" y="244161"/>
                    <a:pt x="2911858" y="260064"/>
                    <a:pt x="2892242" y="260064"/>
                  </a:cubicBezTo>
                  <a:lnTo>
                    <a:pt x="35519" y="260064"/>
                  </a:lnTo>
                  <a:cubicBezTo>
                    <a:pt x="15902" y="260064"/>
                    <a:pt x="0" y="244161"/>
                    <a:pt x="0" y="224545"/>
                  </a:cubicBezTo>
                  <a:lnTo>
                    <a:pt x="0" y="35519"/>
                  </a:lnTo>
                  <a:cubicBezTo>
                    <a:pt x="0" y="15902"/>
                    <a:pt x="15902" y="0"/>
                    <a:pt x="35519" y="0"/>
                  </a:cubicBezTo>
                  <a:close/>
                </a:path>
              </a:pathLst>
            </a:custGeom>
            <a:solidFill>
              <a:srgbClr val="D7BAA2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927760" cy="298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023950" y="234557"/>
            <a:ext cx="15515846" cy="208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9" lvl="1" algn="l">
              <a:lnSpc>
                <a:spcPts val="8399"/>
              </a:lnSpc>
            </a:pPr>
            <a:r>
              <a:rPr lang="en-US" sz="5999" dirty="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2.TRAIN NOISY ASR → TEST NOISY ASR</a:t>
            </a:r>
          </a:p>
          <a:p>
            <a:pPr algn="l">
              <a:lnSpc>
                <a:spcPts val="8399"/>
              </a:lnSpc>
              <a:spcBef>
                <a:spcPct val="0"/>
              </a:spcBef>
            </a:pPr>
            <a:endParaRPr lang="en-US" sz="5999" dirty="0">
              <a:solidFill>
                <a:srgbClr val="000000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sp>
        <p:nvSpPr>
          <p:cNvPr id="6" name="Freeform 6"/>
          <p:cNvSpPr/>
          <p:nvPr/>
        </p:nvSpPr>
        <p:spPr>
          <a:xfrm flipH="1">
            <a:off x="17054642" y="165554"/>
            <a:ext cx="1814085" cy="2277961"/>
          </a:xfrm>
          <a:custGeom>
            <a:avLst/>
            <a:gdLst/>
            <a:ahLst/>
            <a:cxnLst/>
            <a:rect l="l" t="t" r="r" b="b"/>
            <a:pathLst>
              <a:path w="1814085" h="2277961">
                <a:moveTo>
                  <a:pt x="1814085" y="0"/>
                </a:moveTo>
                <a:lnTo>
                  <a:pt x="0" y="0"/>
                </a:lnTo>
                <a:lnTo>
                  <a:pt x="0" y="2277961"/>
                </a:lnTo>
                <a:lnTo>
                  <a:pt x="1814085" y="2277961"/>
                </a:lnTo>
                <a:lnTo>
                  <a:pt x="1814085" y="0"/>
                </a:lnTo>
                <a:close/>
              </a:path>
            </a:pathLst>
          </a:custGeom>
          <a:blipFill>
            <a:blip>
              <a:alphaModFix amt="31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326316" y="1910744"/>
          <a:ext cx="17635370" cy="8111280"/>
        </p:xfrm>
        <a:graphic>
          <a:graphicData uri="http://schemas.openxmlformats.org/drawingml/2006/table">
            <a:tbl>
              <a:tblPr/>
              <a:tblGrid>
                <a:gridCol w="3527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70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70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70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270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16616">
                <a:tc>
                  <a:txBody>
                    <a:bodyPr/>
                    <a:lstStyle/>
                    <a:p>
                      <a:pPr algn="ctr">
                        <a:lnSpc>
                          <a:spcPts val="69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Handy Casual"/>
                          <a:ea typeface="Handy Casual"/>
                          <a:cs typeface="Handy Casual"/>
                          <a:sym typeface="Handy Casual"/>
                        </a:rPr>
                        <a:t>Model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859"/>
                        </a:lnSpc>
                        <a:defRPr/>
                      </a:pPr>
                      <a:r>
                        <a:rPr lang="en-US" sz="4899">
                          <a:solidFill>
                            <a:srgbClr val="000000"/>
                          </a:solidFill>
                          <a:latin typeface="Handy Casual"/>
                          <a:ea typeface="Handy Casual"/>
                          <a:cs typeface="Handy Casual"/>
                          <a:sym typeface="Handy Casual"/>
                        </a:rPr>
                        <a:t>Target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600"/>
                        </a:lnSpc>
                        <a:defRPr/>
                      </a:pPr>
                      <a:r>
                        <a:rPr lang="en-US" sz="4000">
                          <a:solidFill>
                            <a:srgbClr val="000000"/>
                          </a:solidFill>
                          <a:latin typeface="Handy Casual"/>
                          <a:ea typeface="Handy Casual"/>
                          <a:cs typeface="Handy Casual"/>
                          <a:sym typeface="Handy Casual"/>
                        </a:rPr>
                        <a:t>Clean → Noisy Accuracy 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600"/>
                        </a:lnSpc>
                        <a:defRPr/>
                      </a:pPr>
                      <a:r>
                        <a:rPr lang="en-US" sz="4000">
                          <a:solidFill>
                            <a:srgbClr val="000000"/>
                          </a:solidFill>
                          <a:latin typeface="Handy Casual"/>
                          <a:ea typeface="Handy Casual"/>
                          <a:cs typeface="Handy Casual"/>
                          <a:sym typeface="Handy Casual"/>
                        </a:rPr>
                        <a:t>Noisy → Noisy   Accuracy 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859"/>
                        </a:lnSpc>
                        <a:defRPr/>
                      </a:pPr>
                      <a:r>
                        <a:rPr lang="en-US" sz="4899">
                          <a:solidFill>
                            <a:srgbClr val="000000"/>
                          </a:solidFill>
                          <a:latin typeface="Handy Casual"/>
                          <a:ea typeface="Handy Casual"/>
                          <a:cs typeface="Handy Casual"/>
                          <a:sym typeface="Handy Casual"/>
                        </a:rPr>
                        <a:t>Change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6016"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Handyman"/>
                          <a:ea typeface="Handyman"/>
                          <a:cs typeface="Handyman"/>
                          <a:sym typeface="Handyman"/>
                        </a:rPr>
                        <a:t>BioClinicalBERT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ED care area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59.03%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64.64%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6BA286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+5.61 pp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6016"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Handyman"/>
                          <a:ea typeface="Handyman"/>
                          <a:cs typeface="Handyman"/>
                          <a:sym typeface="Handyman"/>
                        </a:rPr>
                        <a:t>DistilBERT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ED care area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55.92%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62.46%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6BA286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+6.54 pp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1316"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Handyman"/>
                          <a:ea typeface="Handyman"/>
                          <a:cs typeface="Handyman"/>
                          <a:sym typeface="Handyman"/>
                        </a:rPr>
                        <a:t>BioClinicalBERT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Specialty consultation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39.25%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49.77%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6BA286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+10.52 pp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21316"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Handyman"/>
                          <a:ea typeface="Handyman"/>
                          <a:cs typeface="Handyman"/>
                          <a:sym typeface="Handyman"/>
                        </a:rPr>
                        <a:t>DistilBERT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Specialty consultation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40.81%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45.09%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6BA286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+4.28 pp</a:t>
                      </a:r>
                      <a:endParaRPr lang="en-US" sz="1100"/>
                    </a:p>
                  </a:txBody>
                  <a:tcPr marL="76200" marR="76200" marT="76200" marB="762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7511" y="2094715"/>
            <a:ext cx="16952978" cy="7361446"/>
          </a:xfrm>
          <a:custGeom>
            <a:avLst/>
            <a:gdLst/>
            <a:ahLst/>
            <a:cxnLst/>
            <a:rect l="l" t="t" r="r" b="b"/>
            <a:pathLst>
              <a:path w="16952978" h="7361446">
                <a:moveTo>
                  <a:pt x="0" y="0"/>
                </a:moveTo>
                <a:lnTo>
                  <a:pt x="16952978" y="0"/>
                </a:lnTo>
                <a:lnTo>
                  <a:pt x="16952978" y="7361446"/>
                </a:lnTo>
                <a:lnTo>
                  <a:pt x="0" y="736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TextBox 3"/>
          <p:cNvSpPr txBox="1"/>
          <p:nvPr/>
        </p:nvSpPr>
        <p:spPr>
          <a:xfrm>
            <a:off x="3100230" y="452437"/>
            <a:ext cx="11691819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EXAMPLE: NOISY TRAINING IMPROVED ROBUSTNESS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982028" y="712393"/>
            <a:ext cx="3220403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2"/>
              </a:lnSpc>
              <a:spcBef>
                <a:spcPct val="0"/>
              </a:spcBef>
            </a:pPr>
            <a:r>
              <a:rPr lang="en-US" sz="4001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BioClinicalBERT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594828" y="474268"/>
            <a:ext cx="11201138" cy="987429"/>
            <a:chOff x="0" y="0"/>
            <a:chExt cx="2950094" cy="2600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50094" cy="260064"/>
            </a:xfrm>
            <a:custGeom>
              <a:avLst/>
              <a:gdLst/>
              <a:ahLst/>
              <a:cxnLst/>
              <a:rect l="l" t="t" r="r" b="b"/>
              <a:pathLst>
                <a:path w="2950094" h="260064">
                  <a:moveTo>
                    <a:pt x="35250" y="0"/>
                  </a:moveTo>
                  <a:lnTo>
                    <a:pt x="2914844" y="0"/>
                  </a:lnTo>
                  <a:cubicBezTo>
                    <a:pt x="2924193" y="0"/>
                    <a:pt x="2933159" y="3714"/>
                    <a:pt x="2939770" y="10324"/>
                  </a:cubicBezTo>
                  <a:cubicBezTo>
                    <a:pt x="2946380" y="16935"/>
                    <a:pt x="2950094" y="25901"/>
                    <a:pt x="2950094" y="35250"/>
                  </a:cubicBezTo>
                  <a:lnTo>
                    <a:pt x="2950094" y="224814"/>
                  </a:lnTo>
                  <a:cubicBezTo>
                    <a:pt x="2950094" y="244282"/>
                    <a:pt x="2934312" y="260064"/>
                    <a:pt x="2914844" y="260064"/>
                  </a:cubicBezTo>
                  <a:lnTo>
                    <a:pt x="35250" y="260064"/>
                  </a:lnTo>
                  <a:cubicBezTo>
                    <a:pt x="25901" y="260064"/>
                    <a:pt x="16935" y="256350"/>
                    <a:pt x="10324" y="249739"/>
                  </a:cubicBezTo>
                  <a:cubicBezTo>
                    <a:pt x="3714" y="243129"/>
                    <a:pt x="0" y="234163"/>
                    <a:pt x="0" y="224814"/>
                  </a:cubicBezTo>
                  <a:lnTo>
                    <a:pt x="0" y="35250"/>
                  </a:lnTo>
                  <a:cubicBezTo>
                    <a:pt x="0" y="25901"/>
                    <a:pt x="3714" y="16935"/>
                    <a:pt x="10324" y="10324"/>
                  </a:cubicBezTo>
                  <a:cubicBezTo>
                    <a:pt x="16935" y="3714"/>
                    <a:pt x="25901" y="0"/>
                    <a:pt x="35250" y="0"/>
                  </a:cubicBezTo>
                  <a:close/>
                </a:path>
              </a:pathLst>
            </a:custGeom>
            <a:solidFill>
              <a:srgbClr val="D7BAA2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950094" cy="298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99106" y="350443"/>
            <a:ext cx="11185088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9" lvl="1" algn="l">
              <a:lnSpc>
                <a:spcPts val="8399"/>
              </a:lnSpc>
              <a:spcBef>
                <a:spcPct val="0"/>
              </a:spcBef>
            </a:pPr>
            <a:r>
              <a:rPr lang="en-US" sz="5999" dirty="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3. CLEAN + NOISY TRAINING → NOISY TEST: 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99553" y="1983279"/>
          <a:ext cx="18088896" cy="4236866"/>
        </p:xfrm>
        <a:graphic>
          <a:graphicData uri="http://schemas.openxmlformats.org/drawingml/2006/table">
            <a:tbl>
              <a:tblPr/>
              <a:tblGrid>
                <a:gridCol w="4522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2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2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222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71625">
                <a:tc>
                  <a:txBody>
                    <a:bodyPr/>
                    <a:lstStyle/>
                    <a:p>
                      <a:pPr algn="ctr">
                        <a:lnSpc>
                          <a:spcPts val="5600"/>
                        </a:lnSpc>
                        <a:defRPr/>
                      </a:pPr>
                      <a:r>
                        <a:rPr lang="en-US" sz="4000">
                          <a:solidFill>
                            <a:srgbClr val="000000"/>
                          </a:solidFill>
                          <a:latin typeface="Handy Casual"/>
                          <a:ea typeface="Handy Casual"/>
                          <a:cs typeface="Handy Casual"/>
                          <a:sym typeface="Handy Casual"/>
                        </a:rPr>
                        <a:t>Target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20"/>
                        </a:lnSpc>
                        <a:defRPr/>
                      </a:pPr>
                      <a:r>
                        <a:rPr lang="en-US" sz="4300">
                          <a:solidFill>
                            <a:srgbClr val="000000"/>
                          </a:solidFill>
                          <a:latin typeface="Handy Casual"/>
                          <a:ea typeface="Handy Casual"/>
                          <a:cs typeface="Handy Casual"/>
                          <a:sym typeface="Handy Casual"/>
                        </a:rPr>
                        <a:t>Clean → Noisy       Macro F1  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600"/>
                        </a:lnSpc>
                        <a:defRPr/>
                      </a:pPr>
                      <a:r>
                        <a:rPr lang="en-US" sz="4000">
                          <a:solidFill>
                            <a:srgbClr val="000000"/>
                          </a:solidFill>
                          <a:latin typeface="Handy Casual"/>
                          <a:ea typeface="Handy Casual"/>
                          <a:cs typeface="Handy Casual"/>
                          <a:sym typeface="Handy Casual"/>
                        </a:rPr>
                        <a:t>Noisy → Noisy     Macro F1  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600"/>
                        </a:lnSpc>
                        <a:defRPr/>
                      </a:pPr>
                      <a:r>
                        <a:rPr lang="en-US" sz="4000">
                          <a:solidFill>
                            <a:srgbClr val="000000"/>
                          </a:solidFill>
                          <a:latin typeface="Handy Casual"/>
                          <a:ea typeface="Handy Casual"/>
                          <a:cs typeface="Handy Casual"/>
                          <a:sym typeface="Handy Casual"/>
                        </a:rPr>
                        <a:t>Clean + Noisy → Noisy Macro F1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7030">
                <a:tc>
                  <a:txBody>
                    <a:bodyPr/>
                    <a:lstStyle/>
                    <a:p>
                      <a:pPr algn="ctr">
                        <a:lnSpc>
                          <a:spcPts val="4760"/>
                        </a:lnSpc>
                        <a:defRPr/>
                      </a:pPr>
                      <a:r>
                        <a:rPr lang="en-US" sz="3400">
                          <a:solidFill>
                            <a:srgbClr val="000000"/>
                          </a:solidFill>
                          <a:latin typeface="Handyman"/>
                          <a:ea typeface="Handyman"/>
                          <a:cs typeface="Handyman"/>
                          <a:sym typeface="Handyman"/>
                        </a:rPr>
                        <a:t>ED care area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620"/>
                        </a:lnSpc>
                        <a:defRPr/>
                      </a:pPr>
                      <a:r>
                        <a:rPr lang="en-US" sz="33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22.55%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620"/>
                        </a:lnSpc>
                        <a:defRPr/>
                      </a:pPr>
                      <a:r>
                        <a:rPr lang="en-US" sz="33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27.64%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20"/>
                        </a:lnSpc>
                        <a:defRPr/>
                      </a:pPr>
                      <a:r>
                        <a:rPr lang="en-US" sz="4300" b="1">
                          <a:solidFill>
                            <a:srgbClr val="0097B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29.16%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7030">
                <a:tc>
                  <a:txBody>
                    <a:bodyPr/>
                    <a:lstStyle/>
                    <a:p>
                      <a:pPr algn="ctr">
                        <a:lnSpc>
                          <a:spcPts val="4760"/>
                        </a:lnSpc>
                        <a:defRPr/>
                      </a:pPr>
                      <a:r>
                        <a:rPr lang="en-US" sz="3400">
                          <a:solidFill>
                            <a:srgbClr val="000000"/>
                          </a:solidFill>
                          <a:latin typeface="Handyman"/>
                          <a:ea typeface="Handyman"/>
                          <a:cs typeface="Handyman"/>
                          <a:sym typeface="Handyman"/>
                        </a:rPr>
                        <a:t>Specialty consultation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620"/>
                        </a:lnSpc>
                        <a:defRPr/>
                      </a:pPr>
                      <a:r>
                        <a:rPr lang="en-US" sz="33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27.74%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620"/>
                        </a:lnSpc>
                        <a:defRPr/>
                      </a:pPr>
                      <a:r>
                        <a:rPr lang="en-US" sz="33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31.21%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20"/>
                        </a:lnSpc>
                        <a:defRPr/>
                      </a:pPr>
                      <a:r>
                        <a:rPr lang="en-US" sz="4300" b="1">
                          <a:solidFill>
                            <a:srgbClr val="0097B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38.33%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1976767" y="6692839"/>
          <a:ext cx="12715388" cy="3923077"/>
        </p:xfrm>
        <a:graphic>
          <a:graphicData uri="http://schemas.openxmlformats.org/drawingml/2006/table">
            <a:tbl>
              <a:tblPr/>
              <a:tblGrid>
                <a:gridCol w="31788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8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8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788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62075">
                <a:tc>
                  <a:txBody>
                    <a:bodyPr/>
                    <a:lstStyle/>
                    <a:p>
                      <a:pPr algn="ctr">
                        <a:lnSpc>
                          <a:spcPts val="5179"/>
                        </a:lnSpc>
                        <a:defRPr/>
                      </a:pPr>
                      <a:r>
                        <a:rPr lang="en-US" sz="3699">
                          <a:solidFill>
                            <a:srgbClr val="000000"/>
                          </a:solidFill>
                          <a:latin typeface="Handy Casual"/>
                          <a:ea typeface="Handy Casual"/>
                          <a:cs typeface="Handy Casual"/>
                          <a:sym typeface="Handy Casual"/>
                        </a:rPr>
                        <a:t>Target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Handy Casual"/>
                          <a:ea typeface="Handy Casual"/>
                          <a:cs typeface="Handy Casual"/>
                          <a:sym typeface="Handy Casual"/>
                        </a:rPr>
                        <a:t>Clean → Noisy Accuracy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Handy Casual"/>
                          <a:ea typeface="Handy Casual"/>
                          <a:cs typeface="Handy Casual"/>
                          <a:sym typeface="Handy Casual"/>
                        </a:rPr>
                        <a:t>Noisy → Noisy Accuracy</a:t>
                      </a:r>
                      <a:endParaRPr lang="en-US" sz="1100"/>
                    </a:p>
                    <a:p>
                      <a:pPr algn="ctr">
                        <a:lnSpc>
                          <a:spcPts val="4759"/>
                        </a:lnSpc>
                      </a:pPr>
                      <a:endParaRPr lang="en-US" sz="110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Handy Casual"/>
                          <a:ea typeface="Handy Casual"/>
                          <a:cs typeface="Handy Casual"/>
                          <a:sym typeface="Handy Casual"/>
                        </a:rPr>
                        <a:t>Clean + Noisy → Noisy:     Accuracy</a:t>
                      </a:r>
                      <a:endParaRPr lang="en-US" sz="1100"/>
                    </a:p>
                    <a:p>
                      <a:pPr algn="ctr">
                        <a:lnSpc>
                          <a:spcPts val="4759"/>
                        </a:lnSpc>
                      </a:pPr>
                      <a:endParaRPr lang="en-US" sz="110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183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Handyman"/>
                          <a:ea typeface="Handyman"/>
                          <a:cs typeface="Handyman"/>
                          <a:sym typeface="Handyman"/>
                        </a:rPr>
                        <a:t>ED care area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59.03%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64.64%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63.63%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Handyman"/>
                          <a:ea typeface="Handyman"/>
                          <a:cs typeface="Handyman"/>
                          <a:sym typeface="Handyman"/>
                        </a:rPr>
                        <a:t>Specialty consultation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39.25%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49.77%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52.50%</a:t>
                      </a:r>
                      <a:endParaRPr lang="en-US" sz="110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65267" y="340885"/>
            <a:ext cx="13068340" cy="9605230"/>
          </a:xfrm>
          <a:custGeom>
            <a:avLst/>
            <a:gdLst/>
            <a:ahLst/>
            <a:cxnLst/>
            <a:rect l="l" t="t" r="r" b="b"/>
            <a:pathLst>
              <a:path w="13068340" h="9605230">
                <a:moveTo>
                  <a:pt x="0" y="0"/>
                </a:moveTo>
                <a:lnTo>
                  <a:pt x="13068340" y="0"/>
                </a:lnTo>
                <a:lnTo>
                  <a:pt x="13068340" y="9605230"/>
                </a:lnTo>
                <a:lnTo>
                  <a:pt x="0" y="96052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TextBox 3"/>
          <p:cNvSpPr txBox="1"/>
          <p:nvPr/>
        </p:nvSpPr>
        <p:spPr>
          <a:xfrm>
            <a:off x="-1611153" y="-9525"/>
            <a:ext cx="8041566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 Error Analysis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6194" y="1057275"/>
            <a:ext cx="17375612" cy="9229725"/>
          </a:xfrm>
          <a:custGeom>
            <a:avLst/>
            <a:gdLst/>
            <a:ahLst/>
            <a:cxnLst/>
            <a:rect l="l" t="t" r="r" b="b"/>
            <a:pathLst>
              <a:path w="17375612" h="9229725">
                <a:moveTo>
                  <a:pt x="0" y="0"/>
                </a:moveTo>
                <a:lnTo>
                  <a:pt x="17375612" y="0"/>
                </a:lnTo>
                <a:lnTo>
                  <a:pt x="17375612" y="9229725"/>
                </a:lnTo>
                <a:lnTo>
                  <a:pt x="0" y="92297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2" t="-1364" r="-60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TextBox 3"/>
          <p:cNvSpPr txBox="1"/>
          <p:nvPr/>
        </p:nvSpPr>
        <p:spPr>
          <a:xfrm>
            <a:off x="-1639419" y="-9525"/>
            <a:ext cx="8041566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 Error Analysis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45803" y="2734401"/>
            <a:ext cx="13848400" cy="7205862"/>
          </a:xfrm>
          <a:custGeom>
            <a:avLst/>
            <a:gdLst/>
            <a:ahLst/>
            <a:cxnLst/>
            <a:rect l="l" t="t" r="r" b="b"/>
            <a:pathLst>
              <a:path w="13848400" h="7205862">
                <a:moveTo>
                  <a:pt x="0" y="0"/>
                </a:moveTo>
                <a:lnTo>
                  <a:pt x="13848400" y="0"/>
                </a:lnTo>
                <a:lnTo>
                  <a:pt x="13848400" y="7205862"/>
                </a:lnTo>
                <a:lnTo>
                  <a:pt x="0" y="72058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TextBox 3"/>
          <p:cNvSpPr txBox="1"/>
          <p:nvPr/>
        </p:nvSpPr>
        <p:spPr>
          <a:xfrm>
            <a:off x="-1667685" y="273133"/>
            <a:ext cx="8041566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 Error Analysis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906080" y="1753326"/>
            <a:ext cx="9910524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02"/>
              </a:lnSpc>
              <a:spcBef>
                <a:spcPct val="0"/>
              </a:spcBef>
            </a:pPr>
            <a:r>
              <a:rPr lang="en-US" sz="3001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11.48% of the apparent errors were valid secondary specialties</a:t>
            </a:r>
          </a:p>
          <a:p>
            <a:pPr algn="just">
              <a:lnSpc>
                <a:spcPts val="3602"/>
              </a:lnSpc>
              <a:spcBef>
                <a:spcPct val="0"/>
              </a:spcBef>
            </a:pPr>
            <a:endParaRPr lang="en-US" sz="3001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7314" y="5399570"/>
            <a:ext cx="5582853" cy="2148329"/>
            <a:chOff x="0" y="0"/>
            <a:chExt cx="1536715" cy="5913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36716" cy="591341"/>
            </a:xfrm>
            <a:custGeom>
              <a:avLst/>
              <a:gdLst/>
              <a:ahLst/>
              <a:cxnLst/>
              <a:rect l="l" t="t" r="r" b="b"/>
              <a:pathLst>
                <a:path w="1536716" h="591341">
                  <a:moveTo>
                    <a:pt x="138673" y="0"/>
                  </a:moveTo>
                  <a:lnTo>
                    <a:pt x="1398042" y="0"/>
                  </a:lnTo>
                  <a:cubicBezTo>
                    <a:pt x="1474629" y="0"/>
                    <a:pt x="1536716" y="62086"/>
                    <a:pt x="1536716" y="138673"/>
                  </a:cubicBezTo>
                  <a:lnTo>
                    <a:pt x="1536716" y="452668"/>
                  </a:lnTo>
                  <a:cubicBezTo>
                    <a:pt x="1536716" y="489446"/>
                    <a:pt x="1522105" y="524718"/>
                    <a:pt x="1496099" y="550725"/>
                  </a:cubicBezTo>
                  <a:cubicBezTo>
                    <a:pt x="1470093" y="576731"/>
                    <a:pt x="1434821" y="591341"/>
                    <a:pt x="1398042" y="591341"/>
                  </a:cubicBezTo>
                  <a:lnTo>
                    <a:pt x="138673" y="591341"/>
                  </a:lnTo>
                  <a:cubicBezTo>
                    <a:pt x="101895" y="591341"/>
                    <a:pt x="66623" y="576731"/>
                    <a:pt x="40616" y="550725"/>
                  </a:cubicBezTo>
                  <a:cubicBezTo>
                    <a:pt x="14610" y="524718"/>
                    <a:pt x="0" y="489446"/>
                    <a:pt x="0" y="452668"/>
                  </a:cubicBezTo>
                  <a:lnTo>
                    <a:pt x="0" y="138673"/>
                  </a:lnTo>
                  <a:cubicBezTo>
                    <a:pt x="0" y="62086"/>
                    <a:pt x="62086" y="0"/>
                    <a:pt x="138673" y="0"/>
                  </a:cubicBezTo>
                  <a:close/>
                </a:path>
              </a:pathLst>
            </a:custGeom>
            <a:solidFill>
              <a:srgbClr val="6BA286">
                <a:alpha val="87843"/>
              </a:srgbClr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536715" cy="6294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-161793" y="5873423"/>
            <a:ext cx="6501068" cy="1674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90"/>
              </a:lnSpc>
              <a:spcBef>
                <a:spcPct val="0"/>
              </a:spcBef>
            </a:pPr>
            <a:r>
              <a:rPr lang="en-US" sz="3575" spc="225">
                <a:solidFill>
                  <a:srgbClr val="FEFEFF"/>
                </a:solidFill>
                <a:latin typeface="Handyman"/>
                <a:ea typeface="Handyman"/>
                <a:cs typeface="Handyman"/>
                <a:sym typeface="Handyman"/>
              </a:rPr>
              <a:t>Overs</a:t>
            </a:r>
            <a:r>
              <a:rPr lang="en-US" sz="3575" u="none" strike="noStrike" spc="225">
                <a:solidFill>
                  <a:srgbClr val="FEFEFF"/>
                </a:solidFill>
                <a:latin typeface="Handyman"/>
                <a:ea typeface="Handyman"/>
                <a:cs typeface="Handyman"/>
                <a:sym typeface="Handyman"/>
              </a:rPr>
              <a:t>ampling and class-balanced training</a:t>
            </a:r>
          </a:p>
          <a:p>
            <a:pPr marL="0" lvl="0" indent="0" algn="ctr">
              <a:lnSpc>
                <a:spcPts val="4290"/>
              </a:lnSpc>
              <a:spcBef>
                <a:spcPct val="0"/>
              </a:spcBef>
            </a:pPr>
            <a:endParaRPr lang="en-US" sz="3575" u="none" strike="noStrike" spc="225">
              <a:solidFill>
                <a:srgbClr val="FEFEFF"/>
              </a:solidFill>
              <a:latin typeface="Handyman"/>
              <a:ea typeface="Handyman"/>
              <a:cs typeface="Handyman"/>
              <a:sym typeface="Handy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5170" y="389461"/>
            <a:ext cx="10633063" cy="2285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8100">
                <a:solidFill>
                  <a:srgbClr val="553D3D"/>
                </a:solidFill>
                <a:latin typeface="Handy Casual"/>
                <a:ea typeface="Handy Casual"/>
                <a:cs typeface="Handy Casual"/>
                <a:sym typeface="Handy Casual"/>
              </a:rPr>
              <a:t>CONCLUSIONS AND FUTURE WORK </a:t>
            </a:r>
          </a:p>
          <a:p>
            <a:pPr algn="l">
              <a:lnSpc>
                <a:spcPts val="9600"/>
              </a:lnSpc>
            </a:pPr>
            <a:endParaRPr lang="en-US" sz="8100">
              <a:solidFill>
                <a:srgbClr val="553D3D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sp>
        <p:nvSpPr>
          <p:cNvPr id="7" name="Freeform 7"/>
          <p:cNvSpPr/>
          <p:nvPr/>
        </p:nvSpPr>
        <p:spPr>
          <a:xfrm rot="8398432" flipH="1">
            <a:off x="3358047" y="6764122"/>
            <a:ext cx="11571907" cy="10099118"/>
          </a:xfrm>
          <a:custGeom>
            <a:avLst/>
            <a:gdLst/>
            <a:ahLst/>
            <a:cxnLst/>
            <a:rect l="l" t="t" r="r" b="b"/>
            <a:pathLst>
              <a:path w="11571907" h="10099118">
                <a:moveTo>
                  <a:pt x="11571906" y="0"/>
                </a:moveTo>
                <a:lnTo>
                  <a:pt x="0" y="0"/>
                </a:lnTo>
                <a:lnTo>
                  <a:pt x="0" y="10099118"/>
                </a:lnTo>
                <a:lnTo>
                  <a:pt x="11571906" y="10099118"/>
                </a:lnTo>
                <a:lnTo>
                  <a:pt x="11571906" y="0"/>
                </a:lnTo>
                <a:close/>
              </a:path>
            </a:pathLst>
          </a:custGeom>
          <a:blipFill>
            <a:blip>
              <a:alphaModFix amt="81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8" name="Group 8"/>
          <p:cNvGrpSpPr/>
          <p:nvPr/>
        </p:nvGrpSpPr>
        <p:grpSpPr>
          <a:xfrm>
            <a:off x="6187338" y="5446807"/>
            <a:ext cx="5995624" cy="2053856"/>
            <a:chOff x="0" y="0"/>
            <a:chExt cx="1650333" cy="56533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50333" cy="565337"/>
            </a:xfrm>
            <a:custGeom>
              <a:avLst/>
              <a:gdLst/>
              <a:ahLst/>
              <a:cxnLst/>
              <a:rect l="l" t="t" r="r" b="b"/>
              <a:pathLst>
                <a:path w="1650333" h="565337">
                  <a:moveTo>
                    <a:pt x="129126" y="0"/>
                  </a:moveTo>
                  <a:lnTo>
                    <a:pt x="1521207" y="0"/>
                  </a:lnTo>
                  <a:cubicBezTo>
                    <a:pt x="1555454" y="0"/>
                    <a:pt x="1588297" y="13604"/>
                    <a:pt x="1612513" y="37820"/>
                  </a:cubicBezTo>
                  <a:cubicBezTo>
                    <a:pt x="1636729" y="62036"/>
                    <a:pt x="1650333" y="94880"/>
                    <a:pt x="1650333" y="129126"/>
                  </a:cubicBezTo>
                  <a:lnTo>
                    <a:pt x="1650333" y="436211"/>
                  </a:lnTo>
                  <a:cubicBezTo>
                    <a:pt x="1650333" y="470457"/>
                    <a:pt x="1636729" y="503301"/>
                    <a:pt x="1612513" y="527517"/>
                  </a:cubicBezTo>
                  <a:cubicBezTo>
                    <a:pt x="1588297" y="551732"/>
                    <a:pt x="1555454" y="565337"/>
                    <a:pt x="1521207" y="565337"/>
                  </a:cubicBezTo>
                  <a:lnTo>
                    <a:pt x="129126" y="565337"/>
                  </a:lnTo>
                  <a:cubicBezTo>
                    <a:pt x="57812" y="565337"/>
                    <a:pt x="0" y="507525"/>
                    <a:pt x="0" y="436211"/>
                  </a:cubicBezTo>
                  <a:lnTo>
                    <a:pt x="0" y="129126"/>
                  </a:lnTo>
                  <a:cubicBezTo>
                    <a:pt x="0" y="94880"/>
                    <a:pt x="13604" y="62036"/>
                    <a:pt x="37820" y="37820"/>
                  </a:cubicBezTo>
                  <a:cubicBezTo>
                    <a:pt x="62036" y="13604"/>
                    <a:pt x="94880" y="0"/>
                    <a:pt x="129126" y="0"/>
                  </a:cubicBezTo>
                  <a:close/>
                </a:path>
              </a:pathLst>
            </a:custGeom>
            <a:solidFill>
              <a:srgbClr val="6BA286">
                <a:alpha val="87843"/>
              </a:srgbClr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650333" cy="6034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708486" y="6139898"/>
            <a:ext cx="6953329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36"/>
              </a:lnSpc>
              <a:spcBef>
                <a:spcPct val="0"/>
              </a:spcBef>
            </a:pPr>
            <a:r>
              <a:rPr lang="en-US" sz="3863" spc="243">
                <a:solidFill>
                  <a:srgbClr val="FEFEFF"/>
                </a:solidFill>
                <a:latin typeface="Handyman"/>
                <a:ea typeface="Handyman"/>
                <a:cs typeface="Handyman"/>
                <a:sym typeface="Handyman"/>
              </a:rPr>
              <a:t>Mor</a:t>
            </a:r>
            <a:r>
              <a:rPr lang="en-US" sz="3863" u="none" strike="noStrike" spc="243">
                <a:solidFill>
                  <a:srgbClr val="FEFEFF"/>
                </a:solidFill>
                <a:latin typeface="Handyman"/>
                <a:ea typeface="Handyman"/>
                <a:cs typeface="Handyman"/>
                <a:sym typeface="Handyman"/>
              </a:rPr>
              <a:t>e rare-class data</a:t>
            </a:r>
          </a:p>
          <a:p>
            <a:pPr marL="0" lvl="0" indent="0" algn="ctr">
              <a:lnSpc>
                <a:spcPts val="4636"/>
              </a:lnSpc>
              <a:spcBef>
                <a:spcPct val="0"/>
              </a:spcBef>
            </a:pPr>
            <a:endParaRPr lang="en-US" sz="3863" u="none" strike="noStrike" spc="243">
              <a:solidFill>
                <a:srgbClr val="FEFEFF"/>
              </a:solidFill>
              <a:latin typeface="Handyman"/>
              <a:ea typeface="Handyman"/>
              <a:cs typeface="Handyman"/>
              <a:sym typeface="Handyman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0627422" y="2047630"/>
            <a:ext cx="6194737" cy="2741563"/>
            <a:chOff x="0" y="0"/>
            <a:chExt cx="1705140" cy="75463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05140" cy="754633"/>
            </a:xfrm>
            <a:custGeom>
              <a:avLst/>
              <a:gdLst/>
              <a:ahLst/>
              <a:cxnLst/>
              <a:rect l="l" t="t" r="r" b="b"/>
              <a:pathLst>
                <a:path w="1705140" h="754633">
                  <a:moveTo>
                    <a:pt x="124976" y="0"/>
                  </a:moveTo>
                  <a:lnTo>
                    <a:pt x="1580164" y="0"/>
                  </a:lnTo>
                  <a:cubicBezTo>
                    <a:pt x="1613310" y="0"/>
                    <a:pt x="1645098" y="13167"/>
                    <a:pt x="1668536" y="36605"/>
                  </a:cubicBezTo>
                  <a:cubicBezTo>
                    <a:pt x="1691973" y="60042"/>
                    <a:pt x="1705140" y="91830"/>
                    <a:pt x="1705140" y="124976"/>
                  </a:cubicBezTo>
                  <a:lnTo>
                    <a:pt x="1705140" y="629657"/>
                  </a:lnTo>
                  <a:cubicBezTo>
                    <a:pt x="1705140" y="662802"/>
                    <a:pt x="1691973" y="694591"/>
                    <a:pt x="1668536" y="718028"/>
                  </a:cubicBezTo>
                  <a:cubicBezTo>
                    <a:pt x="1645098" y="741465"/>
                    <a:pt x="1613310" y="754633"/>
                    <a:pt x="1580164" y="754633"/>
                  </a:cubicBezTo>
                  <a:lnTo>
                    <a:pt x="124976" y="754633"/>
                  </a:lnTo>
                  <a:cubicBezTo>
                    <a:pt x="91830" y="754633"/>
                    <a:pt x="60042" y="741465"/>
                    <a:pt x="36605" y="718028"/>
                  </a:cubicBezTo>
                  <a:cubicBezTo>
                    <a:pt x="13167" y="694591"/>
                    <a:pt x="0" y="662802"/>
                    <a:pt x="0" y="629657"/>
                  </a:cubicBezTo>
                  <a:lnTo>
                    <a:pt x="0" y="124976"/>
                  </a:lnTo>
                  <a:cubicBezTo>
                    <a:pt x="0" y="91830"/>
                    <a:pt x="13167" y="60042"/>
                    <a:pt x="36605" y="36605"/>
                  </a:cubicBezTo>
                  <a:cubicBezTo>
                    <a:pt x="60042" y="13167"/>
                    <a:pt x="91830" y="0"/>
                    <a:pt x="124976" y="0"/>
                  </a:cubicBezTo>
                  <a:close/>
                </a:path>
              </a:pathLst>
            </a:custGeom>
            <a:solidFill>
              <a:srgbClr val="6BA286">
                <a:alpha val="90980"/>
              </a:srgbClr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705140" cy="792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487762" y="5492889"/>
            <a:ext cx="5470619" cy="1961691"/>
            <a:chOff x="0" y="0"/>
            <a:chExt cx="1505822" cy="53996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05822" cy="539968"/>
            </a:xfrm>
            <a:custGeom>
              <a:avLst/>
              <a:gdLst/>
              <a:ahLst/>
              <a:cxnLst/>
              <a:rect l="l" t="t" r="r" b="b"/>
              <a:pathLst>
                <a:path w="1505822" h="539968">
                  <a:moveTo>
                    <a:pt x="141518" y="0"/>
                  </a:moveTo>
                  <a:lnTo>
                    <a:pt x="1364304" y="0"/>
                  </a:lnTo>
                  <a:cubicBezTo>
                    <a:pt x="1442462" y="0"/>
                    <a:pt x="1505822" y="63360"/>
                    <a:pt x="1505822" y="141518"/>
                  </a:cubicBezTo>
                  <a:lnTo>
                    <a:pt x="1505822" y="398450"/>
                  </a:lnTo>
                  <a:cubicBezTo>
                    <a:pt x="1505822" y="476608"/>
                    <a:pt x="1442462" y="539968"/>
                    <a:pt x="1364304" y="539968"/>
                  </a:cubicBezTo>
                  <a:lnTo>
                    <a:pt x="141518" y="539968"/>
                  </a:lnTo>
                  <a:cubicBezTo>
                    <a:pt x="63360" y="539968"/>
                    <a:pt x="0" y="476608"/>
                    <a:pt x="0" y="398450"/>
                  </a:cubicBezTo>
                  <a:lnTo>
                    <a:pt x="0" y="141518"/>
                  </a:lnTo>
                  <a:cubicBezTo>
                    <a:pt x="0" y="63360"/>
                    <a:pt x="63360" y="0"/>
                    <a:pt x="141518" y="0"/>
                  </a:cubicBezTo>
                  <a:close/>
                </a:path>
              </a:pathLst>
            </a:custGeom>
            <a:solidFill>
              <a:srgbClr val="6BA286">
                <a:alpha val="91765"/>
              </a:srgbClr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505822" cy="5780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829517" y="2361136"/>
            <a:ext cx="5790547" cy="2047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0"/>
              </a:lnSpc>
              <a:spcBef>
                <a:spcPct val="0"/>
              </a:spcBef>
            </a:pPr>
            <a:r>
              <a:rPr lang="en-US" sz="3275" spc="206">
                <a:solidFill>
                  <a:srgbClr val="FEFEFF"/>
                </a:solidFill>
                <a:latin typeface="Handyman"/>
                <a:ea typeface="Handyman"/>
                <a:cs typeface="Handyman"/>
                <a:sym typeface="Handyman"/>
              </a:rPr>
              <a:t>Performance was limited by ASR noise, class imbalance, label overlap, and partial multi-label ambiguity.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974908" y="5901773"/>
            <a:ext cx="6501068" cy="1733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10"/>
              </a:lnSpc>
              <a:spcBef>
                <a:spcPct val="0"/>
              </a:spcBef>
            </a:pPr>
            <a:r>
              <a:rPr lang="en-US" sz="3675" spc="231">
                <a:solidFill>
                  <a:srgbClr val="FEFEFF"/>
                </a:solidFill>
                <a:latin typeface="Handyman"/>
                <a:ea typeface="Handyman"/>
                <a:cs typeface="Handyman"/>
                <a:sym typeface="Handyman"/>
              </a:rPr>
              <a:t> Mu</a:t>
            </a:r>
            <a:r>
              <a:rPr lang="en-US" sz="3675" u="none" strike="noStrike" spc="231">
                <a:solidFill>
                  <a:srgbClr val="FEFEFF"/>
                </a:solidFill>
                <a:latin typeface="Handyman"/>
                <a:ea typeface="Handyman"/>
                <a:cs typeface="Handyman"/>
                <a:sym typeface="Handyman"/>
              </a:rPr>
              <a:t>lti-label specialty classification</a:t>
            </a:r>
          </a:p>
          <a:p>
            <a:pPr marL="0" lvl="0" indent="0" algn="ctr">
              <a:lnSpc>
                <a:spcPts val="4410"/>
              </a:lnSpc>
              <a:spcBef>
                <a:spcPct val="0"/>
              </a:spcBef>
            </a:pPr>
            <a:endParaRPr lang="en-US" sz="3675" u="none" strike="noStrike" spc="231">
              <a:solidFill>
                <a:srgbClr val="FEFEFF"/>
              </a:solidFill>
              <a:latin typeface="Handyman"/>
              <a:ea typeface="Handyman"/>
              <a:cs typeface="Handyman"/>
              <a:sym typeface="Handyman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2210579" y="2047630"/>
            <a:ext cx="6194737" cy="2741563"/>
            <a:chOff x="0" y="0"/>
            <a:chExt cx="1705140" cy="75463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705140" cy="754633"/>
            </a:xfrm>
            <a:custGeom>
              <a:avLst/>
              <a:gdLst/>
              <a:ahLst/>
              <a:cxnLst/>
              <a:rect l="l" t="t" r="r" b="b"/>
              <a:pathLst>
                <a:path w="1705140" h="754633">
                  <a:moveTo>
                    <a:pt x="124976" y="0"/>
                  </a:moveTo>
                  <a:lnTo>
                    <a:pt x="1580164" y="0"/>
                  </a:lnTo>
                  <a:cubicBezTo>
                    <a:pt x="1613310" y="0"/>
                    <a:pt x="1645098" y="13167"/>
                    <a:pt x="1668536" y="36605"/>
                  </a:cubicBezTo>
                  <a:cubicBezTo>
                    <a:pt x="1691973" y="60042"/>
                    <a:pt x="1705140" y="91830"/>
                    <a:pt x="1705140" y="124976"/>
                  </a:cubicBezTo>
                  <a:lnTo>
                    <a:pt x="1705140" y="629657"/>
                  </a:lnTo>
                  <a:cubicBezTo>
                    <a:pt x="1705140" y="662802"/>
                    <a:pt x="1691973" y="694591"/>
                    <a:pt x="1668536" y="718028"/>
                  </a:cubicBezTo>
                  <a:cubicBezTo>
                    <a:pt x="1645098" y="741465"/>
                    <a:pt x="1613310" y="754633"/>
                    <a:pt x="1580164" y="754633"/>
                  </a:cubicBezTo>
                  <a:lnTo>
                    <a:pt x="124976" y="754633"/>
                  </a:lnTo>
                  <a:cubicBezTo>
                    <a:pt x="91830" y="754633"/>
                    <a:pt x="60042" y="741465"/>
                    <a:pt x="36605" y="718028"/>
                  </a:cubicBezTo>
                  <a:cubicBezTo>
                    <a:pt x="13167" y="694591"/>
                    <a:pt x="0" y="662802"/>
                    <a:pt x="0" y="629657"/>
                  </a:cubicBezTo>
                  <a:lnTo>
                    <a:pt x="0" y="124976"/>
                  </a:lnTo>
                  <a:cubicBezTo>
                    <a:pt x="0" y="91830"/>
                    <a:pt x="13167" y="60042"/>
                    <a:pt x="36605" y="36605"/>
                  </a:cubicBezTo>
                  <a:cubicBezTo>
                    <a:pt x="60042" y="13167"/>
                    <a:pt x="91830" y="0"/>
                    <a:pt x="124976" y="0"/>
                  </a:cubicBezTo>
                  <a:close/>
                </a:path>
              </a:pathLst>
            </a:custGeom>
            <a:solidFill>
              <a:srgbClr val="6BA286">
                <a:alpha val="90980"/>
              </a:srgbClr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705140" cy="792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344333" y="2446820"/>
            <a:ext cx="5790547" cy="212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sz="3375" spc="212">
                <a:solidFill>
                  <a:srgbClr val="FEFEFF"/>
                </a:solidFill>
                <a:latin typeface="Handyman"/>
                <a:ea typeface="Handyman"/>
                <a:cs typeface="Handyman"/>
                <a:sym typeface="Handyman"/>
              </a:rPr>
              <a:t>The solution improved robustness, but did not fully solve rare-class errors.</a:t>
            </a:r>
          </a:p>
          <a:p>
            <a:pPr algn="ctr">
              <a:lnSpc>
                <a:spcPts val="4050"/>
              </a:lnSpc>
              <a:spcBef>
                <a:spcPct val="0"/>
              </a:spcBef>
            </a:pPr>
            <a:endParaRPr lang="en-US" sz="3375" spc="212">
              <a:solidFill>
                <a:srgbClr val="FEFEFF"/>
              </a:solidFill>
              <a:latin typeface="Handyman"/>
              <a:ea typeface="Handyman"/>
              <a:cs typeface="Handyman"/>
              <a:sym typeface="Handyman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2210579" y="7970475"/>
            <a:ext cx="6681188" cy="2231168"/>
            <a:chOff x="0" y="0"/>
            <a:chExt cx="1839039" cy="61414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839039" cy="614143"/>
            </a:xfrm>
            <a:custGeom>
              <a:avLst/>
              <a:gdLst/>
              <a:ahLst/>
              <a:cxnLst/>
              <a:rect l="l" t="t" r="r" b="b"/>
              <a:pathLst>
                <a:path w="1839039" h="614143">
                  <a:moveTo>
                    <a:pt x="115876" y="0"/>
                  </a:moveTo>
                  <a:lnTo>
                    <a:pt x="1723162" y="0"/>
                  </a:lnTo>
                  <a:cubicBezTo>
                    <a:pt x="1753895" y="0"/>
                    <a:pt x="1783368" y="12208"/>
                    <a:pt x="1805100" y="33939"/>
                  </a:cubicBezTo>
                  <a:cubicBezTo>
                    <a:pt x="1826831" y="55670"/>
                    <a:pt x="1839039" y="85144"/>
                    <a:pt x="1839039" y="115876"/>
                  </a:cubicBezTo>
                  <a:lnTo>
                    <a:pt x="1839039" y="498267"/>
                  </a:lnTo>
                  <a:cubicBezTo>
                    <a:pt x="1839039" y="528999"/>
                    <a:pt x="1826831" y="558473"/>
                    <a:pt x="1805100" y="580204"/>
                  </a:cubicBezTo>
                  <a:cubicBezTo>
                    <a:pt x="1783368" y="601935"/>
                    <a:pt x="1753895" y="614143"/>
                    <a:pt x="1723162" y="614143"/>
                  </a:cubicBezTo>
                  <a:lnTo>
                    <a:pt x="115876" y="614143"/>
                  </a:lnTo>
                  <a:cubicBezTo>
                    <a:pt x="51880" y="614143"/>
                    <a:pt x="0" y="562263"/>
                    <a:pt x="0" y="498267"/>
                  </a:cubicBezTo>
                  <a:lnTo>
                    <a:pt x="0" y="115876"/>
                  </a:lnTo>
                  <a:cubicBezTo>
                    <a:pt x="0" y="85144"/>
                    <a:pt x="12208" y="55670"/>
                    <a:pt x="33939" y="33939"/>
                  </a:cubicBezTo>
                  <a:cubicBezTo>
                    <a:pt x="55670" y="12208"/>
                    <a:pt x="85144" y="0"/>
                    <a:pt x="115876" y="0"/>
                  </a:cubicBezTo>
                  <a:close/>
                </a:path>
              </a:pathLst>
            </a:custGeom>
            <a:solidFill>
              <a:srgbClr val="6BA286">
                <a:alpha val="81961"/>
              </a:srgbClr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839039" cy="6522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2546428" y="8090824"/>
            <a:ext cx="5790547" cy="2543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0"/>
              </a:lnSpc>
              <a:spcBef>
                <a:spcPct val="0"/>
              </a:spcBef>
            </a:pPr>
            <a:r>
              <a:rPr lang="en-US" sz="3275" spc="206">
                <a:solidFill>
                  <a:srgbClr val="FEFEFF"/>
                </a:solidFill>
                <a:latin typeface="Handyman"/>
                <a:ea typeface="Handyman"/>
                <a:cs typeface="Handyman"/>
                <a:sym typeface="Handyman"/>
              </a:rPr>
              <a:t>Focus first on specialty consultation or ED care area, then extend to the second task.</a:t>
            </a:r>
          </a:p>
          <a:p>
            <a:pPr algn="ctr">
              <a:lnSpc>
                <a:spcPts val="3930"/>
              </a:lnSpc>
              <a:spcBef>
                <a:spcPct val="0"/>
              </a:spcBef>
            </a:pPr>
            <a:endParaRPr lang="en-US" sz="3275" spc="206">
              <a:solidFill>
                <a:srgbClr val="FEFEFF"/>
              </a:solidFill>
              <a:latin typeface="Handyman"/>
              <a:ea typeface="Handyman"/>
              <a:cs typeface="Handyman"/>
              <a:sym typeface="Handyman"/>
            </a:endParaRPr>
          </a:p>
        </p:txBody>
      </p:sp>
      <p:grpSp>
        <p:nvGrpSpPr>
          <p:cNvPr id="28" name="Group 28"/>
          <p:cNvGrpSpPr/>
          <p:nvPr/>
        </p:nvGrpSpPr>
        <p:grpSpPr>
          <a:xfrm>
            <a:off x="10811380" y="7885117"/>
            <a:ext cx="6681188" cy="2316525"/>
            <a:chOff x="0" y="0"/>
            <a:chExt cx="1839039" cy="63763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839039" cy="637638"/>
            </a:xfrm>
            <a:custGeom>
              <a:avLst/>
              <a:gdLst/>
              <a:ahLst/>
              <a:cxnLst/>
              <a:rect l="l" t="t" r="r" b="b"/>
              <a:pathLst>
                <a:path w="1839039" h="637638">
                  <a:moveTo>
                    <a:pt x="115876" y="0"/>
                  </a:moveTo>
                  <a:lnTo>
                    <a:pt x="1723162" y="0"/>
                  </a:lnTo>
                  <a:cubicBezTo>
                    <a:pt x="1753895" y="0"/>
                    <a:pt x="1783368" y="12208"/>
                    <a:pt x="1805100" y="33939"/>
                  </a:cubicBezTo>
                  <a:cubicBezTo>
                    <a:pt x="1826831" y="55670"/>
                    <a:pt x="1839039" y="85144"/>
                    <a:pt x="1839039" y="115876"/>
                  </a:cubicBezTo>
                  <a:lnTo>
                    <a:pt x="1839039" y="521762"/>
                  </a:lnTo>
                  <a:cubicBezTo>
                    <a:pt x="1839039" y="552494"/>
                    <a:pt x="1826831" y="581968"/>
                    <a:pt x="1805100" y="603699"/>
                  </a:cubicBezTo>
                  <a:cubicBezTo>
                    <a:pt x="1783368" y="625430"/>
                    <a:pt x="1753895" y="637638"/>
                    <a:pt x="1723162" y="637638"/>
                  </a:cubicBezTo>
                  <a:lnTo>
                    <a:pt x="115876" y="637638"/>
                  </a:lnTo>
                  <a:cubicBezTo>
                    <a:pt x="85144" y="637638"/>
                    <a:pt x="55670" y="625430"/>
                    <a:pt x="33939" y="603699"/>
                  </a:cubicBezTo>
                  <a:cubicBezTo>
                    <a:pt x="12208" y="581968"/>
                    <a:pt x="0" y="552494"/>
                    <a:pt x="0" y="521762"/>
                  </a:cubicBezTo>
                  <a:lnTo>
                    <a:pt x="0" y="115876"/>
                  </a:lnTo>
                  <a:cubicBezTo>
                    <a:pt x="0" y="85144"/>
                    <a:pt x="12208" y="55670"/>
                    <a:pt x="33939" y="33939"/>
                  </a:cubicBezTo>
                  <a:cubicBezTo>
                    <a:pt x="55670" y="12208"/>
                    <a:pt x="85144" y="0"/>
                    <a:pt x="115876" y="0"/>
                  </a:cubicBezTo>
                  <a:close/>
                </a:path>
              </a:pathLst>
            </a:custGeom>
            <a:solidFill>
              <a:srgbClr val="6BA286">
                <a:alpha val="81961"/>
              </a:srgbClr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839039" cy="6757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2"/>
                </a:lnSpc>
              </a:pPr>
              <a:endParaRPr/>
            </a:p>
          </p:txBody>
        </p:sp>
      </p:grpSp>
      <p:sp>
        <p:nvSpPr>
          <p:cNvPr id="31" name="Freeform 31"/>
          <p:cNvSpPr/>
          <p:nvPr/>
        </p:nvSpPr>
        <p:spPr>
          <a:xfrm>
            <a:off x="15058127" y="-799707"/>
            <a:ext cx="3895981" cy="4473465"/>
          </a:xfrm>
          <a:custGeom>
            <a:avLst/>
            <a:gdLst/>
            <a:ahLst/>
            <a:cxnLst/>
            <a:rect l="l" t="t" r="r" b="b"/>
            <a:pathLst>
              <a:path w="3895981" h="4473465">
                <a:moveTo>
                  <a:pt x="0" y="0"/>
                </a:moveTo>
                <a:lnTo>
                  <a:pt x="3895981" y="0"/>
                </a:lnTo>
                <a:lnTo>
                  <a:pt x="3895981" y="4473464"/>
                </a:lnTo>
                <a:lnTo>
                  <a:pt x="0" y="44734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2" name="Freeform 32"/>
          <p:cNvSpPr/>
          <p:nvPr/>
        </p:nvSpPr>
        <p:spPr>
          <a:xfrm rot="-5697878" flipH="1">
            <a:off x="-1082314" y="7471064"/>
            <a:ext cx="3639601" cy="3315346"/>
          </a:xfrm>
          <a:custGeom>
            <a:avLst/>
            <a:gdLst/>
            <a:ahLst/>
            <a:cxnLst/>
            <a:rect l="l" t="t" r="r" b="b"/>
            <a:pathLst>
              <a:path w="3639601" h="3315346">
                <a:moveTo>
                  <a:pt x="3639601" y="0"/>
                </a:moveTo>
                <a:lnTo>
                  <a:pt x="0" y="0"/>
                </a:lnTo>
                <a:lnTo>
                  <a:pt x="0" y="3315346"/>
                </a:lnTo>
                <a:lnTo>
                  <a:pt x="3639601" y="3315346"/>
                </a:lnTo>
                <a:lnTo>
                  <a:pt x="363960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3" name="TextBox 33"/>
          <p:cNvSpPr txBox="1"/>
          <p:nvPr/>
        </p:nvSpPr>
        <p:spPr>
          <a:xfrm>
            <a:off x="11198807" y="8566762"/>
            <a:ext cx="5906334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0"/>
              </a:lnSpc>
              <a:spcBef>
                <a:spcPct val="0"/>
              </a:spcBef>
            </a:pPr>
            <a:r>
              <a:rPr lang="en-US" sz="3575" spc="225">
                <a:solidFill>
                  <a:srgbClr val="FEFEFF"/>
                </a:solidFill>
                <a:latin typeface="Handyman"/>
                <a:ea typeface="Handyman"/>
                <a:cs typeface="Handyman"/>
                <a:sym typeface="Handyman"/>
              </a:rPr>
              <a:t>Optimize the clean-to-noisy </a:t>
            </a:r>
          </a:p>
          <a:p>
            <a:pPr algn="ctr">
              <a:lnSpc>
                <a:spcPts val="4290"/>
              </a:lnSpc>
              <a:spcBef>
                <a:spcPct val="0"/>
              </a:spcBef>
            </a:pPr>
            <a:r>
              <a:rPr lang="en-US" sz="3575" spc="225">
                <a:solidFill>
                  <a:srgbClr val="FEFEFF"/>
                </a:solidFill>
                <a:latin typeface="Handyman"/>
                <a:ea typeface="Handyman"/>
                <a:cs typeface="Handyman"/>
                <a:sym typeface="Handyman"/>
              </a:rPr>
              <a:t>training ratio.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1752</Words>
  <Application>Microsoft Office PowerPoint</Application>
  <PresentationFormat>מותאם אישית</PresentationFormat>
  <Paragraphs>367</Paragraphs>
  <Slides>30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12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30</vt:i4>
      </vt:variant>
    </vt:vector>
  </HeadingPairs>
  <TitlesOfParts>
    <vt:vector size="43" baseType="lpstr">
      <vt:lpstr>Calibri (MS)</vt:lpstr>
      <vt:lpstr>Calibri (MS) Bold Italics</vt:lpstr>
      <vt:lpstr>Handyman</vt:lpstr>
      <vt:lpstr>David Libre Bold</vt:lpstr>
      <vt:lpstr>Calibri</vt:lpstr>
      <vt:lpstr>David Libre</vt:lpstr>
      <vt:lpstr>Arimo</vt:lpstr>
      <vt:lpstr>Arial</vt:lpstr>
      <vt:lpstr>Handy Casual</vt:lpstr>
      <vt:lpstr>Arimo Bold</vt:lpstr>
      <vt:lpstr>Calibri (MS) Italics</vt:lpstr>
      <vt:lpstr>Calibri (MS) Bold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עותק של MedAlert</dc:title>
  <cp:lastModifiedBy>נופר הממי</cp:lastModifiedBy>
  <cp:revision>2</cp:revision>
  <dcterms:created xsi:type="dcterms:W3CDTF">2006-08-16T00:00:00Z</dcterms:created>
  <dcterms:modified xsi:type="dcterms:W3CDTF">2026-06-16T18:30:59Z</dcterms:modified>
  <dc:identifier>DAHL5LPJ7o4</dc:identifier>
</cp:coreProperties>
</file>